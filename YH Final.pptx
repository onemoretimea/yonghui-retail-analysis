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3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4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5"/>
  </p:notesMasterIdLst>
  <p:sldIdLst>
    <p:sldId id="274" r:id="rId3"/>
    <p:sldId id="256" r:id="rId4"/>
    <p:sldId id="259" r:id="rId5"/>
    <p:sldId id="265" r:id="rId6"/>
    <p:sldId id="278" r:id="rId7"/>
    <p:sldId id="260" r:id="rId8"/>
    <p:sldId id="293" r:id="rId9"/>
    <p:sldId id="280" r:id="rId10"/>
    <p:sldId id="281" r:id="rId11"/>
    <p:sldId id="261" r:id="rId12"/>
    <p:sldId id="282" r:id="rId13"/>
    <p:sldId id="262" r:id="rId14"/>
    <p:sldId id="264" r:id="rId15"/>
    <p:sldId id="283" r:id="rId16"/>
    <p:sldId id="267" r:id="rId17"/>
    <p:sldId id="299" r:id="rId18"/>
    <p:sldId id="271" r:id="rId19"/>
    <p:sldId id="285" r:id="rId20"/>
    <p:sldId id="286" r:id="rId21"/>
    <p:sldId id="287" r:id="rId22"/>
    <p:sldId id="268" r:id="rId23"/>
    <p:sldId id="266" r:id="rId24"/>
    <p:sldId id="269" r:id="rId25"/>
    <p:sldId id="294" r:id="rId26"/>
    <p:sldId id="295" r:id="rId27"/>
    <p:sldId id="296" r:id="rId28"/>
    <p:sldId id="297" r:id="rId29"/>
    <p:sldId id="263" r:id="rId30"/>
    <p:sldId id="300" r:id="rId31"/>
    <p:sldId id="298" r:id="rId32"/>
    <p:sldId id="270" r:id="rId33"/>
    <p:sldId id="275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7" initials="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B2A"/>
    <a:srgbClr val="FEFDF9"/>
    <a:srgbClr val="2194AD"/>
    <a:srgbClr val="D70A2A"/>
    <a:srgbClr val="37BAD9"/>
    <a:srgbClr val="F6EDCE"/>
    <a:srgbClr val="F7F7EB"/>
    <a:srgbClr val="F9FBF8"/>
    <a:srgbClr val="F8F9E7"/>
    <a:srgbClr val="FFF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/Users/wizone/Library/Mobile%20Documents/com~apple~CloudDocs/CUSZ&#30340;&#35838;/2025&#24180;9-12&#26376;(&#22823;&#22235;&#19978;)/ACT4321/&#23567;&#32452;&#39033;&#30446;/F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8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80"/>
              <a:t>Key Financials: 2023 vs. 2024 (in MN RMB)</a:t>
            </a:r>
          </a:p>
        </c:rich>
      </c:tx>
      <c:layout>
        <c:manualLayout>
          <c:xMode val="edge"/>
          <c:yMode val="edge"/>
          <c:x val="0.139815677844041"/>
          <c:y val="0.2318855284877960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08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>
                <a:shade val="76667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SALES</c:v>
                </c:pt>
                <c:pt idx="1">
                  <c:v>COGS</c:v>
                </c:pt>
                <c:pt idx="2">
                  <c:v>Selling Exp.</c:v>
                </c:pt>
                <c:pt idx="3">
                  <c:v>Admin Exp.</c:v>
                </c:pt>
                <c:pt idx="4">
                  <c:v>Financial Exp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78642</c:v>
                </c:pt>
                <c:pt idx="1">
                  <c:v>61940</c:v>
                </c:pt>
                <c:pt idx="2">
                  <c:v>14680</c:v>
                </c:pt>
                <c:pt idx="3">
                  <c:v>1887</c:v>
                </c:pt>
                <c:pt idx="4">
                  <c:v>1323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47-411B-8399-8D052B3BE3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>
                <a:tint val="76667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SALES</c:v>
                </c:pt>
                <c:pt idx="1">
                  <c:v>COGS</c:v>
                </c:pt>
                <c:pt idx="2">
                  <c:v>Selling Exp.</c:v>
                </c:pt>
                <c:pt idx="3">
                  <c:v>Admin Exp.</c:v>
                </c:pt>
                <c:pt idx="4">
                  <c:v>Financial Exp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67574</c:v>
                </c:pt>
                <c:pt idx="1">
                  <c:v>53751</c:v>
                </c:pt>
                <c:pt idx="2">
                  <c:v>13059</c:v>
                </c:pt>
                <c:pt idx="3">
                  <c:v>1792</c:v>
                </c:pt>
                <c:pt idx="4">
                  <c:v>1138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47-411B-8399-8D052B3BE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0"/>
        <c:overlap val="-32"/>
        <c:axId val="963505516"/>
        <c:axId val="17511476"/>
      </c:barChart>
      <c:catAx>
        <c:axId val="9635055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11476"/>
        <c:crosses val="autoZero"/>
        <c:auto val="1"/>
        <c:lblAlgn val="ctr"/>
        <c:lblOffset val="100"/>
        <c:noMultiLvlLbl val="0"/>
      </c:catAx>
      <c:valAx>
        <c:axId val="175114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635055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56631968540365496"/>
          <c:y val="0.5196315995490919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9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224710982659E-2"/>
          <c:y val="8.6106993666621806E-2"/>
          <c:w val="0.96026011560693603"/>
          <c:h val="0.884247406009971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'[FS.xlsx]Financial Statement'!$IH$1</c:f>
              <c:strCache>
                <c:ptCount val="1"/>
                <c:pt idx="0">
                  <c:v>Same-Store Effect</c:v>
                </c:pt>
              </c:strCache>
            </c:strRef>
          </c:tx>
          <c:spPr>
            <a:solidFill>
              <a:schemeClr val="accent2">
                <a:shade val="76667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9.7384529771842E-4"/>
                  <c:y val="-6.68298653610771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6F4-4C2D-806F-6B1F8073A3AE}"/>
                </c:ext>
              </c:extLst>
            </c:dLbl>
            <c:dLbl>
              <c:idx val="1"/>
              <c:layout>
                <c:manualLayout>
                  <c:x val="-9.0428491930996105E-4"/>
                  <c:y val="-0.155079559363524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F4-4C2D-806F-6B1F8073A3AE}"/>
                </c:ext>
              </c:extLst>
            </c:dLbl>
            <c:dLbl>
              <c:idx val="2"/>
              <c:layout>
                <c:manualLayout>
                  <c:x val="2.7824151363383398E-3"/>
                  <c:y val="-9.14320685434515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6F4-4C2D-806F-6B1F8073A3AE}"/>
                </c:ext>
              </c:extLst>
            </c:dLbl>
            <c:dLbl>
              <c:idx val="3"/>
              <c:layout>
                <c:manualLayout>
                  <c:x val="0"/>
                  <c:y val="-2.276621787025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F4-4C2D-806F-6B1F8073A3AE}"/>
                </c:ext>
              </c:extLst>
            </c:dLbl>
            <c:dLbl>
              <c:idx val="4"/>
              <c:layout>
                <c:manualLayout>
                  <c:x val="9.0428491930996105E-4"/>
                  <c:y val="-0.184332925336597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F4-4C2D-806F-6B1F8073A3A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F4-4C2D-806F-6B1F8073A3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charset="-122"/>
                    <a:ea typeface="微软雅黑" charset="-122"/>
                    <a:cs typeface="微软雅黑" charset="-122"/>
                    <a:sym typeface="微软雅黑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'[FS.xlsx]Financial Statement'!$B$21:$B$54</c:f>
              <c:strCache>
                <c:ptCount val="5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</c:strCache>
              <c:extLst/>
            </c:strRef>
          </c:cat>
          <c:val>
            <c:numRef>
              <c:f>('Financial Statement'!$IH$21:$IH$54,'Financial Statement'!$II$1)</c:f>
              <c:numCache>
                <c:formatCode>_(* #,##0.00_);_(* \(#,##0.00\);_(* "-"??_);_(@_)</c:formatCode>
                <c:ptCount val="6"/>
                <c:pt idx="0">
                  <c:v>-1553766501.1550601</c:v>
                </c:pt>
                <c:pt idx="1">
                  <c:v>-5802861637.6042299</c:v>
                </c:pt>
                <c:pt idx="2">
                  <c:v>1096555607.65344</c:v>
                </c:pt>
                <c:pt idx="3">
                  <c:v>-8570625515.0906801</c:v>
                </c:pt>
                <c:pt idx="4">
                  <c:v>60947682972.182701</c:v>
                </c:pt>
                <c:pt idx="5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6-56F4-4C2D-806F-6B1F8073A3AE}"/>
            </c:ext>
          </c:extLst>
        </c:ser>
        <c:ser>
          <c:idx val="1"/>
          <c:order val="1"/>
          <c:tx>
            <c:strRef>
              <c:f>'[FS.xlsx]Financial Statement'!$II$1</c:f>
              <c:strCache>
                <c:ptCount val="1"/>
                <c:pt idx="0">
                  <c:v>Store Count Effect</c:v>
                </c:pt>
              </c:strCache>
            </c:strRef>
          </c:tx>
          <c:spPr>
            <a:solidFill>
              <a:schemeClr val="accent2">
                <a:tint val="76667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4.6605453533667199E-3"/>
                  <c:y val="-0.20244798041615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6F4-4C2D-806F-6B1F8073A3AE}"/>
                </c:ext>
              </c:extLst>
            </c:dLbl>
            <c:dLbl>
              <c:idx val="1"/>
              <c:layout>
                <c:manualLayout>
                  <c:x val="0"/>
                  <c:y val="-0.1011015911872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6F4-4C2D-806F-6B1F8073A3AE}"/>
                </c:ext>
              </c:extLst>
            </c:dLbl>
            <c:dLbl>
              <c:idx val="2"/>
              <c:layout>
                <c:manualLayout>
                  <c:x val="9.7384529771842E-4"/>
                  <c:y val="-0.1615667074663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6F4-4C2D-806F-6B1F8073A3AE}"/>
                </c:ext>
              </c:extLst>
            </c:dLbl>
            <c:dLbl>
              <c:idx val="3"/>
              <c:layout>
                <c:manualLayout>
                  <c:x val="3.7562604340567601E-3"/>
                  <c:y val="-5.76977024725636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6F4-4C2D-806F-6B1F8073A3AE}"/>
                </c:ext>
              </c:extLst>
            </c:dLbl>
            <c:dLbl>
              <c:idx val="4"/>
              <c:layout>
                <c:manualLayout>
                  <c:x val="7.4429604897050597E-3"/>
                  <c:y val="-7.172582619339039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6F4-4C2D-806F-6B1F8073A3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charset="-122"/>
                    <a:ea typeface="微软雅黑" charset="-122"/>
                    <a:cs typeface="微软雅黑" charset="-122"/>
                    <a:sym typeface="微软雅黑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'[FS.xlsx]Financial Statement'!$B$21:$B$54</c:f>
              <c:strCache>
                <c:ptCount val="5"/>
                <c:pt idx="0">
                  <c:v>2020-12-31</c:v>
                </c:pt>
                <c:pt idx="1">
                  <c:v>2021-12-31</c:v>
                </c:pt>
                <c:pt idx="2">
                  <c:v>2022-12-31</c:v>
                </c:pt>
                <c:pt idx="3">
                  <c:v>2023-12-31</c:v>
                </c:pt>
                <c:pt idx="4">
                  <c:v>2024-12-31</c:v>
                </c:pt>
              </c:strCache>
              <c:extLst/>
            </c:strRef>
          </c:cat>
          <c:val>
            <c:numRef>
              <c:f>'Financial Statement'!$II$21:$II$54</c:f>
              <c:numCache>
                <c:formatCode>_(* #,##0.00_);_(* \(#,##0.00\);_(* "-"??_);_(@_)</c:formatCode>
                <c:ptCount val="5"/>
                <c:pt idx="0">
                  <c:v>9875914121.4450493</c:v>
                </c:pt>
                <c:pt idx="1">
                  <c:v>3665648285.7042398</c:v>
                </c:pt>
                <c:pt idx="2">
                  <c:v>-2067630523.64345</c:v>
                </c:pt>
                <c:pt idx="3">
                  <c:v>-2878022304.03932</c:v>
                </c:pt>
                <c:pt idx="4">
                  <c:v>-17694488604.827301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C-56F4-4C2D-806F-6B1F8073A3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100"/>
        <c:axId val="73432489"/>
        <c:axId val="746392637"/>
      </c:barChart>
      <c:catAx>
        <c:axId val="7343248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  <a:alpha val="2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endParaRPr lang="zh-CN"/>
          </a:p>
        </c:txPr>
        <c:crossAx val="746392637"/>
        <c:crosses val="autoZero"/>
        <c:auto val="1"/>
        <c:lblAlgn val="ctr"/>
        <c:lblOffset val="100"/>
        <c:noMultiLvlLbl val="0"/>
      </c:catAx>
      <c:valAx>
        <c:axId val="746392637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7343248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charset="-122"/>
              <a:ea typeface="微软雅黑" charset="-122"/>
              <a:cs typeface="微软雅黑" charset="-122"/>
              <a:sym typeface="微软雅黑" charset="-122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bg1"/>
    </a:solidFill>
    <a:ln w="6350" cap="flat" cmpd="sng" algn="ctr">
      <a:solidFill>
        <a:schemeClr val="tx1">
          <a:lumMod val="50000"/>
          <a:lumOff val="50000"/>
          <a:alpha val="25000"/>
        </a:schemeClr>
      </a:solidFill>
      <a:round/>
    </a:ln>
    <a:effectLst/>
  </c:spPr>
  <c:txPr>
    <a:bodyPr/>
    <a:lstStyle/>
    <a:p>
      <a:pPr>
        <a:defRPr lang="zh-CN" sz="1000">
          <a:solidFill>
            <a:schemeClr val="tx1">
              <a:lumMod val="75000"/>
              <a:lumOff val="25000"/>
            </a:schemeClr>
          </a:solidFill>
          <a:latin typeface="微软雅黑" charset="-122"/>
          <a:ea typeface="微软雅黑" charset="-122"/>
          <a:cs typeface="微软雅黑" charset="-122"/>
          <a:sym typeface="微软雅黑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Operating Revenue Change (2024-2025)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Revenue (100 million yuan)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none"/>
          </c:marker>
          <c:dLbls>
            <c:dLbl>
              <c:idx val="1"/>
              <c:layout>
                <c:manualLayout>
                  <c:x val="-6.1293558230093845E-2"/>
                  <c:y val="4.6038212776749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BBD-4EA2-A3C4-871B7D99BAA1}"/>
                </c:ext>
              </c:extLst>
            </c:dLbl>
            <c:dLbl>
              <c:idx val="3"/>
              <c:layout>
                <c:manualLayout>
                  <c:x val="-6.6346613319137035E-2"/>
                  <c:y val="3.137172749716544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BD-4EA2-A3C4-871B7D99BAA1}"/>
                </c:ext>
              </c:extLst>
            </c:dLbl>
            <c:dLbl>
              <c:idx val="5"/>
              <c:layout>
                <c:manualLayout>
                  <c:x val="-6.1293558230093845E-2"/>
                  <c:y val="4.6038212776749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BBD-4EA2-A3C4-871B7D99BA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trendline>
            <c:spPr>
              <a:ln w="28575" cap="rnd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216.65</c:v>
                </c:pt>
                <c:pt idx="1">
                  <c:v>161.13999999999999</c:v>
                </c:pt>
                <c:pt idx="2">
                  <c:v>167.7</c:v>
                </c:pt>
                <c:pt idx="3">
                  <c:v>130.25</c:v>
                </c:pt>
                <c:pt idx="4">
                  <c:v>174.79</c:v>
                </c:pt>
                <c:pt idx="5">
                  <c:v>124.69</c:v>
                </c:pt>
                <c:pt idx="6">
                  <c:v>124.86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BD-4EA2-A3C4-871B7D99BAA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736556735"/>
        <c:axId val="1736560095"/>
      </c:lineChart>
      <c:catAx>
        <c:axId val="173655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36560095"/>
        <c:crosses val="autoZero"/>
        <c:auto val="1"/>
        <c:lblAlgn val="ctr"/>
        <c:lblOffset val="100"/>
        <c:noMultiLvlLbl val="0"/>
      </c:catAx>
      <c:valAx>
        <c:axId val="17365600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36556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/>
    </a:solidFill>
    <a:ln w="9525" cap="flat" cmpd="sng" algn="ctr">
      <a:solidFill>
        <a:schemeClr val="accent2"/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Profit CHANGE </a:t>
            </a:r>
          </a:p>
          <a:p>
            <a:pPr>
              <a:defRPr/>
            </a:pPr>
            <a:r>
              <a:rPr lang="en-US" dirty="0"/>
              <a:t>(2024-2025)</a:t>
            </a:r>
            <a:endParaRPr lang="zh-C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3319417333226541E-2"/>
          <c:y val="0.2468122030280093"/>
          <c:w val="0.86164469556852374"/>
          <c:h val="0.707621579791613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 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tx1">
                    <a:lumMod val="50000"/>
                    <a:lumOff val="50000"/>
                  </a:schemeClr>
                </a:solidFill>
                <a:round/>
              </a:ln>
              <a:effectLst/>
            </c:spPr>
          </c:errBars>
          <c:cat>
            <c:strRef>
              <c:f>Sheet1!$A$2:$A$8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7.36</c:v>
                </c:pt>
                <c:pt idx="1">
                  <c:v>-4.6100000000000003</c:v>
                </c:pt>
                <c:pt idx="2">
                  <c:v>-3.53</c:v>
                </c:pt>
                <c:pt idx="3">
                  <c:v>-13.88</c:v>
                </c:pt>
                <c:pt idx="4">
                  <c:v>1.48</c:v>
                </c:pt>
                <c:pt idx="5">
                  <c:v>-3.88</c:v>
                </c:pt>
                <c:pt idx="6">
                  <c:v>-4.6900000000000004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C-403B-BA92-75EDCED270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after Deduction of Non-recurring Gains and Losses 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errBars>
            <c:errBarType val="both"/>
            <c:errValType val="stdErr"/>
            <c:noEndCap val="0"/>
            <c:spPr>
              <a:noFill/>
              <a:ln w="9525">
                <a:solidFill>
                  <a:schemeClr val="tx1">
                    <a:lumMod val="50000"/>
                    <a:lumOff val="50000"/>
                  </a:schemeClr>
                </a:solidFill>
                <a:round/>
              </a:ln>
              <a:effectLst/>
            </c:spPr>
          </c:errBars>
          <c:cat>
            <c:strRef>
              <c:f>Sheet1!$A$2:$A$8</c:f>
              <c:strCache>
                <c:ptCount val="7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5.99</c:v>
                </c:pt>
                <c:pt idx="1">
                  <c:v>-5.69</c:v>
                </c:pt>
                <c:pt idx="2">
                  <c:v>-6.92</c:v>
                </c:pt>
                <c:pt idx="3">
                  <c:v>-17.489999999999998</c:v>
                </c:pt>
                <c:pt idx="4">
                  <c:v>1.37</c:v>
                </c:pt>
                <c:pt idx="5">
                  <c:v>-9.4</c:v>
                </c:pt>
                <c:pt idx="6">
                  <c:v>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53C-403B-BA92-75EDCED270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axId val="1867913679"/>
        <c:axId val="1695730143"/>
      </c:barChart>
      <c:catAx>
        <c:axId val="18679136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95730143"/>
        <c:crosses val="autoZero"/>
        <c:auto val="1"/>
        <c:lblAlgn val="ctr"/>
        <c:lblOffset val="100"/>
        <c:noMultiLvlLbl val="0"/>
      </c:catAx>
      <c:valAx>
        <c:axId val="169573014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67913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8251121459114563E-2"/>
          <c:y val="0.17576215886453064"/>
          <c:w val="0.80349775708177085"/>
          <c:h val="0.118036590980184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7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#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#2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38DB4A-6D92-4DF6-B225-AFDCCBF07A7D}" type="doc">
      <dgm:prSet loTypeId="urn:microsoft.com/office/officeart/2009/3/layout/HorizontalOrganizationChart" loCatId="hierarchy" qsTypeId="urn:microsoft.com/office/officeart/2005/8/quickstyle/simple2#1" qsCatId="simple" csTypeId="urn:microsoft.com/office/officeart/2005/8/colors/accent2_1#1" csCatId="accent2" phldr="1"/>
      <dgm:spPr/>
      <dgm:t>
        <a:bodyPr/>
        <a:lstStyle/>
        <a:p>
          <a:endParaRPr lang="zh-CN" altLang="en-US"/>
        </a:p>
      </dgm:t>
    </dgm:pt>
    <dgm:pt modelId="{EB4001FD-8785-4AAC-88FD-C6322C57711E}">
      <dgm:prSet phldrT="[文本]" phldr="0" custT="1"/>
      <dgm:spPr/>
      <dgm:t>
        <a:bodyPr/>
        <a:lstStyle/>
        <a:p>
          <a:r>
            <a:rPr lang="en-US" altLang="zh-CN" sz="1800" dirty="0"/>
            <a:t>Operation Focus</a:t>
          </a:r>
          <a:endParaRPr lang="zh-CN" altLang="en-US" sz="1800" dirty="0"/>
        </a:p>
      </dgm:t>
    </dgm:pt>
    <dgm:pt modelId="{6DE634F3-3460-4F4C-9AD7-521A8FB1B7B0}" type="parTrans" cxnId="{1604A6C8-2F6E-4880-990A-6C236A8CCF23}">
      <dgm:prSet/>
      <dgm:spPr/>
      <dgm:t>
        <a:bodyPr/>
        <a:lstStyle/>
        <a:p>
          <a:endParaRPr lang="zh-CN" altLang="en-US" sz="1800"/>
        </a:p>
      </dgm:t>
    </dgm:pt>
    <dgm:pt modelId="{E81D8998-62A2-468D-BD23-16832D81E666}" type="sibTrans" cxnId="{1604A6C8-2F6E-4880-990A-6C236A8CCF23}">
      <dgm:prSet/>
      <dgm:spPr/>
      <dgm:t>
        <a:bodyPr/>
        <a:lstStyle/>
        <a:p>
          <a:endParaRPr lang="zh-CN" altLang="en-US" sz="1800"/>
        </a:p>
      </dgm:t>
    </dgm:pt>
    <dgm:pt modelId="{24889E31-37A5-4E0E-8109-A7452B7FA8C4}">
      <dgm:prSet phldrT="[文本]" custT="1"/>
      <dgm:spPr/>
      <dgm:t>
        <a:bodyPr/>
        <a:lstStyle/>
        <a:p>
          <a:r>
            <a:rPr lang="en-US" altLang="en-US" sz="1800" dirty="0"/>
            <a:t>Boutique Community Store</a:t>
          </a:r>
          <a:endParaRPr lang="zh-CN" altLang="en-US" sz="1800" dirty="0"/>
        </a:p>
      </dgm:t>
    </dgm:pt>
    <dgm:pt modelId="{D37F72B9-29C5-4920-ABAC-179E507E5C98}" type="parTrans" cxnId="{5173221C-9404-49BF-80D6-A1990609AA9C}">
      <dgm:prSet/>
      <dgm:spPr/>
      <dgm:t>
        <a:bodyPr/>
        <a:lstStyle/>
        <a:p>
          <a:endParaRPr lang="zh-CN" altLang="en-US" sz="1800"/>
        </a:p>
      </dgm:t>
    </dgm:pt>
    <dgm:pt modelId="{9EC10D99-BDCE-4BFB-AFD5-C5F3FD9B0FC6}" type="sibTrans" cxnId="{5173221C-9404-49BF-80D6-A1990609AA9C}">
      <dgm:prSet/>
      <dgm:spPr/>
      <dgm:t>
        <a:bodyPr/>
        <a:lstStyle/>
        <a:p>
          <a:endParaRPr lang="zh-CN" altLang="en-US" sz="1800"/>
        </a:p>
      </dgm:t>
    </dgm:pt>
    <dgm:pt modelId="{A0982D3D-E18E-4549-8FCA-9D8F7EEE3103}">
      <dgm:prSet phldrT="[文本]" custT="1"/>
      <dgm:spPr/>
      <dgm:t>
        <a:bodyPr/>
        <a:lstStyle/>
        <a:p>
          <a:r>
            <a:rPr lang="en-US" altLang="en-US" sz="1800" dirty="0"/>
            <a:t>Traditional Hypermarket</a:t>
          </a:r>
          <a:endParaRPr lang="zh-CN" altLang="en-US" sz="1800" dirty="0"/>
        </a:p>
      </dgm:t>
    </dgm:pt>
    <dgm:pt modelId="{617C488F-B9A5-4855-82CC-9DF0896E96A4}" type="parTrans" cxnId="{EDAFCCED-BAE0-47B8-A781-9D8D1F8B38F9}">
      <dgm:prSet/>
      <dgm:spPr/>
      <dgm:t>
        <a:bodyPr/>
        <a:lstStyle/>
        <a:p>
          <a:endParaRPr lang="zh-CN" altLang="en-US" sz="1800"/>
        </a:p>
      </dgm:t>
    </dgm:pt>
    <dgm:pt modelId="{49ABC071-1AD7-47DC-9160-231A60773001}" type="sibTrans" cxnId="{EDAFCCED-BAE0-47B8-A781-9D8D1F8B38F9}">
      <dgm:prSet/>
      <dgm:spPr/>
      <dgm:t>
        <a:bodyPr/>
        <a:lstStyle/>
        <a:p>
          <a:endParaRPr lang="zh-CN" altLang="en-US" sz="1800"/>
        </a:p>
      </dgm:t>
    </dgm:pt>
    <dgm:pt modelId="{89B4137A-6AEC-4DF6-924D-D12C03D5AEC9}">
      <dgm:prSet phldrT="[文本]" custT="1"/>
      <dgm:spPr/>
      <dgm:t>
        <a:bodyPr/>
        <a:lstStyle/>
        <a:p>
          <a:r>
            <a:rPr lang="en-US" altLang="en-US" sz="1800" dirty="0"/>
            <a:t>Scale</a:t>
          </a:r>
          <a:endParaRPr lang="zh-CN" altLang="en-US" sz="1800" dirty="0"/>
        </a:p>
      </dgm:t>
    </dgm:pt>
    <dgm:pt modelId="{A53297A1-E9B0-46EC-AD8B-AE58EB13C936}" type="parTrans" cxnId="{F530E0E1-88BE-4CD6-8BCC-DF3675D153C0}">
      <dgm:prSet/>
      <dgm:spPr/>
      <dgm:t>
        <a:bodyPr/>
        <a:lstStyle/>
        <a:p>
          <a:endParaRPr lang="zh-CN" altLang="en-US" sz="1800"/>
        </a:p>
      </dgm:t>
    </dgm:pt>
    <dgm:pt modelId="{7C1ABC83-9835-4250-B61C-C427E40E63BC}" type="sibTrans" cxnId="{F530E0E1-88BE-4CD6-8BCC-DF3675D153C0}">
      <dgm:prSet/>
      <dgm:spPr/>
      <dgm:t>
        <a:bodyPr/>
        <a:lstStyle/>
        <a:p>
          <a:endParaRPr lang="zh-CN" altLang="en-US" sz="1800"/>
        </a:p>
      </dgm:t>
    </dgm:pt>
    <dgm:pt modelId="{8812086C-546D-42D0-8DC8-1B8EE2C0B221}">
      <dgm:prSet phldrT="[文本]" custT="1"/>
      <dgm:spPr/>
      <dgm:t>
        <a:bodyPr/>
        <a:lstStyle/>
        <a:p>
          <a:r>
            <a:rPr lang="en-US" altLang="en-US" sz="1800" dirty="0"/>
            <a:t>Experience Space</a:t>
          </a:r>
          <a:endParaRPr lang="zh-CN" altLang="en-US" sz="1800" dirty="0"/>
        </a:p>
      </dgm:t>
    </dgm:pt>
    <dgm:pt modelId="{602BAB65-DF04-4DA3-9FB8-FA886C026BCF}" type="parTrans" cxnId="{6250C069-3E2E-41B5-AB67-DDBF92AACED5}">
      <dgm:prSet/>
      <dgm:spPr/>
      <dgm:t>
        <a:bodyPr/>
        <a:lstStyle/>
        <a:p>
          <a:endParaRPr lang="zh-CN" altLang="en-US" sz="1800"/>
        </a:p>
      </dgm:t>
    </dgm:pt>
    <dgm:pt modelId="{7695A652-5331-4819-97F4-E5DC6CB004DA}" type="sibTrans" cxnId="{6250C069-3E2E-41B5-AB67-DDBF92AACED5}">
      <dgm:prSet/>
      <dgm:spPr/>
      <dgm:t>
        <a:bodyPr/>
        <a:lstStyle/>
        <a:p>
          <a:endParaRPr lang="zh-CN" altLang="en-US" sz="1800"/>
        </a:p>
      </dgm:t>
    </dgm:pt>
    <dgm:pt modelId="{3EAAB8C2-1894-4DC8-938F-CCAE0A4D65CD}">
      <dgm:prSet phldrT="[文本]" custT="1"/>
      <dgm:spPr/>
      <dgm:t>
        <a:bodyPr/>
        <a:lstStyle/>
        <a:p>
          <a:r>
            <a:rPr lang="en-US" altLang="en-US" sz="1800" dirty="0"/>
            <a:t>Self-Created Design</a:t>
          </a:r>
          <a:endParaRPr lang="zh-CN" altLang="en-US" sz="1800" dirty="0"/>
        </a:p>
      </dgm:t>
    </dgm:pt>
    <dgm:pt modelId="{E169C78A-AFF8-4E83-B333-B008BDCAB43C}" type="parTrans" cxnId="{9A72ED35-A912-4BFC-A100-D602A2985602}">
      <dgm:prSet/>
      <dgm:spPr/>
      <dgm:t>
        <a:bodyPr/>
        <a:lstStyle/>
        <a:p>
          <a:endParaRPr lang="zh-CN" altLang="en-US" sz="1800"/>
        </a:p>
      </dgm:t>
    </dgm:pt>
    <dgm:pt modelId="{4684106F-7E32-4DCB-8B15-55C06E32F938}" type="sibTrans" cxnId="{9A72ED35-A912-4BFC-A100-D602A2985602}">
      <dgm:prSet/>
      <dgm:spPr/>
      <dgm:t>
        <a:bodyPr/>
        <a:lstStyle/>
        <a:p>
          <a:endParaRPr lang="zh-CN" altLang="en-US" sz="1800"/>
        </a:p>
      </dgm:t>
    </dgm:pt>
    <dgm:pt modelId="{0C5299A7-E515-46BA-A880-179E5631624A}">
      <dgm:prSet phldrT="[文本]" custT="1"/>
      <dgm:spPr/>
      <dgm:t>
        <a:bodyPr/>
        <a:lstStyle/>
        <a:p>
          <a:r>
            <a:rPr lang="en-US" altLang="en-US" sz="1800" dirty="0"/>
            <a:t>Strategies for Residents' Stay Time</a:t>
          </a:r>
          <a:endParaRPr lang="zh-CN" altLang="en-US" sz="1800" dirty="0"/>
        </a:p>
      </dgm:t>
    </dgm:pt>
    <dgm:pt modelId="{6813D90C-C62E-4BFE-BD38-490286D8A688}" type="parTrans" cxnId="{3FF21652-6CD4-44F1-8749-83AF0083387C}">
      <dgm:prSet/>
      <dgm:spPr/>
      <dgm:t>
        <a:bodyPr/>
        <a:lstStyle/>
        <a:p>
          <a:endParaRPr lang="zh-CN" altLang="en-US" sz="1800"/>
        </a:p>
      </dgm:t>
    </dgm:pt>
    <dgm:pt modelId="{83225097-5EF5-4306-A6A9-B371447E7DC6}" type="sibTrans" cxnId="{3FF21652-6CD4-44F1-8749-83AF0083387C}">
      <dgm:prSet/>
      <dgm:spPr/>
      <dgm:t>
        <a:bodyPr/>
        <a:lstStyle/>
        <a:p>
          <a:endParaRPr lang="zh-CN" altLang="en-US" sz="1800"/>
        </a:p>
      </dgm:t>
    </dgm:pt>
    <dgm:pt modelId="{8BF683F3-2D7F-4E4E-BCB6-3C14BD2C15E8}">
      <dgm:prSet phldrT="[文本]" custT="1"/>
      <dgm:spPr/>
      <dgm:t>
        <a:bodyPr/>
        <a:lstStyle/>
        <a:p>
          <a:r>
            <a:rPr lang="en-US" altLang="en-US" sz="1800" dirty="0"/>
            <a:t>Comprehensive Product Range</a:t>
          </a:r>
          <a:endParaRPr lang="zh-CN" altLang="en-US" sz="1800" dirty="0"/>
        </a:p>
      </dgm:t>
    </dgm:pt>
    <dgm:pt modelId="{A2A3CD26-9CBA-4ADC-A593-021650291CBB}" type="parTrans" cxnId="{AF86118D-2BE2-46B4-B7E7-E2F7F08D8B92}">
      <dgm:prSet/>
      <dgm:spPr/>
      <dgm:t>
        <a:bodyPr/>
        <a:lstStyle/>
        <a:p>
          <a:endParaRPr lang="zh-CN" altLang="en-US" sz="1800"/>
        </a:p>
      </dgm:t>
    </dgm:pt>
    <dgm:pt modelId="{0BB97E96-C61B-4F0A-B1FF-40189B82B20D}" type="sibTrans" cxnId="{AF86118D-2BE2-46B4-B7E7-E2F7F08D8B92}">
      <dgm:prSet/>
      <dgm:spPr/>
      <dgm:t>
        <a:bodyPr/>
        <a:lstStyle/>
        <a:p>
          <a:endParaRPr lang="zh-CN" altLang="en-US" sz="1800"/>
        </a:p>
      </dgm:t>
    </dgm:pt>
    <dgm:pt modelId="{4E1F7BC0-05A5-49B3-A53B-AF59CEA532AD}">
      <dgm:prSet phldrT="[文本]" custT="1"/>
      <dgm:spPr/>
      <dgm:t>
        <a:bodyPr/>
        <a:lstStyle/>
        <a:p>
          <a:r>
            <a:rPr lang="en-US" altLang="en-US" sz="1800" dirty="0"/>
            <a:t>Efficiency, and Coverage</a:t>
          </a:r>
          <a:endParaRPr lang="zh-CN" altLang="en-US" sz="1800" dirty="0"/>
        </a:p>
      </dgm:t>
    </dgm:pt>
    <dgm:pt modelId="{2E7C11C5-12B7-48FA-8F62-48D25741CFCE}" type="parTrans" cxnId="{9E1C89CB-25C8-423C-BF14-568B6B64094A}">
      <dgm:prSet/>
      <dgm:spPr/>
      <dgm:t>
        <a:bodyPr/>
        <a:lstStyle/>
        <a:p>
          <a:endParaRPr lang="zh-CN" altLang="en-US" sz="1800"/>
        </a:p>
      </dgm:t>
    </dgm:pt>
    <dgm:pt modelId="{BA966D9A-8357-4E87-B28F-ED5FF43BC360}" type="sibTrans" cxnId="{9E1C89CB-25C8-423C-BF14-568B6B64094A}">
      <dgm:prSet/>
      <dgm:spPr/>
      <dgm:t>
        <a:bodyPr/>
        <a:lstStyle/>
        <a:p>
          <a:endParaRPr lang="zh-CN" altLang="en-US" sz="1800"/>
        </a:p>
      </dgm:t>
    </dgm:pt>
    <dgm:pt modelId="{FF7EEE2D-C7AA-4035-B283-3CACF433A46A}" type="pres">
      <dgm:prSet presAssocID="{2238DB4A-6D92-4DF6-B225-AFDCCBF07A7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AC5776-33F4-44E9-AD77-45C74179CE17}" type="pres">
      <dgm:prSet presAssocID="{EB4001FD-8785-4AAC-88FD-C6322C57711E}" presName="hierRoot1" presStyleCnt="0">
        <dgm:presLayoutVars>
          <dgm:hierBranch val="init"/>
        </dgm:presLayoutVars>
      </dgm:prSet>
      <dgm:spPr/>
    </dgm:pt>
    <dgm:pt modelId="{ABB56505-EBA7-4173-9493-6D7C28F225D0}" type="pres">
      <dgm:prSet presAssocID="{EB4001FD-8785-4AAC-88FD-C6322C57711E}" presName="rootComposite1" presStyleCnt="0"/>
      <dgm:spPr/>
    </dgm:pt>
    <dgm:pt modelId="{649FC4D6-61C0-4E12-9CF5-4A6CCD1BF942}" type="pres">
      <dgm:prSet presAssocID="{EB4001FD-8785-4AAC-88FD-C6322C57711E}" presName="rootText1" presStyleLbl="node0" presStyleIdx="0" presStyleCnt="1" custScaleX="187659" custScaleY="132184">
        <dgm:presLayoutVars>
          <dgm:chPref val="3"/>
        </dgm:presLayoutVars>
      </dgm:prSet>
      <dgm:spPr/>
    </dgm:pt>
    <dgm:pt modelId="{AE6AD1A6-4979-4923-937D-62867FBFB2C0}" type="pres">
      <dgm:prSet presAssocID="{EB4001FD-8785-4AAC-88FD-C6322C57711E}" presName="rootConnector1" presStyleLbl="node1" presStyleIdx="0" presStyleCnt="0"/>
      <dgm:spPr/>
    </dgm:pt>
    <dgm:pt modelId="{A9367F72-C8BF-4A24-98A7-FF2FFF968394}" type="pres">
      <dgm:prSet presAssocID="{EB4001FD-8785-4AAC-88FD-C6322C57711E}" presName="hierChild2" presStyleCnt="0"/>
      <dgm:spPr/>
    </dgm:pt>
    <dgm:pt modelId="{065B1D4A-1F58-4D1D-9B98-24CF963B255F}" type="pres">
      <dgm:prSet presAssocID="{D37F72B9-29C5-4920-ABAC-179E507E5C98}" presName="Name64" presStyleLbl="parChTrans1D2" presStyleIdx="0" presStyleCnt="2"/>
      <dgm:spPr/>
    </dgm:pt>
    <dgm:pt modelId="{7798698E-4BE2-416A-B658-C620A28C14A2}" type="pres">
      <dgm:prSet presAssocID="{24889E31-37A5-4E0E-8109-A7452B7FA8C4}" presName="hierRoot2" presStyleCnt="0">
        <dgm:presLayoutVars>
          <dgm:hierBranch val="init"/>
        </dgm:presLayoutVars>
      </dgm:prSet>
      <dgm:spPr/>
    </dgm:pt>
    <dgm:pt modelId="{7BA73B9D-45A5-4E51-9006-79F9BE31BF5B}" type="pres">
      <dgm:prSet presAssocID="{24889E31-37A5-4E0E-8109-A7452B7FA8C4}" presName="rootComposite" presStyleCnt="0"/>
      <dgm:spPr/>
    </dgm:pt>
    <dgm:pt modelId="{0E471146-9E7B-4A3D-9397-351C5F3B7AED}" type="pres">
      <dgm:prSet presAssocID="{24889E31-37A5-4E0E-8109-A7452B7FA8C4}" presName="rootText" presStyleLbl="node2" presStyleIdx="0" presStyleCnt="2" custScaleX="326032" custScaleY="127444">
        <dgm:presLayoutVars>
          <dgm:chPref val="3"/>
        </dgm:presLayoutVars>
      </dgm:prSet>
      <dgm:spPr/>
    </dgm:pt>
    <dgm:pt modelId="{A5BC8686-69E4-4636-8B4D-4952AA669DEA}" type="pres">
      <dgm:prSet presAssocID="{24889E31-37A5-4E0E-8109-A7452B7FA8C4}" presName="rootConnector" presStyleLbl="node2" presStyleIdx="0" presStyleCnt="2"/>
      <dgm:spPr/>
    </dgm:pt>
    <dgm:pt modelId="{B7B8E358-AB36-4F61-8F33-B46558CAC9C1}" type="pres">
      <dgm:prSet presAssocID="{24889E31-37A5-4E0E-8109-A7452B7FA8C4}" presName="hierChild4" presStyleCnt="0"/>
      <dgm:spPr/>
    </dgm:pt>
    <dgm:pt modelId="{433A6A41-F511-42F5-B7F4-998482BF0C96}" type="pres">
      <dgm:prSet presAssocID="{602BAB65-DF04-4DA3-9FB8-FA886C026BCF}" presName="Name64" presStyleLbl="parChTrans1D3" presStyleIdx="0" presStyleCnt="6"/>
      <dgm:spPr/>
    </dgm:pt>
    <dgm:pt modelId="{2165C065-4FC7-482E-AF27-FF68769CA03C}" type="pres">
      <dgm:prSet presAssocID="{8812086C-546D-42D0-8DC8-1B8EE2C0B221}" presName="hierRoot2" presStyleCnt="0">
        <dgm:presLayoutVars>
          <dgm:hierBranch val="init"/>
        </dgm:presLayoutVars>
      </dgm:prSet>
      <dgm:spPr/>
    </dgm:pt>
    <dgm:pt modelId="{CEB2AC86-FEA1-4721-B90A-C08C0B90E3B6}" type="pres">
      <dgm:prSet presAssocID="{8812086C-546D-42D0-8DC8-1B8EE2C0B221}" presName="rootComposite" presStyleCnt="0"/>
      <dgm:spPr/>
    </dgm:pt>
    <dgm:pt modelId="{BCF85AD0-E216-4D58-B2F3-7762007E34B9}" type="pres">
      <dgm:prSet presAssocID="{8812086C-546D-42D0-8DC8-1B8EE2C0B221}" presName="rootText" presStyleLbl="node3" presStyleIdx="0" presStyleCnt="6" custScaleX="216572" custScaleY="120755">
        <dgm:presLayoutVars>
          <dgm:chPref val="3"/>
        </dgm:presLayoutVars>
      </dgm:prSet>
      <dgm:spPr/>
    </dgm:pt>
    <dgm:pt modelId="{99CDE0FE-70BF-48FD-9C93-A142BD04822B}" type="pres">
      <dgm:prSet presAssocID="{8812086C-546D-42D0-8DC8-1B8EE2C0B221}" presName="rootConnector" presStyleLbl="node3" presStyleIdx="0" presStyleCnt="6"/>
      <dgm:spPr/>
    </dgm:pt>
    <dgm:pt modelId="{C6F68566-9397-4E81-B742-142E6826558C}" type="pres">
      <dgm:prSet presAssocID="{8812086C-546D-42D0-8DC8-1B8EE2C0B221}" presName="hierChild4" presStyleCnt="0"/>
      <dgm:spPr/>
    </dgm:pt>
    <dgm:pt modelId="{B8D4916B-A796-437A-8C08-AC33FB83D913}" type="pres">
      <dgm:prSet presAssocID="{8812086C-546D-42D0-8DC8-1B8EE2C0B221}" presName="hierChild5" presStyleCnt="0"/>
      <dgm:spPr/>
    </dgm:pt>
    <dgm:pt modelId="{6F7CE4F3-67A5-48F3-AE4B-F31A2D7AAC07}" type="pres">
      <dgm:prSet presAssocID="{E169C78A-AFF8-4E83-B333-B008BDCAB43C}" presName="Name64" presStyleLbl="parChTrans1D3" presStyleIdx="1" presStyleCnt="6"/>
      <dgm:spPr/>
    </dgm:pt>
    <dgm:pt modelId="{7647C10A-B272-4DC3-A683-16CC1E632E4C}" type="pres">
      <dgm:prSet presAssocID="{3EAAB8C2-1894-4DC8-938F-CCAE0A4D65CD}" presName="hierRoot2" presStyleCnt="0">
        <dgm:presLayoutVars>
          <dgm:hierBranch val="init"/>
        </dgm:presLayoutVars>
      </dgm:prSet>
      <dgm:spPr/>
    </dgm:pt>
    <dgm:pt modelId="{8C02A408-09A9-4DE6-A9BF-AC3EB8249125}" type="pres">
      <dgm:prSet presAssocID="{3EAAB8C2-1894-4DC8-938F-CCAE0A4D65CD}" presName="rootComposite" presStyleCnt="0"/>
      <dgm:spPr/>
    </dgm:pt>
    <dgm:pt modelId="{DAB1CE9F-64E4-4676-B469-0115E3A1E689}" type="pres">
      <dgm:prSet presAssocID="{3EAAB8C2-1894-4DC8-938F-CCAE0A4D65CD}" presName="rootText" presStyleLbl="node3" presStyleIdx="1" presStyleCnt="6" custScaleX="234747" custScaleY="113907">
        <dgm:presLayoutVars>
          <dgm:chPref val="3"/>
        </dgm:presLayoutVars>
      </dgm:prSet>
      <dgm:spPr/>
    </dgm:pt>
    <dgm:pt modelId="{DC8D064F-17EA-4632-8AF3-42DD6623A398}" type="pres">
      <dgm:prSet presAssocID="{3EAAB8C2-1894-4DC8-938F-CCAE0A4D65CD}" presName="rootConnector" presStyleLbl="node3" presStyleIdx="1" presStyleCnt="6"/>
      <dgm:spPr/>
    </dgm:pt>
    <dgm:pt modelId="{DF272A88-1C6D-4803-9CCA-E0880F65755B}" type="pres">
      <dgm:prSet presAssocID="{3EAAB8C2-1894-4DC8-938F-CCAE0A4D65CD}" presName="hierChild4" presStyleCnt="0"/>
      <dgm:spPr/>
    </dgm:pt>
    <dgm:pt modelId="{C4B5B209-32D9-4E0F-ACF3-4416C00BD403}" type="pres">
      <dgm:prSet presAssocID="{3EAAB8C2-1894-4DC8-938F-CCAE0A4D65CD}" presName="hierChild5" presStyleCnt="0"/>
      <dgm:spPr/>
    </dgm:pt>
    <dgm:pt modelId="{1CB7EF91-5382-4490-9EFC-8EDADE7289FA}" type="pres">
      <dgm:prSet presAssocID="{6813D90C-C62E-4BFE-BD38-490286D8A688}" presName="Name64" presStyleLbl="parChTrans1D3" presStyleIdx="2" presStyleCnt="6"/>
      <dgm:spPr/>
    </dgm:pt>
    <dgm:pt modelId="{D4586165-9AFC-4CF2-AE72-FC11CB7DEDC1}" type="pres">
      <dgm:prSet presAssocID="{0C5299A7-E515-46BA-A880-179E5631624A}" presName="hierRoot2" presStyleCnt="0">
        <dgm:presLayoutVars>
          <dgm:hierBranch val="init"/>
        </dgm:presLayoutVars>
      </dgm:prSet>
      <dgm:spPr/>
    </dgm:pt>
    <dgm:pt modelId="{E3AFABD9-4648-4F4F-9CC6-F07C80322222}" type="pres">
      <dgm:prSet presAssocID="{0C5299A7-E515-46BA-A880-179E5631624A}" presName="rootComposite" presStyleCnt="0"/>
      <dgm:spPr/>
    </dgm:pt>
    <dgm:pt modelId="{6147B712-C47A-4AAF-B32D-5039DF3803FA}" type="pres">
      <dgm:prSet presAssocID="{0C5299A7-E515-46BA-A880-179E5631624A}" presName="rootText" presStyleLbl="node3" presStyleIdx="2" presStyleCnt="6" custScaleX="319681" custScaleY="122943">
        <dgm:presLayoutVars>
          <dgm:chPref val="3"/>
        </dgm:presLayoutVars>
      </dgm:prSet>
      <dgm:spPr/>
    </dgm:pt>
    <dgm:pt modelId="{A783820B-E8AE-4C38-9D99-2BC294AB6C88}" type="pres">
      <dgm:prSet presAssocID="{0C5299A7-E515-46BA-A880-179E5631624A}" presName="rootConnector" presStyleLbl="node3" presStyleIdx="2" presStyleCnt="6"/>
      <dgm:spPr/>
    </dgm:pt>
    <dgm:pt modelId="{FD2E4BB4-AD3E-4490-A50A-EDFCE284D6DF}" type="pres">
      <dgm:prSet presAssocID="{0C5299A7-E515-46BA-A880-179E5631624A}" presName="hierChild4" presStyleCnt="0"/>
      <dgm:spPr/>
    </dgm:pt>
    <dgm:pt modelId="{C50D9725-7C00-4604-B93E-6E52D8EE13C7}" type="pres">
      <dgm:prSet presAssocID="{0C5299A7-E515-46BA-A880-179E5631624A}" presName="hierChild5" presStyleCnt="0"/>
      <dgm:spPr/>
    </dgm:pt>
    <dgm:pt modelId="{F7246652-2EE7-4FD3-8263-D2C133967774}" type="pres">
      <dgm:prSet presAssocID="{24889E31-37A5-4E0E-8109-A7452B7FA8C4}" presName="hierChild5" presStyleCnt="0"/>
      <dgm:spPr/>
    </dgm:pt>
    <dgm:pt modelId="{99EF69AE-1848-4A66-BD8D-52A8ECD91A1A}" type="pres">
      <dgm:prSet presAssocID="{617C488F-B9A5-4855-82CC-9DF0896E96A4}" presName="Name64" presStyleLbl="parChTrans1D2" presStyleIdx="1" presStyleCnt="2"/>
      <dgm:spPr/>
    </dgm:pt>
    <dgm:pt modelId="{90F016A3-0241-4E5F-BFB3-2665EFEFE483}" type="pres">
      <dgm:prSet presAssocID="{A0982D3D-E18E-4549-8FCA-9D8F7EEE3103}" presName="hierRoot2" presStyleCnt="0">
        <dgm:presLayoutVars>
          <dgm:hierBranch val="init"/>
        </dgm:presLayoutVars>
      </dgm:prSet>
      <dgm:spPr/>
    </dgm:pt>
    <dgm:pt modelId="{FCFA6E26-3C57-4030-BB48-016CE96E01BF}" type="pres">
      <dgm:prSet presAssocID="{A0982D3D-E18E-4549-8FCA-9D8F7EEE3103}" presName="rootComposite" presStyleCnt="0"/>
      <dgm:spPr/>
    </dgm:pt>
    <dgm:pt modelId="{5C97BEC0-5A14-4161-B8A4-70A81C15040D}" type="pres">
      <dgm:prSet presAssocID="{A0982D3D-E18E-4549-8FCA-9D8F7EEE3103}" presName="rootText" presStyleLbl="node2" presStyleIdx="1" presStyleCnt="2" custScaleX="259348" custScaleY="127585">
        <dgm:presLayoutVars>
          <dgm:chPref val="3"/>
        </dgm:presLayoutVars>
      </dgm:prSet>
      <dgm:spPr/>
    </dgm:pt>
    <dgm:pt modelId="{FBAE37FA-C0ED-4188-A3DD-96DC12844485}" type="pres">
      <dgm:prSet presAssocID="{A0982D3D-E18E-4549-8FCA-9D8F7EEE3103}" presName="rootConnector" presStyleLbl="node2" presStyleIdx="1" presStyleCnt="2"/>
      <dgm:spPr/>
    </dgm:pt>
    <dgm:pt modelId="{2D93B0E2-DDF4-476B-B49D-433412C37227}" type="pres">
      <dgm:prSet presAssocID="{A0982D3D-E18E-4549-8FCA-9D8F7EEE3103}" presName="hierChild4" presStyleCnt="0"/>
      <dgm:spPr/>
    </dgm:pt>
    <dgm:pt modelId="{1161C0E0-A691-496D-AC1B-7D5E6FC1DBBD}" type="pres">
      <dgm:prSet presAssocID="{A53297A1-E9B0-46EC-AD8B-AE58EB13C936}" presName="Name64" presStyleLbl="parChTrans1D3" presStyleIdx="3" presStyleCnt="6"/>
      <dgm:spPr/>
    </dgm:pt>
    <dgm:pt modelId="{ADDEF0EB-4010-47BA-AE10-AA244F9BE78D}" type="pres">
      <dgm:prSet presAssocID="{89B4137A-6AEC-4DF6-924D-D12C03D5AEC9}" presName="hierRoot2" presStyleCnt="0">
        <dgm:presLayoutVars>
          <dgm:hierBranch val="init"/>
        </dgm:presLayoutVars>
      </dgm:prSet>
      <dgm:spPr/>
    </dgm:pt>
    <dgm:pt modelId="{1CA73224-4101-4998-B01C-6938D383E72E}" type="pres">
      <dgm:prSet presAssocID="{89B4137A-6AEC-4DF6-924D-D12C03D5AEC9}" presName="rootComposite" presStyleCnt="0"/>
      <dgm:spPr/>
    </dgm:pt>
    <dgm:pt modelId="{375AFDE0-45B2-41AA-A6CE-4C09D5802FD4}" type="pres">
      <dgm:prSet presAssocID="{89B4137A-6AEC-4DF6-924D-D12C03D5AEC9}" presName="rootText" presStyleLbl="node3" presStyleIdx="3" presStyleCnt="6" custScaleX="99981" custScaleY="120878">
        <dgm:presLayoutVars>
          <dgm:chPref val="3"/>
        </dgm:presLayoutVars>
      </dgm:prSet>
      <dgm:spPr/>
    </dgm:pt>
    <dgm:pt modelId="{8FC13982-2931-485B-BAF4-C474489E7484}" type="pres">
      <dgm:prSet presAssocID="{89B4137A-6AEC-4DF6-924D-D12C03D5AEC9}" presName="rootConnector" presStyleLbl="node3" presStyleIdx="3" presStyleCnt="6"/>
      <dgm:spPr/>
    </dgm:pt>
    <dgm:pt modelId="{641B64A6-AFDE-4D59-983F-75D228FA7F37}" type="pres">
      <dgm:prSet presAssocID="{89B4137A-6AEC-4DF6-924D-D12C03D5AEC9}" presName="hierChild4" presStyleCnt="0"/>
      <dgm:spPr/>
    </dgm:pt>
    <dgm:pt modelId="{9A5CAC82-02BB-4518-9504-283AC6586F0C}" type="pres">
      <dgm:prSet presAssocID="{89B4137A-6AEC-4DF6-924D-D12C03D5AEC9}" presName="hierChild5" presStyleCnt="0"/>
      <dgm:spPr/>
    </dgm:pt>
    <dgm:pt modelId="{02334B29-8E7C-4CC9-A8E2-4CF919261A0E}" type="pres">
      <dgm:prSet presAssocID="{A2A3CD26-9CBA-4ADC-A593-021650291CBB}" presName="Name64" presStyleLbl="parChTrans1D3" presStyleIdx="4" presStyleCnt="6"/>
      <dgm:spPr/>
    </dgm:pt>
    <dgm:pt modelId="{8A1F2D98-B8B7-4CB1-B561-1D92EAF2B29B}" type="pres">
      <dgm:prSet presAssocID="{8BF683F3-2D7F-4E4E-BCB6-3C14BD2C15E8}" presName="hierRoot2" presStyleCnt="0">
        <dgm:presLayoutVars>
          <dgm:hierBranch val="init"/>
        </dgm:presLayoutVars>
      </dgm:prSet>
      <dgm:spPr/>
    </dgm:pt>
    <dgm:pt modelId="{64FB837E-8BAE-4B8E-99D0-76B95E661EC0}" type="pres">
      <dgm:prSet presAssocID="{8BF683F3-2D7F-4E4E-BCB6-3C14BD2C15E8}" presName="rootComposite" presStyleCnt="0"/>
      <dgm:spPr/>
    </dgm:pt>
    <dgm:pt modelId="{1ED85BC8-2E57-429C-BD19-6A2FD367385B}" type="pres">
      <dgm:prSet presAssocID="{8BF683F3-2D7F-4E4E-BCB6-3C14BD2C15E8}" presName="rootText" presStyleLbl="node3" presStyleIdx="4" presStyleCnt="6" custScaleX="331651" custScaleY="141176">
        <dgm:presLayoutVars>
          <dgm:chPref val="3"/>
        </dgm:presLayoutVars>
      </dgm:prSet>
      <dgm:spPr/>
    </dgm:pt>
    <dgm:pt modelId="{7FEDC6AB-D60F-4805-A178-72245FEAB4D3}" type="pres">
      <dgm:prSet presAssocID="{8BF683F3-2D7F-4E4E-BCB6-3C14BD2C15E8}" presName="rootConnector" presStyleLbl="node3" presStyleIdx="4" presStyleCnt="6"/>
      <dgm:spPr/>
    </dgm:pt>
    <dgm:pt modelId="{ABB02479-493F-4704-85A4-A407DDAD8730}" type="pres">
      <dgm:prSet presAssocID="{8BF683F3-2D7F-4E4E-BCB6-3C14BD2C15E8}" presName="hierChild4" presStyleCnt="0"/>
      <dgm:spPr/>
    </dgm:pt>
    <dgm:pt modelId="{BC41A353-251C-4B43-B040-06A0982C598E}" type="pres">
      <dgm:prSet presAssocID="{8BF683F3-2D7F-4E4E-BCB6-3C14BD2C15E8}" presName="hierChild5" presStyleCnt="0"/>
      <dgm:spPr/>
    </dgm:pt>
    <dgm:pt modelId="{B4F62606-A55A-41BA-83C2-E0CDD4FDA07F}" type="pres">
      <dgm:prSet presAssocID="{2E7C11C5-12B7-48FA-8F62-48D25741CFCE}" presName="Name64" presStyleLbl="parChTrans1D3" presStyleIdx="5" presStyleCnt="6"/>
      <dgm:spPr/>
    </dgm:pt>
    <dgm:pt modelId="{A914DC3D-30A0-4B3B-A777-769426876CAB}" type="pres">
      <dgm:prSet presAssocID="{4E1F7BC0-05A5-49B3-A53B-AF59CEA532AD}" presName="hierRoot2" presStyleCnt="0">
        <dgm:presLayoutVars>
          <dgm:hierBranch val="init"/>
        </dgm:presLayoutVars>
      </dgm:prSet>
      <dgm:spPr/>
    </dgm:pt>
    <dgm:pt modelId="{D1F53F9D-599B-45F3-B4ED-01CEC10472C4}" type="pres">
      <dgm:prSet presAssocID="{4E1F7BC0-05A5-49B3-A53B-AF59CEA532AD}" presName="rootComposite" presStyleCnt="0"/>
      <dgm:spPr/>
    </dgm:pt>
    <dgm:pt modelId="{1472F0EC-BC51-4141-886C-F2DAE7C203A1}" type="pres">
      <dgm:prSet presAssocID="{4E1F7BC0-05A5-49B3-A53B-AF59CEA532AD}" presName="rootText" presStyleLbl="node3" presStyleIdx="5" presStyleCnt="6" custScaleX="251918" custScaleY="144367">
        <dgm:presLayoutVars>
          <dgm:chPref val="3"/>
        </dgm:presLayoutVars>
      </dgm:prSet>
      <dgm:spPr/>
    </dgm:pt>
    <dgm:pt modelId="{6219DF30-2C71-43FC-98DA-DD56640852B3}" type="pres">
      <dgm:prSet presAssocID="{4E1F7BC0-05A5-49B3-A53B-AF59CEA532AD}" presName="rootConnector" presStyleLbl="node3" presStyleIdx="5" presStyleCnt="6"/>
      <dgm:spPr/>
    </dgm:pt>
    <dgm:pt modelId="{41209ABE-118D-41B4-9E58-9BA88EAE37B1}" type="pres">
      <dgm:prSet presAssocID="{4E1F7BC0-05A5-49B3-A53B-AF59CEA532AD}" presName="hierChild4" presStyleCnt="0"/>
      <dgm:spPr/>
    </dgm:pt>
    <dgm:pt modelId="{33029ABD-528C-48F8-9458-1065353EC423}" type="pres">
      <dgm:prSet presAssocID="{4E1F7BC0-05A5-49B3-A53B-AF59CEA532AD}" presName="hierChild5" presStyleCnt="0"/>
      <dgm:spPr/>
    </dgm:pt>
    <dgm:pt modelId="{0259C63D-A193-475E-820F-1029242C7084}" type="pres">
      <dgm:prSet presAssocID="{A0982D3D-E18E-4549-8FCA-9D8F7EEE3103}" presName="hierChild5" presStyleCnt="0"/>
      <dgm:spPr/>
    </dgm:pt>
    <dgm:pt modelId="{CE77D0E3-1C5C-4B79-AC1B-F9BD68D5688D}" type="pres">
      <dgm:prSet presAssocID="{EB4001FD-8785-4AAC-88FD-C6322C57711E}" presName="hierChild3" presStyleCnt="0"/>
      <dgm:spPr/>
    </dgm:pt>
  </dgm:ptLst>
  <dgm:cxnLst>
    <dgm:cxn modelId="{68AC2407-C619-4F07-AFF8-0B4644BF632B}" type="presOf" srcId="{602BAB65-DF04-4DA3-9FB8-FA886C026BCF}" destId="{433A6A41-F511-42F5-B7F4-998482BF0C96}" srcOrd="0" destOrd="0" presId="urn:microsoft.com/office/officeart/2009/3/layout/HorizontalOrganizationChart"/>
    <dgm:cxn modelId="{5173221C-9404-49BF-80D6-A1990609AA9C}" srcId="{EB4001FD-8785-4AAC-88FD-C6322C57711E}" destId="{24889E31-37A5-4E0E-8109-A7452B7FA8C4}" srcOrd="0" destOrd="0" parTransId="{D37F72B9-29C5-4920-ABAC-179E507E5C98}" sibTransId="{9EC10D99-BDCE-4BFB-AFD5-C5F3FD9B0FC6}"/>
    <dgm:cxn modelId="{55BA382B-DCF1-4A9C-BC5F-53AD2F68D5BC}" type="presOf" srcId="{24889E31-37A5-4E0E-8109-A7452B7FA8C4}" destId="{0E471146-9E7B-4A3D-9397-351C5F3B7AED}" srcOrd="0" destOrd="0" presId="urn:microsoft.com/office/officeart/2009/3/layout/HorizontalOrganizationChart"/>
    <dgm:cxn modelId="{0320222D-EF82-4F7E-B404-AD7CD6A3B718}" type="presOf" srcId="{A0982D3D-E18E-4549-8FCA-9D8F7EEE3103}" destId="{5C97BEC0-5A14-4161-B8A4-70A81C15040D}" srcOrd="0" destOrd="0" presId="urn:microsoft.com/office/officeart/2009/3/layout/HorizontalOrganizationChart"/>
    <dgm:cxn modelId="{9A72ED35-A912-4BFC-A100-D602A2985602}" srcId="{24889E31-37A5-4E0E-8109-A7452B7FA8C4}" destId="{3EAAB8C2-1894-4DC8-938F-CCAE0A4D65CD}" srcOrd="1" destOrd="0" parTransId="{E169C78A-AFF8-4E83-B333-B008BDCAB43C}" sibTransId="{4684106F-7E32-4DCB-8B15-55C06E32F938}"/>
    <dgm:cxn modelId="{D1B5645D-F7AB-485D-8273-55A586BDE705}" type="presOf" srcId="{6813D90C-C62E-4BFE-BD38-490286D8A688}" destId="{1CB7EF91-5382-4490-9EFC-8EDADE7289FA}" srcOrd="0" destOrd="0" presId="urn:microsoft.com/office/officeart/2009/3/layout/HorizontalOrganizationChart"/>
    <dgm:cxn modelId="{6250C069-3E2E-41B5-AB67-DDBF92AACED5}" srcId="{24889E31-37A5-4E0E-8109-A7452B7FA8C4}" destId="{8812086C-546D-42D0-8DC8-1B8EE2C0B221}" srcOrd="0" destOrd="0" parTransId="{602BAB65-DF04-4DA3-9FB8-FA886C026BCF}" sibTransId="{7695A652-5331-4819-97F4-E5DC6CB004DA}"/>
    <dgm:cxn modelId="{887C5D6A-3DE6-4BFE-8BE9-1D8D629C67D6}" type="presOf" srcId="{89B4137A-6AEC-4DF6-924D-D12C03D5AEC9}" destId="{375AFDE0-45B2-41AA-A6CE-4C09D5802FD4}" srcOrd="0" destOrd="0" presId="urn:microsoft.com/office/officeart/2009/3/layout/HorizontalOrganizationChart"/>
    <dgm:cxn modelId="{0CDC636E-058C-4193-B16F-F1F90B6435A0}" type="presOf" srcId="{A0982D3D-E18E-4549-8FCA-9D8F7EEE3103}" destId="{FBAE37FA-C0ED-4188-A3DD-96DC12844485}" srcOrd="1" destOrd="0" presId="urn:microsoft.com/office/officeart/2009/3/layout/HorizontalOrganizationChart"/>
    <dgm:cxn modelId="{30379F6F-015F-4F70-841F-6C3481B4F794}" type="presOf" srcId="{617C488F-B9A5-4855-82CC-9DF0896E96A4}" destId="{99EF69AE-1848-4A66-BD8D-52A8ECD91A1A}" srcOrd="0" destOrd="0" presId="urn:microsoft.com/office/officeart/2009/3/layout/HorizontalOrganizationChart"/>
    <dgm:cxn modelId="{3FF21652-6CD4-44F1-8749-83AF0083387C}" srcId="{24889E31-37A5-4E0E-8109-A7452B7FA8C4}" destId="{0C5299A7-E515-46BA-A880-179E5631624A}" srcOrd="2" destOrd="0" parTransId="{6813D90C-C62E-4BFE-BD38-490286D8A688}" sibTransId="{83225097-5EF5-4306-A6A9-B371447E7DC6}"/>
    <dgm:cxn modelId="{BEE8CB55-009D-4384-853D-722B06282DBE}" type="presOf" srcId="{2238DB4A-6D92-4DF6-B225-AFDCCBF07A7D}" destId="{FF7EEE2D-C7AA-4035-B283-3CACF433A46A}" srcOrd="0" destOrd="0" presId="urn:microsoft.com/office/officeart/2009/3/layout/HorizontalOrganizationChart"/>
    <dgm:cxn modelId="{FBA2177A-ACA9-44FC-ADA4-A8914397C323}" type="presOf" srcId="{4E1F7BC0-05A5-49B3-A53B-AF59CEA532AD}" destId="{1472F0EC-BC51-4141-886C-F2DAE7C203A1}" srcOrd="0" destOrd="0" presId="urn:microsoft.com/office/officeart/2009/3/layout/HorizontalOrganizationChart"/>
    <dgm:cxn modelId="{AF86118D-2BE2-46B4-B7E7-E2F7F08D8B92}" srcId="{A0982D3D-E18E-4549-8FCA-9D8F7EEE3103}" destId="{8BF683F3-2D7F-4E4E-BCB6-3C14BD2C15E8}" srcOrd="1" destOrd="0" parTransId="{A2A3CD26-9CBA-4ADC-A593-021650291CBB}" sibTransId="{0BB97E96-C61B-4F0A-B1FF-40189B82B20D}"/>
    <dgm:cxn modelId="{51807695-A1CF-42F7-8454-72B5C9EF7A88}" type="presOf" srcId="{2E7C11C5-12B7-48FA-8F62-48D25741CFCE}" destId="{B4F62606-A55A-41BA-83C2-E0CDD4FDA07F}" srcOrd="0" destOrd="0" presId="urn:microsoft.com/office/officeart/2009/3/layout/HorizontalOrganizationChart"/>
    <dgm:cxn modelId="{FACC4997-B178-4230-9CE2-7B120BEB6942}" type="presOf" srcId="{8BF683F3-2D7F-4E4E-BCB6-3C14BD2C15E8}" destId="{1ED85BC8-2E57-429C-BD19-6A2FD367385B}" srcOrd="0" destOrd="0" presId="urn:microsoft.com/office/officeart/2009/3/layout/HorizontalOrganizationChart"/>
    <dgm:cxn modelId="{7FBDD898-C9FC-4432-8F84-36D67FD30A81}" type="presOf" srcId="{3EAAB8C2-1894-4DC8-938F-CCAE0A4D65CD}" destId="{DAB1CE9F-64E4-4676-B469-0115E3A1E689}" srcOrd="0" destOrd="0" presId="urn:microsoft.com/office/officeart/2009/3/layout/HorizontalOrganizationChart"/>
    <dgm:cxn modelId="{7A507C9B-B25D-4AEF-8CF2-20D14A6DD177}" type="presOf" srcId="{A2A3CD26-9CBA-4ADC-A593-021650291CBB}" destId="{02334B29-8E7C-4CC9-A8E2-4CF919261A0E}" srcOrd="0" destOrd="0" presId="urn:microsoft.com/office/officeart/2009/3/layout/HorizontalOrganizationChart"/>
    <dgm:cxn modelId="{58AA14A7-AE53-405C-B704-62044C7D1B37}" type="presOf" srcId="{89B4137A-6AEC-4DF6-924D-D12C03D5AEC9}" destId="{8FC13982-2931-485B-BAF4-C474489E7484}" srcOrd="1" destOrd="0" presId="urn:microsoft.com/office/officeart/2009/3/layout/HorizontalOrganizationChart"/>
    <dgm:cxn modelId="{C68DD8A8-C78E-4357-AC5F-4D80720DFE40}" type="presOf" srcId="{8812086C-546D-42D0-8DC8-1B8EE2C0B221}" destId="{99CDE0FE-70BF-48FD-9C93-A142BD04822B}" srcOrd="1" destOrd="0" presId="urn:microsoft.com/office/officeart/2009/3/layout/HorizontalOrganizationChart"/>
    <dgm:cxn modelId="{C1E55CBC-DC57-4017-84A4-E8DC607219C5}" type="presOf" srcId="{8812086C-546D-42D0-8DC8-1B8EE2C0B221}" destId="{BCF85AD0-E216-4D58-B2F3-7762007E34B9}" srcOrd="0" destOrd="0" presId="urn:microsoft.com/office/officeart/2009/3/layout/HorizontalOrganizationChart"/>
    <dgm:cxn modelId="{0FB48BBC-955D-4B3B-B8BD-D68135BB73C8}" type="presOf" srcId="{EB4001FD-8785-4AAC-88FD-C6322C57711E}" destId="{649FC4D6-61C0-4E12-9CF5-4A6CCD1BF942}" srcOrd="0" destOrd="0" presId="urn:microsoft.com/office/officeart/2009/3/layout/HorizontalOrganizationChart"/>
    <dgm:cxn modelId="{D5C9C2BC-A8EE-4E31-9FBB-17A49643C063}" type="presOf" srcId="{D37F72B9-29C5-4920-ABAC-179E507E5C98}" destId="{065B1D4A-1F58-4D1D-9B98-24CF963B255F}" srcOrd="0" destOrd="0" presId="urn:microsoft.com/office/officeart/2009/3/layout/HorizontalOrganizationChart"/>
    <dgm:cxn modelId="{1604A6C8-2F6E-4880-990A-6C236A8CCF23}" srcId="{2238DB4A-6D92-4DF6-B225-AFDCCBF07A7D}" destId="{EB4001FD-8785-4AAC-88FD-C6322C57711E}" srcOrd="0" destOrd="0" parTransId="{6DE634F3-3460-4F4C-9AD7-521A8FB1B7B0}" sibTransId="{E81D8998-62A2-468D-BD23-16832D81E666}"/>
    <dgm:cxn modelId="{47708BC9-AF5E-48E8-AB0E-75DEBDE2C3B5}" type="presOf" srcId="{E169C78A-AFF8-4E83-B333-B008BDCAB43C}" destId="{6F7CE4F3-67A5-48F3-AE4B-F31A2D7AAC07}" srcOrd="0" destOrd="0" presId="urn:microsoft.com/office/officeart/2009/3/layout/HorizontalOrganizationChart"/>
    <dgm:cxn modelId="{9E1C89CB-25C8-423C-BF14-568B6B64094A}" srcId="{A0982D3D-E18E-4549-8FCA-9D8F7EEE3103}" destId="{4E1F7BC0-05A5-49B3-A53B-AF59CEA532AD}" srcOrd="2" destOrd="0" parTransId="{2E7C11C5-12B7-48FA-8F62-48D25741CFCE}" sibTransId="{BA966D9A-8357-4E87-B28F-ED5FF43BC360}"/>
    <dgm:cxn modelId="{8179BAD3-4A4C-49EF-A0D3-4F5BD1731B6F}" type="presOf" srcId="{24889E31-37A5-4E0E-8109-A7452B7FA8C4}" destId="{A5BC8686-69E4-4636-8B4D-4952AA669DEA}" srcOrd="1" destOrd="0" presId="urn:microsoft.com/office/officeart/2009/3/layout/HorizontalOrganizationChart"/>
    <dgm:cxn modelId="{46E3FBDE-F87A-4DD0-9961-AED6CEF57447}" type="presOf" srcId="{3EAAB8C2-1894-4DC8-938F-CCAE0A4D65CD}" destId="{DC8D064F-17EA-4632-8AF3-42DD6623A398}" srcOrd="1" destOrd="0" presId="urn:microsoft.com/office/officeart/2009/3/layout/HorizontalOrganizationChart"/>
    <dgm:cxn modelId="{665856DF-BC38-4930-B7B1-A741E8E70216}" type="presOf" srcId="{A53297A1-E9B0-46EC-AD8B-AE58EB13C936}" destId="{1161C0E0-A691-496D-AC1B-7D5E6FC1DBBD}" srcOrd="0" destOrd="0" presId="urn:microsoft.com/office/officeart/2009/3/layout/HorizontalOrganizationChart"/>
    <dgm:cxn modelId="{F530E0E1-88BE-4CD6-8BCC-DF3675D153C0}" srcId="{A0982D3D-E18E-4549-8FCA-9D8F7EEE3103}" destId="{89B4137A-6AEC-4DF6-924D-D12C03D5AEC9}" srcOrd="0" destOrd="0" parTransId="{A53297A1-E9B0-46EC-AD8B-AE58EB13C936}" sibTransId="{7C1ABC83-9835-4250-B61C-C427E40E63BC}"/>
    <dgm:cxn modelId="{F38A87EA-11ED-417E-B6BB-D5345220506B}" type="presOf" srcId="{4E1F7BC0-05A5-49B3-A53B-AF59CEA532AD}" destId="{6219DF30-2C71-43FC-98DA-DD56640852B3}" srcOrd="1" destOrd="0" presId="urn:microsoft.com/office/officeart/2009/3/layout/HorizontalOrganizationChart"/>
    <dgm:cxn modelId="{EDAFCCED-BAE0-47B8-A781-9D8D1F8B38F9}" srcId="{EB4001FD-8785-4AAC-88FD-C6322C57711E}" destId="{A0982D3D-E18E-4549-8FCA-9D8F7EEE3103}" srcOrd="1" destOrd="0" parTransId="{617C488F-B9A5-4855-82CC-9DF0896E96A4}" sibTransId="{49ABC071-1AD7-47DC-9160-231A60773001}"/>
    <dgm:cxn modelId="{D8780BEF-B090-4639-A8E6-EE71DDD32244}" type="presOf" srcId="{8BF683F3-2D7F-4E4E-BCB6-3C14BD2C15E8}" destId="{7FEDC6AB-D60F-4805-A178-72245FEAB4D3}" srcOrd="1" destOrd="0" presId="urn:microsoft.com/office/officeart/2009/3/layout/HorizontalOrganizationChart"/>
    <dgm:cxn modelId="{969B51F4-580A-4EC7-AC8E-1B65C3441BB8}" type="presOf" srcId="{0C5299A7-E515-46BA-A880-179E5631624A}" destId="{6147B712-C47A-4AAF-B32D-5039DF3803FA}" srcOrd="0" destOrd="0" presId="urn:microsoft.com/office/officeart/2009/3/layout/HorizontalOrganizationChart"/>
    <dgm:cxn modelId="{ACD24EF9-AA2E-4758-BD9C-6A68298289FE}" type="presOf" srcId="{0C5299A7-E515-46BA-A880-179E5631624A}" destId="{A783820B-E8AE-4C38-9D99-2BC294AB6C88}" srcOrd="1" destOrd="0" presId="urn:microsoft.com/office/officeart/2009/3/layout/HorizontalOrganizationChart"/>
    <dgm:cxn modelId="{73B608FE-376F-4D5F-B989-EB264806CD82}" type="presOf" srcId="{EB4001FD-8785-4AAC-88FD-C6322C57711E}" destId="{AE6AD1A6-4979-4923-937D-62867FBFB2C0}" srcOrd="1" destOrd="0" presId="urn:microsoft.com/office/officeart/2009/3/layout/HorizontalOrganizationChart"/>
    <dgm:cxn modelId="{137361F0-146A-40EB-B113-EF627EC7FCEC}" type="presParOf" srcId="{FF7EEE2D-C7AA-4035-B283-3CACF433A46A}" destId="{5CAC5776-33F4-44E9-AD77-45C74179CE17}" srcOrd="0" destOrd="0" presId="urn:microsoft.com/office/officeart/2009/3/layout/HorizontalOrganizationChart"/>
    <dgm:cxn modelId="{F95CEBE9-9245-4040-9F00-3DCE5A2C9FF1}" type="presParOf" srcId="{5CAC5776-33F4-44E9-AD77-45C74179CE17}" destId="{ABB56505-EBA7-4173-9493-6D7C28F225D0}" srcOrd="0" destOrd="0" presId="urn:microsoft.com/office/officeart/2009/3/layout/HorizontalOrganizationChart"/>
    <dgm:cxn modelId="{E110E260-32E6-4B20-A050-D58BE51385F5}" type="presParOf" srcId="{ABB56505-EBA7-4173-9493-6D7C28F225D0}" destId="{649FC4D6-61C0-4E12-9CF5-4A6CCD1BF942}" srcOrd="0" destOrd="0" presId="urn:microsoft.com/office/officeart/2009/3/layout/HorizontalOrganizationChart"/>
    <dgm:cxn modelId="{CC7D8095-80B5-4927-AB1A-FCE3B68675EE}" type="presParOf" srcId="{ABB56505-EBA7-4173-9493-6D7C28F225D0}" destId="{AE6AD1A6-4979-4923-937D-62867FBFB2C0}" srcOrd="1" destOrd="0" presId="urn:microsoft.com/office/officeart/2009/3/layout/HorizontalOrganizationChart"/>
    <dgm:cxn modelId="{6AE50BA3-271B-476A-BE86-CD0947C076EE}" type="presParOf" srcId="{5CAC5776-33F4-44E9-AD77-45C74179CE17}" destId="{A9367F72-C8BF-4A24-98A7-FF2FFF968394}" srcOrd="1" destOrd="0" presId="urn:microsoft.com/office/officeart/2009/3/layout/HorizontalOrganizationChart"/>
    <dgm:cxn modelId="{7F501406-30F7-4A3F-A235-86A5909BC2D4}" type="presParOf" srcId="{A9367F72-C8BF-4A24-98A7-FF2FFF968394}" destId="{065B1D4A-1F58-4D1D-9B98-24CF963B255F}" srcOrd="0" destOrd="0" presId="urn:microsoft.com/office/officeart/2009/3/layout/HorizontalOrganizationChart"/>
    <dgm:cxn modelId="{200394FA-1CD4-43C9-897E-030F8749C317}" type="presParOf" srcId="{A9367F72-C8BF-4A24-98A7-FF2FFF968394}" destId="{7798698E-4BE2-416A-B658-C620A28C14A2}" srcOrd="1" destOrd="0" presId="urn:microsoft.com/office/officeart/2009/3/layout/HorizontalOrganizationChart"/>
    <dgm:cxn modelId="{F861A4C3-11B2-4A59-87D6-42B56F4BB893}" type="presParOf" srcId="{7798698E-4BE2-416A-B658-C620A28C14A2}" destId="{7BA73B9D-45A5-4E51-9006-79F9BE31BF5B}" srcOrd="0" destOrd="0" presId="urn:microsoft.com/office/officeart/2009/3/layout/HorizontalOrganizationChart"/>
    <dgm:cxn modelId="{BA4C0AEE-168F-403F-BBE3-C261228EC73B}" type="presParOf" srcId="{7BA73B9D-45A5-4E51-9006-79F9BE31BF5B}" destId="{0E471146-9E7B-4A3D-9397-351C5F3B7AED}" srcOrd="0" destOrd="0" presId="urn:microsoft.com/office/officeart/2009/3/layout/HorizontalOrganizationChart"/>
    <dgm:cxn modelId="{4B6140DD-A570-4C31-9243-E826A5CF540F}" type="presParOf" srcId="{7BA73B9D-45A5-4E51-9006-79F9BE31BF5B}" destId="{A5BC8686-69E4-4636-8B4D-4952AA669DEA}" srcOrd="1" destOrd="0" presId="urn:microsoft.com/office/officeart/2009/3/layout/HorizontalOrganizationChart"/>
    <dgm:cxn modelId="{ECAE9ABF-6BAC-4B62-896E-D532CC6E49CC}" type="presParOf" srcId="{7798698E-4BE2-416A-B658-C620A28C14A2}" destId="{B7B8E358-AB36-4F61-8F33-B46558CAC9C1}" srcOrd="1" destOrd="0" presId="urn:microsoft.com/office/officeart/2009/3/layout/HorizontalOrganizationChart"/>
    <dgm:cxn modelId="{2876ECE5-14C7-4CC1-A767-E88769079102}" type="presParOf" srcId="{B7B8E358-AB36-4F61-8F33-B46558CAC9C1}" destId="{433A6A41-F511-42F5-B7F4-998482BF0C96}" srcOrd="0" destOrd="0" presId="urn:microsoft.com/office/officeart/2009/3/layout/HorizontalOrganizationChart"/>
    <dgm:cxn modelId="{0925B2EE-D8A5-43D1-B1E9-357D23AAEDF0}" type="presParOf" srcId="{B7B8E358-AB36-4F61-8F33-B46558CAC9C1}" destId="{2165C065-4FC7-482E-AF27-FF68769CA03C}" srcOrd="1" destOrd="0" presId="urn:microsoft.com/office/officeart/2009/3/layout/HorizontalOrganizationChart"/>
    <dgm:cxn modelId="{2DE1A257-0DE5-45AF-B517-99064D928DE0}" type="presParOf" srcId="{2165C065-4FC7-482E-AF27-FF68769CA03C}" destId="{CEB2AC86-FEA1-4721-B90A-C08C0B90E3B6}" srcOrd="0" destOrd="0" presId="urn:microsoft.com/office/officeart/2009/3/layout/HorizontalOrganizationChart"/>
    <dgm:cxn modelId="{C64E7E58-27A3-4F83-A77B-715C8A3D6E8E}" type="presParOf" srcId="{CEB2AC86-FEA1-4721-B90A-C08C0B90E3B6}" destId="{BCF85AD0-E216-4D58-B2F3-7762007E34B9}" srcOrd="0" destOrd="0" presId="urn:microsoft.com/office/officeart/2009/3/layout/HorizontalOrganizationChart"/>
    <dgm:cxn modelId="{7D668B42-CBF4-4F42-870F-579DD54457EB}" type="presParOf" srcId="{CEB2AC86-FEA1-4721-B90A-C08C0B90E3B6}" destId="{99CDE0FE-70BF-48FD-9C93-A142BD04822B}" srcOrd="1" destOrd="0" presId="urn:microsoft.com/office/officeart/2009/3/layout/HorizontalOrganizationChart"/>
    <dgm:cxn modelId="{4786D730-BAC9-45ED-8F44-8B5BB9F9FB51}" type="presParOf" srcId="{2165C065-4FC7-482E-AF27-FF68769CA03C}" destId="{C6F68566-9397-4E81-B742-142E6826558C}" srcOrd="1" destOrd="0" presId="urn:microsoft.com/office/officeart/2009/3/layout/HorizontalOrganizationChart"/>
    <dgm:cxn modelId="{0719CF80-4E24-4236-A61E-A181C557380D}" type="presParOf" srcId="{2165C065-4FC7-482E-AF27-FF68769CA03C}" destId="{B8D4916B-A796-437A-8C08-AC33FB83D913}" srcOrd="2" destOrd="0" presId="urn:microsoft.com/office/officeart/2009/3/layout/HorizontalOrganizationChart"/>
    <dgm:cxn modelId="{FB3969BC-58C0-44A0-BCFB-9D949510F775}" type="presParOf" srcId="{B7B8E358-AB36-4F61-8F33-B46558CAC9C1}" destId="{6F7CE4F3-67A5-48F3-AE4B-F31A2D7AAC07}" srcOrd="2" destOrd="0" presId="urn:microsoft.com/office/officeart/2009/3/layout/HorizontalOrganizationChart"/>
    <dgm:cxn modelId="{5FE60745-38EB-4AF0-9350-BAB6181F037B}" type="presParOf" srcId="{B7B8E358-AB36-4F61-8F33-B46558CAC9C1}" destId="{7647C10A-B272-4DC3-A683-16CC1E632E4C}" srcOrd="3" destOrd="0" presId="urn:microsoft.com/office/officeart/2009/3/layout/HorizontalOrganizationChart"/>
    <dgm:cxn modelId="{7E18C1B3-C530-47AA-8D7E-B1839D242F5E}" type="presParOf" srcId="{7647C10A-B272-4DC3-A683-16CC1E632E4C}" destId="{8C02A408-09A9-4DE6-A9BF-AC3EB8249125}" srcOrd="0" destOrd="0" presId="urn:microsoft.com/office/officeart/2009/3/layout/HorizontalOrganizationChart"/>
    <dgm:cxn modelId="{45D172A7-0A7F-4010-86E8-C104A5897407}" type="presParOf" srcId="{8C02A408-09A9-4DE6-A9BF-AC3EB8249125}" destId="{DAB1CE9F-64E4-4676-B469-0115E3A1E689}" srcOrd="0" destOrd="0" presId="urn:microsoft.com/office/officeart/2009/3/layout/HorizontalOrganizationChart"/>
    <dgm:cxn modelId="{F2523C65-327F-4F97-B2F3-C7F92F193AB4}" type="presParOf" srcId="{8C02A408-09A9-4DE6-A9BF-AC3EB8249125}" destId="{DC8D064F-17EA-4632-8AF3-42DD6623A398}" srcOrd="1" destOrd="0" presId="urn:microsoft.com/office/officeart/2009/3/layout/HorizontalOrganizationChart"/>
    <dgm:cxn modelId="{23F9BDD9-C874-4200-92E3-7D83ADDEF205}" type="presParOf" srcId="{7647C10A-B272-4DC3-A683-16CC1E632E4C}" destId="{DF272A88-1C6D-4803-9CCA-E0880F65755B}" srcOrd="1" destOrd="0" presId="urn:microsoft.com/office/officeart/2009/3/layout/HorizontalOrganizationChart"/>
    <dgm:cxn modelId="{B951D361-900A-4DBA-842F-79B545FFD47E}" type="presParOf" srcId="{7647C10A-B272-4DC3-A683-16CC1E632E4C}" destId="{C4B5B209-32D9-4E0F-ACF3-4416C00BD403}" srcOrd="2" destOrd="0" presId="urn:microsoft.com/office/officeart/2009/3/layout/HorizontalOrganizationChart"/>
    <dgm:cxn modelId="{E69DEFBA-D169-40BC-9674-9FB972C2C829}" type="presParOf" srcId="{B7B8E358-AB36-4F61-8F33-B46558CAC9C1}" destId="{1CB7EF91-5382-4490-9EFC-8EDADE7289FA}" srcOrd="4" destOrd="0" presId="urn:microsoft.com/office/officeart/2009/3/layout/HorizontalOrganizationChart"/>
    <dgm:cxn modelId="{AA715C0C-273D-49AA-A778-B28CF8E80925}" type="presParOf" srcId="{B7B8E358-AB36-4F61-8F33-B46558CAC9C1}" destId="{D4586165-9AFC-4CF2-AE72-FC11CB7DEDC1}" srcOrd="5" destOrd="0" presId="urn:microsoft.com/office/officeart/2009/3/layout/HorizontalOrganizationChart"/>
    <dgm:cxn modelId="{B2D340C6-27C8-4327-B9FF-185E476ADE40}" type="presParOf" srcId="{D4586165-9AFC-4CF2-AE72-FC11CB7DEDC1}" destId="{E3AFABD9-4648-4F4F-9CC6-F07C80322222}" srcOrd="0" destOrd="0" presId="urn:microsoft.com/office/officeart/2009/3/layout/HorizontalOrganizationChart"/>
    <dgm:cxn modelId="{F748FA37-2460-44C5-96A8-821B5CEBB147}" type="presParOf" srcId="{E3AFABD9-4648-4F4F-9CC6-F07C80322222}" destId="{6147B712-C47A-4AAF-B32D-5039DF3803FA}" srcOrd="0" destOrd="0" presId="urn:microsoft.com/office/officeart/2009/3/layout/HorizontalOrganizationChart"/>
    <dgm:cxn modelId="{454974D2-B4D3-43A4-AFDA-2C02306A8C87}" type="presParOf" srcId="{E3AFABD9-4648-4F4F-9CC6-F07C80322222}" destId="{A783820B-E8AE-4C38-9D99-2BC294AB6C88}" srcOrd="1" destOrd="0" presId="urn:microsoft.com/office/officeart/2009/3/layout/HorizontalOrganizationChart"/>
    <dgm:cxn modelId="{F09EB10F-47D5-4DE2-AC24-AD672B2483C3}" type="presParOf" srcId="{D4586165-9AFC-4CF2-AE72-FC11CB7DEDC1}" destId="{FD2E4BB4-AD3E-4490-A50A-EDFCE284D6DF}" srcOrd="1" destOrd="0" presId="urn:microsoft.com/office/officeart/2009/3/layout/HorizontalOrganizationChart"/>
    <dgm:cxn modelId="{C25153B2-AA92-4D64-8A50-1BC15217563E}" type="presParOf" srcId="{D4586165-9AFC-4CF2-AE72-FC11CB7DEDC1}" destId="{C50D9725-7C00-4604-B93E-6E52D8EE13C7}" srcOrd="2" destOrd="0" presId="urn:microsoft.com/office/officeart/2009/3/layout/HorizontalOrganizationChart"/>
    <dgm:cxn modelId="{EA858FCE-DEBF-4E8D-A725-07DC207DF1FA}" type="presParOf" srcId="{7798698E-4BE2-416A-B658-C620A28C14A2}" destId="{F7246652-2EE7-4FD3-8263-D2C133967774}" srcOrd="2" destOrd="0" presId="urn:microsoft.com/office/officeart/2009/3/layout/HorizontalOrganizationChart"/>
    <dgm:cxn modelId="{83F6E375-2119-443C-8CA6-B65686448245}" type="presParOf" srcId="{A9367F72-C8BF-4A24-98A7-FF2FFF968394}" destId="{99EF69AE-1848-4A66-BD8D-52A8ECD91A1A}" srcOrd="2" destOrd="0" presId="urn:microsoft.com/office/officeart/2009/3/layout/HorizontalOrganizationChart"/>
    <dgm:cxn modelId="{C1C1D7B7-A9FA-4F47-9505-50A98B614FAE}" type="presParOf" srcId="{A9367F72-C8BF-4A24-98A7-FF2FFF968394}" destId="{90F016A3-0241-4E5F-BFB3-2665EFEFE483}" srcOrd="3" destOrd="0" presId="urn:microsoft.com/office/officeart/2009/3/layout/HorizontalOrganizationChart"/>
    <dgm:cxn modelId="{3B71CF97-6A18-4339-9D2D-E5DA49760BC5}" type="presParOf" srcId="{90F016A3-0241-4E5F-BFB3-2665EFEFE483}" destId="{FCFA6E26-3C57-4030-BB48-016CE96E01BF}" srcOrd="0" destOrd="0" presId="urn:microsoft.com/office/officeart/2009/3/layout/HorizontalOrganizationChart"/>
    <dgm:cxn modelId="{2ABE4166-6AAC-4FB6-96F8-4F981259DE18}" type="presParOf" srcId="{FCFA6E26-3C57-4030-BB48-016CE96E01BF}" destId="{5C97BEC0-5A14-4161-B8A4-70A81C15040D}" srcOrd="0" destOrd="0" presId="urn:microsoft.com/office/officeart/2009/3/layout/HorizontalOrganizationChart"/>
    <dgm:cxn modelId="{3F548679-A341-4D0D-BC02-13938F06D15F}" type="presParOf" srcId="{FCFA6E26-3C57-4030-BB48-016CE96E01BF}" destId="{FBAE37FA-C0ED-4188-A3DD-96DC12844485}" srcOrd="1" destOrd="0" presId="urn:microsoft.com/office/officeart/2009/3/layout/HorizontalOrganizationChart"/>
    <dgm:cxn modelId="{B45A3A79-3E9A-4AB2-8D18-0977C1DE87BA}" type="presParOf" srcId="{90F016A3-0241-4E5F-BFB3-2665EFEFE483}" destId="{2D93B0E2-DDF4-476B-B49D-433412C37227}" srcOrd="1" destOrd="0" presId="urn:microsoft.com/office/officeart/2009/3/layout/HorizontalOrganizationChart"/>
    <dgm:cxn modelId="{E5B114F2-B788-45A0-8011-78D1AEF8B60A}" type="presParOf" srcId="{2D93B0E2-DDF4-476B-B49D-433412C37227}" destId="{1161C0E0-A691-496D-AC1B-7D5E6FC1DBBD}" srcOrd="0" destOrd="0" presId="urn:microsoft.com/office/officeart/2009/3/layout/HorizontalOrganizationChart"/>
    <dgm:cxn modelId="{A1F0D874-1FB0-4822-B806-DB9A76C1DA99}" type="presParOf" srcId="{2D93B0E2-DDF4-476B-B49D-433412C37227}" destId="{ADDEF0EB-4010-47BA-AE10-AA244F9BE78D}" srcOrd="1" destOrd="0" presId="urn:microsoft.com/office/officeart/2009/3/layout/HorizontalOrganizationChart"/>
    <dgm:cxn modelId="{38C120F2-3C09-4B86-A921-F7CA3B823369}" type="presParOf" srcId="{ADDEF0EB-4010-47BA-AE10-AA244F9BE78D}" destId="{1CA73224-4101-4998-B01C-6938D383E72E}" srcOrd="0" destOrd="0" presId="urn:microsoft.com/office/officeart/2009/3/layout/HorizontalOrganizationChart"/>
    <dgm:cxn modelId="{0C553B23-1E59-40E9-B95B-C443AA2E5D39}" type="presParOf" srcId="{1CA73224-4101-4998-B01C-6938D383E72E}" destId="{375AFDE0-45B2-41AA-A6CE-4C09D5802FD4}" srcOrd="0" destOrd="0" presId="urn:microsoft.com/office/officeart/2009/3/layout/HorizontalOrganizationChart"/>
    <dgm:cxn modelId="{15AC7407-F328-49C4-9407-263A6715D64D}" type="presParOf" srcId="{1CA73224-4101-4998-B01C-6938D383E72E}" destId="{8FC13982-2931-485B-BAF4-C474489E7484}" srcOrd="1" destOrd="0" presId="urn:microsoft.com/office/officeart/2009/3/layout/HorizontalOrganizationChart"/>
    <dgm:cxn modelId="{C8386880-B8BD-4063-97FD-82F578A8A2C1}" type="presParOf" srcId="{ADDEF0EB-4010-47BA-AE10-AA244F9BE78D}" destId="{641B64A6-AFDE-4D59-983F-75D228FA7F37}" srcOrd="1" destOrd="0" presId="urn:microsoft.com/office/officeart/2009/3/layout/HorizontalOrganizationChart"/>
    <dgm:cxn modelId="{CB52BAA3-72E4-4B8A-A889-706BB385AE5C}" type="presParOf" srcId="{ADDEF0EB-4010-47BA-AE10-AA244F9BE78D}" destId="{9A5CAC82-02BB-4518-9504-283AC6586F0C}" srcOrd="2" destOrd="0" presId="urn:microsoft.com/office/officeart/2009/3/layout/HorizontalOrganizationChart"/>
    <dgm:cxn modelId="{D0BE47C1-1650-41CF-8607-4863C48BB15A}" type="presParOf" srcId="{2D93B0E2-DDF4-476B-B49D-433412C37227}" destId="{02334B29-8E7C-4CC9-A8E2-4CF919261A0E}" srcOrd="2" destOrd="0" presId="urn:microsoft.com/office/officeart/2009/3/layout/HorizontalOrganizationChart"/>
    <dgm:cxn modelId="{3B6499DF-C7B5-4843-94F7-1D3A42BDE4AD}" type="presParOf" srcId="{2D93B0E2-DDF4-476B-B49D-433412C37227}" destId="{8A1F2D98-B8B7-4CB1-B561-1D92EAF2B29B}" srcOrd="3" destOrd="0" presId="urn:microsoft.com/office/officeart/2009/3/layout/HorizontalOrganizationChart"/>
    <dgm:cxn modelId="{DF0C9D56-D9F6-48D2-982A-F2C6FB7727E3}" type="presParOf" srcId="{8A1F2D98-B8B7-4CB1-B561-1D92EAF2B29B}" destId="{64FB837E-8BAE-4B8E-99D0-76B95E661EC0}" srcOrd="0" destOrd="0" presId="urn:microsoft.com/office/officeart/2009/3/layout/HorizontalOrganizationChart"/>
    <dgm:cxn modelId="{080B22E9-7A0B-4C7C-9CB1-8399E54EDF08}" type="presParOf" srcId="{64FB837E-8BAE-4B8E-99D0-76B95E661EC0}" destId="{1ED85BC8-2E57-429C-BD19-6A2FD367385B}" srcOrd="0" destOrd="0" presId="urn:microsoft.com/office/officeart/2009/3/layout/HorizontalOrganizationChart"/>
    <dgm:cxn modelId="{B515FDB2-B8AF-4219-80B4-385F37E24BD6}" type="presParOf" srcId="{64FB837E-8BAE-4B8E-99D0-76B95E661EC0}" destId="{7FEDC6AB-D60F-4805-A178-72245FEAB4D3}" srcOrd="1" destOrd="0" presId="urn:microsoft.com/office/officeart/2009/3/layout/HorizontalOrganizationChart"/>
    <dgm:cxn modelId="{3BEF98BC-0DCF-4634-8348-9152D7DC23B1}" type="presParOf" srcId="{8A1F2D98-B8B7-4CB1-B561-1D92EAF2B29B}" destId="{ABB02479-493F-4704-85A4-A407DDAD8730}" srcOrd="1" destOrd="0" presId="urn:microsoft.com/office/officeart/2009/3/layout/HorizontalOrganizationChart"/>
    <dgm:cxn modelId="{F634B7F5-50F9-494F-BE02-274062B6F1C1}" type="presParOf" srcId="{8A1F2D98-B8B7-4CB1-B561-1D92EAF2B29B}" destId="{BC41A353-251C-4B43-B040-06A0982C598E}" srcOrd="2" destOrd="0" presId="urn:microsoft.com/office/officeart/2009/3/layout/HorizontalOrganizationChart"/>
    <dgm:cxn modelId="{E21F8346-B7B2-4189-AEF2-1D1CD475F807}" type="presParOf" srcId="{2D93B0E2-DDF4-476B-B49D-433412C37227}" destId="{B4F62606-A55A-41BA-83C2-E0CDD4FDA07F}" srcOrd="4" destOrd="0" presId="urn:microsoft.com/office/officeart/2009/3/layout/HorizontalOrganizationChart"/>
    <dgm:cxn modelId="{24BE79E2-B482-4FC6-B97B-AC21C6363729}" type="presParOf" srcId="{2D93B0E2-DDF4-476B-B49D-433412C37227}" destId="{A914DC3D-30A0-4B3B-A777-769426876CAB}" srcOrd="5" destOrd="0" presId="urn:microsoft.com/office/officeart/2009/3/layout/HorizontalOrganizationChart"/>
    <dgm:cxn modelId="{8CDC9CAD-1BD7-423B-A479-6E710FEB1527}" type="presParOf" srcId="{A914DC3D-30A0-4B3B-A777-769426876CAB}" destId="{D1F53F9D-599B-45F3-B4ED-01CEC10472C4}" srcOrd="0" destOrd="0" presId="urn:microsoft.com/office/officeart/2009/3/layout/HorizontalOrganizationChart"/>
    <dgm:cxn modelId="{C7603A44-BD38-44C2-A7B9-0F3BB3A6087A}" type="presParOf" srcId="{D1F53F9D-599B-45F3-B4ED-01CEC10472C4}" destId="{1472F0EC-BC51-4141-886C-F2DAE7C203A1}" srcOrd="0" destOrd="0" presId="urn:microsoft.com/office/officeart/2009/3/layout/HorizontalOrganizationChart"/>
    <dgm:cxn modelId="{25E2F10C-3120-4026-B319-C5BE85355390}" type="presParOf" srcId="{D1F53F9D-599B-45F3-B4ED-01CEC10472C4}" destId="{6219DF30-2C71-43FC-98DA-DD56640852B3}" srcOrd="1" destOrd="0" presId="urn:microsoft.com/office/officeart/2009/3/layout/HorizontalOrganizationChart"/>
    <dgm:cxn modelId="{2EBF4A6C-EDF1-4AF6-9AA9-CC9FD37FB908}" type="presParOf" srcId="{A914DC3D-30A0-4B3B-A777-769426876CAB}" destId="{41209ABE-118D-41B4-9E58-9BA88EAE37B1}" srcOrd="1" destOrd="0" presId="urn:microsoft.com/office/officeart/2009/3/layout/HorizontalOrganizationChart"/>
    <dgm:cxn modelId="{396D928B-A423-4D06-A9ED-2F625FCBAF2E}" type="presParOf" srcId="{A914DC3D-30A0-4B3B-A777-769426876CAB}" destId="{33029ABD-528C-48F8-9458-1065353EC423}" srcOrd="2" destOrd="0" presId="urn:microsoft.com/office/officeart/2009/3/layout/HorizontalOrganizationChart"/>
    <dgm:cxn modelId="{68D24F2B-DA54-47F5-BF28-7EF3287C81A4}" type="presParOf" srcId="{90F016A3-0241-4E5F-BFB3-2665EFEFE483}" destId="{0259C63D-A193-475E-820F-1029242C7084}" srcOrd="2" destOrd="0" presId="urn:microsoft.com/office/officeart/2009/3/layout/HorizontalOrganizationChart"/>
    <dgm:cxn modelId="{865C2876-CC65-4934-A066-6D2B75E0E07A}" type="presParOf" srcId="{5CAC5776-33F4-44E9-AD77-45C74179CE17}" destId="{CE77D0E3-1C5C-4B79-AC1B-F9BD68D5688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232F49-D661-4740-9EFE-11F611B077F0}" type="doc">
      <dgm:prSet loTypeId="urn:microsoft.com/office/officeart/2005/8/layout/vList2" loCatId="list" qsTypeId="urn:microsoft.com/office/officeart/2005/8/quickstyle/simple1#1" qsCatId="simple" csTypeId="urn:microsoft.com/office/officeart/2005/8/colors/accent2_1#2" csCatId="accent2" phldr="1"/>
      <dgm:spPr/>
      <dgm:t>
        <a:bodyPr/>
        <a:lstStyle/>
        <a:p>
          <a:endParaRPr lang="zh-CN" altLang="en-US"/>
        </a:p>
      </dgm:t>
    </dgm:pt>
    <dgm:pt modelId="{D5236861-C298-4D1A-91B2-D86187D17067}">
      <dgm:prSet phldrT="[文本]" custT="1"/>
      <dgm:spPr/>
      <dgm:t>
        <a:bodyPr/>
        <a:lstStyle/>
        <a:p>
          <a:r>
            <a:rPr lang="en-US" altLang="zh-CN" sz="2000" b="1" dirty="0"/>
            <a:t>Regional coverage and channel capabilities</a:t>
          </a:r>
          <a:endParaRPr lang="zh-CN" altLang="en-US" sz="2000" b="1" dirty="0"/>
        </a:p>
      </dgm:t>
    </dgm:pt>
    <dgm:pt modelId="{2C618B8D-793E-4F90-BF98-449834A39FAF}" type="parTrans" cxnId="{294DD066-BF47-463E-A90E-B726361340FA}">
      <dgm:prSet/>
      <dgm:spPr/>
      <dgm:t>
        <a:bodyPr/>
        <a:lstStyle/>
        <a:p>
          <a:endParaRPr lang="zh-CN" altLang="en-US"/>
        </a:p>
      </dgm:t>
    </dgm:pt>
    <dgm:pt modelId="{77FE0B23-B331-4446-A92E-67C11A02E261}" type="sibTrans" cxnId="{294DD066-BF47-463E-A90E-B726361340FA}">
      <dgm:prSet/>
      <dgm:spPr/>
      <dgm:t>
        <a:bodyPr/>
        <a:lstStyle/>
        <a:p>
          <a:endParaRPr lang="zh-CN" altLang="en-US"/>
        </a:p>
      </dgm:t>
    </dgm:pt>
    <dgm:pt modelId="{6D137406-E609-4998-A88D-685DD3E86F83}">
      <dgm:prSet phldrT="[文本]" custT="1"/>
      <dgm:spPr/>
      <dgm:t>
        <a:bodyPr/>
        <a:lstStyle/>
        <a:p>
          <a:r>
            <a:rPr lang="en-US" altLang="zh-CN" sz="1800" dirty="0"/>
            <a:t>Yonghui has many stores, is close to communities, covers a wide audience, </a:t>
          </a:r>
          <a:r>
            <a:rPr lang="en-US" altLang="zh-CN" sz="1800" b="1" dirty="0">
              <a:solidFill>
                <a:srgbClr val="C00000"/>
              </a:solidFill>
            </a:rPr>
            <a:t>and has a stable customer base.</a:t>
          </a:r>
          <a:endParaRPr lang="zh-CN" altLang="en-US" sz="1800" b="1" dirty="0">
            <a:solidFill>
              <a:srgbClr val="C00000"/>
            </a:solidFill>
          </a:endParaRPr>
        </a:p>
      </dgm:t>
    </dgm:pt>
    <dgm:pt modelId="{C46F0B70-CB90-464D-AEB3-B0988DFA2409}" type="parTrans" cxnId="{09C5CFA1-99AA-4F31-82CA-8C49FAD240E6}">
      <dgm:prSet/>
      <dgm:spPr/>
      <dgm:t>
        <a:bodyPr/>
        <a:lstStyle/>
        <a:p>
          <a:endParaRPr lang="zh-CN" altLang="en-US"/>
        </a:p>
      </dgm:t>
    </dgm:pt>
    <dgm:pt modelId="{C833EC56-1F99-4746-B83A-2DDD7BC36F8E}" type="sibTrans" cxnId="{09C5CFA1-99AA-4F31-82CA-8C49FAD240E6}">
      <dgm:prSet/>
      <dgm:spPr/>
      <dgm:t>
        <a:bodyPr/>
        <a:lstStyle/>
        <a:p>
          <a:endParaRPr lang="zh-CN" altLang="en-US"/>
        </a:p>
      </dgm:t>
    </dgm:pt>
    <dgm:pt modelId="{BA548D99-C3CF-4548-BC7A-D71EE862E70A}">
      <dgm:prSet phldrT="[文本]" custT="1"/>
      <dgm:spPr/>
      <dgm:t>
        <a:bodyPr/>
        <a:lstStyle/>
        <a:p>
          <a:r>
            <a:rPr lang="en-US" altLang="zh-CN" sz="2000" b="1" dirty="0"/>
            <a:t>Digital infrastructure</a:t>
          </a:r>
          <a:endParaRPr lang="zh-CN" altLang="en-US" sz="2000" b="1" dirty="0"/>
        </a:p>
      </dgm:t>
    </dgm:pt>
    <dgm:pt modelId="{42CD7F9C-9AE5-4BAE-81EF-BE925C4A4942}" type="parTrans" cxnId="{79478A1A-B6FD-4380-A009-7D8AB106C613}">
      <dgm:prSet/>
      <dgm:spPr/>
      <dgm:t>
        <a:bodyPr/>
        <a:lstStyle/>
        <a:p>
          <a:endParaRPr lang="zh-CN" altLang="en-US"/>
        </a:p>
      </dgm:t>
    </dgm:pt>
    <dgm:pt modelId="{18964547-C8E4-4E86-B44A-D5E9C9240D09}" type="sibTrans" cxnId="{79478A1A-B6FD-4380-A009-7D8AB106C613}">
      <dgm:prSet/>
      <dgm:spPr/>
      <dgm:t>
        <a:bodyPr/>
        <a:lstStyle/>
        <a:p>
          <a:endParaRPr lang="zh-CN" altLang="en-US"/>
        </a:p>
      </dgm:t>
    </dgm:pt>
    <dgm:pt modelId="{3488C0E4-6B85-4AC7-889E-EC583E5650B2}">
      <dgm:prSet phldrT="[文本]" custT="1"/>
      <dgm:spPr/>
      <dgm:t>
        <a:bodyPr/>
        <a:lstStyle/>
        <a:p>
          <a:r>
            <a:rPr lang="en-US" altLang="zh-CN" sz="1800" dirty="0"/>
            <a:t>Yonghui has paid memberships, online mini-programs, and </a:t>
          </a:r>
          <a:r>
            <a:rPr lang="en-US" altLang="zh-CN" sz="1800" b="1" dirty="0">
              <a:solidFill>
                <a:srgbClr val="C00000"/>
              </a:solidFill>
            </a:rPr>
            <a:t>a digitalized fresh food supply chain</a:t>
          </a:r>
          <a:r>
            <a:rPr lang="en-US" altLang="zh-CN" sz="1800" dirty="0"/>
            <a:t>, while Pang </a:t>
          </a:r>
          <a:r>
            <a:rPr lang="en-US" altLang="zh-CN" sz="1800" dirty="0" err="1"/>
            <a:t>Donglai</a:t>
          </a:r>
          <a:r>
            <a:rPr lang="en-US" altLang="zh-CN" sz="1800" dirty="0"/>
            <a:t> focuses on offline manual processes.</a:t>
          </a:r>
          <a:endParaRPr lang="zh-CN" altLang="en-US" sz="1800" dirty="0"/>
        </a:p>
      </dgm:t>
    </dgm:pt>
    <dgm:pt modelId="{C846DB09-C409-4B0D-8AF6-0BD0B3462691}" type="parTrans" cxnId="{FA7297DD-31F5-4865-B1A3-384C8669594B}">
      <dgm:prSet/>
      <dgm:spPr/>
      <dgm:t>
        <a:bodyPr/>
        <a:lstStyle/>
        <a:p>
          <a:endParaRPr lang="zh-CN" altLang="en-US"/>
        </a:p>
      </dgm:t>
    </dgm:pt>
    <dgm:pt modelId="{B3D74DB6-CFBB-439C-AA26-2ABA23AF6EEF}" type="sibTrans" cxnId="{FA7297DD-31F5-4865-B1A3-384C8669594B}">
      <dgm:prSet/>
      <dgm:spPr/>
      <dgm:t>
        <a:bodyPr/>
        <a:lstStyle/>
        <a:p>
          <a:endParaRPr lang="zh-CN" altLang="en-US"/>
        </a:p>
      </dgm:t>
    </dgm:pt>
    <dgm:pt modelId="{0B070860-D175-4D85-837D-A9965753AAF2}">
      <dgm:prSet phldrT="[文本]" custT="1"/>
      <dgm:spPr/>
      <dgm:t>
        <a:bodyPr/>
        <a:lstStyle/>
        <a:p>
          <a:r>
            <a:rPr lang="en-US" altLang="zh-CN" sz="2000" b="1" dirty="0"/>
            <a:t>Fresh produce serves as a core competitive entry point</a:t>
          </a:r>
          <a:endParaRPr lang="zh-CN" altLang="en-US" sz="2000" b="1" dirty="0"/>
        </a:p>
      </dgm:t>
    </dgm:pt>
    <dgm:pt modelId="{604FABC8-31C7-4524-836E-DFD69B8DD668}" type="parTrans" cxnId="{EE2AB137-867A-49FC-B3C5-AC29C4AE1CA9}">
      <dgm:prSet/>
      <dgm:spPr/>
      <dgm:t>
        <a:bodyPr/>
        <a:lstStyle/>
        <a:p>
          <a:endParaRPr lang="zh-CN" altLang="en-US"/>
        </a:p>
      </dgm:t>
    </dgm:pt>
    <dgm:pt modelId="{DE009675-4DD8-4A50-93E6-E7D2695AAB02}" type="sibTrans" cxnId="{EE2AB137-867A-49FC-B3C5-AC29C4AE1CA9}">
      <dgm:prSet/>
      <dgm:spPr/>
      <dgm:t>
        <a:bodyPr/>
        <a:lstStyle/>
        <a:p>
          <a:endParaRPr lang="zh-CN" altLang="en-US"/>
        </a:p>
      </dgm:t>
    </dgm:pt>
    <dgm:pt modelId="{688EC019-6917-48E0-8561-5B927313BA8B}">
      <dgm:prSet phldrT="[文本]" custT="1"/>
      <dgm:spPr/>
      <dgm:t>
        <a:bodyPr/>
        <a:lstStyle/>
        <a:p>
          <a:r>
            <a:rPr lang="en-US" altLang="zh-CN" sz="1800" dirty="0"/>
            <a:t>Yonghui can attract essential consumer traffic by "replacing traditional wet markets," meeting the </a:t>
          </a:r>
          <a:r>
            <a:rPr lang="en-US" altLang="zh-CN" sz="1800" b="1" dirty="0">
              <a:solidFill>
                <a:srgbClr val="C00000"/>
              </a:solidFill>
            </a:rPr>
            <a:t>daily needs of residents of all ages.</a:t>
          </a:r>
          <a:endParaRPr lang="zh-CN" altLang="en-US" sz="1800" b="1" dirty="0">
            <a:solidFill>
              <a:srgbClr val="C00000"/>
            </a:solidFill>
          </a:endParaRPr>
        </a:p>
      </dgm:t>
    </dgm:pt>
    <dgm:pt modelId="{57CCDFA3-5793-45DB-9715-7156AD1BB72A}" type="parTrans" cxnId="{CAFAE738-CC5F-44F7-B328-0CD4DF420AE0}">
      <dgm:prSet/>
      <dgm:spPr/>
      <dgm:t>
        <a:bodyPr/>
        <a:lstStyle/>
        <a:p>
          <a:endParaRPr lang="zh-CN" altLang="en-US"/>
        </a:p>
      </dgm:t>
    </dgm:pt>
    <dgm:pt modelId="{EF7CA6EA-1303-4C5E-9C02-3969D342C360}" type="sibTrans" cxnId="{CAFAE738-CC5F-44F7-B328-0CD4DF420AE0}">
      <dgm:prSet/>
      <dgm:spPr/>
      <dgm:t>
        <a:bodyPr/>
        <a:lstStyle/>
        <a:p>
          <a:endParaRPr lang="zh-CN" altLang="en-US"/>
        </a:p>
      </dgm:t>
    </dgm:pt>
    <dgm:pt modelId="{C182AF76-E71B-4057-8569-3B9245D48BE9}" type="pres">
      <dgm:prSet presAssocID="{84232F49-D661-4740-9EFE-11F611B077F0}" presName="linear" presStyleCnt="0">
        <dgm:presLayoutVars>
          <dgm:animLvl val="lvl"/>
          <dgm:resizeHandles val="exact"/>
        </dgm:presLayoutVars>
      </dgm:prSet>
      <dgm:spPr/>
    </dgm:pt>
    <dgm:pt modelId="{BCE69880-5DFC-433B-9E77-56EDCA6A6700}" type="pres">
      <dgm:prSet presAssocID="{D5236861-C298-4D1A-91B2-D86187D170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A0CEB90-30C9-4B07-B720-AB1CB29710F0}" type="pres">
      <dgm:prSet presAssocID="{D5236861-C298-4D1A-91B2-D86187D17067}" presName="childText" presStyleLbl="revTx" presStyleIdx="0" presStyleCnt="3">
        <dgm:presLayoutVars>
          <dgm:bulletEnabled val="1"/>
        </dgm:presLayoutVars>
      </dgm:prSet>
      <dgm:spPr/>
    </dgm:pt>
    <dgm:pt modelId="{12AE364D-5CBE-47D5-B2CA-3F2FFE699543}" type="pres">
      <dgm:prSet presAssocID="{BA548D99-C3CF-4548-BC7A-D71EE862E7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3C54AAA-CAAE-4C6B-ABAE-E0C1272260CA}" type="pres">
      <dgm:prSet presAssocID="{BA548D99-C3CF-4548-BC7A-D71EE862E70A}" presName="childText" presStyleLbl="revTx" presStyleIdx="1" presStyleCnt="3">
        <dgm:presLayoutVars>
          <dgm:bulletEnabled val="1"/>
        </dgm:presLayoutVars>
      </dgm:prSet>
      <dgm:spPr/>
    </dgm:pt>
    <dgm:pt modelId="{F37E3BD7-C235-42B2-B3D8-E98037E22419}" type="pres">
      <dgm:prSet presAssocID="{0B070860-D175-4D85-837D-A9965753AAF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E070A51-1E83-4141-B091-5A0ED89689EB}" type="pres">
      <dgm:prSet presAssocID="{0B070860-D175-4D85-837D-A9965753AAF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C926705-230A-43ED-9E0B-028E29FE321B}" type="presOf" srcId="{84232F49-D661-4740-9EFE-11F611B077F0}" destId="{C182AF76-E71B-4057-8569-3B9245D48BE9}" srcOrd="0" destOrd="0" presId="urn:microsoft.com/office/officeart/2005/8/layout/vList2"/>
    <dgm:cxn modelId="{79478A1A-B6FD-4380-A009-7D8AB106C613}" srcId="{84232F49-D661-4740-9EFE-11F611B077F0}" destId="{BA548D99-C3CF-4548-BC7A-D71EE862E70A}" srcOrd="1" destOrd="0" parTransId="{42CD7F9C-9AE5-4BAE-81EF-BE925C4A4942}" sibTransId="{18964547-C8E4-4E86-B44A-D5E9C9240D09}"/>
    <dgm:cxn modelId="{A5CBAB1F-E98E-49E9-AC5F-024C4D2B542F}" type="presOf" srcId="{3488C0E4-6B85-4AC7-889E-EC583E5650B2}" destId="{33C54AAA-CAAE-4C6B-ABAE-E0C1272260CA}" srcOrd="0" destOrd="0" presId="urn:microsoft.com/office/officeart/2005/8/layout/vList2"/>
    <dgm:cxn modelId="{EE2AB137-867A-49FC-B3C5-AC29C4AE1CA9}" srcId="{84232F49-D661-4740-9EFE-11F611B077F0}" destId="{0B070860-D175-4D85-837D-A9965753AAF2}" srcOrd="2" destOrd="0" parTransId="{604FABC8-31C7-4524-836E-DFD69B8DD668}" sibTransId="{DE009675-4DD8-4A50-93E6-E7D2695AAB02}"/>
    <dgm:cxn modelId="{CAFAE738-CC5F-44F7-B328-0CD4DF420AE0}" srcId="{0B070860-D175-4D85-837D-A9965753AAF2}" destId="{688EC019-6917-48E0-8561-5B927313BA8B}" srcOrd="0" destOrd="0" parTransId="{57CCDFA3-5793-45DB-9715-7156AD1BB72A}" sibTransId="{EF7CA6EA-1303-4C5E-9C02-3969D342C360}"/>
    <dgm:cxn modelId="{294DD066-BF47-463E-A90E-B726361340FA}" srcId="{84232F49-D661-4740-9EFE-11F611B077F0}" destId="{D5236861-C298-4D1A-91B2-D86187D17067}" srcOrd="0" destOrd="0" parTransId="{2C618B8D-793E-4F90-BF98-449834A39FAF}" sibTransId="{77FE0B23-B331-4446-A92E-67C11A02E261}"/>
    <dgm:cxn modelId="{5D2DA875-C2EF-45DC-B6D2-E4AFD71C08F1}" type="presOf" srcId="{688EC019-6917-48E0-8561-5B927313BA8B}" destId="{5E070A51-1E83-4141-B091-5A0ED89689EB}" srcOrd="0" destOrd="0" presId="urn:microsoft.com/office/officeart/2005/8/layout/vList2"/>
    <dgm:cxn modelId="{10824D9B-9406-4878-973C-FD7936A600C7}" type="presOf" srcId="{D5236861-C298-4D1A-91B2-D86187D17067}" destId="{BCE69880-5DFC-433B-9E77-56EDCA6A6700}" srcOrd="0" destOrd="0" presId="urn:microsoft.com/office/officeart/2005/8/layout/vList2"/>
    <dgm:cxn modelId="{09C5CFA1-99AA-4F31-82CA-8C49FAD240E6}" srcId="{D5236861-C298-4D1A-91B2-D86187D17067}" destId="{6D137406-E609-4998-A88D-685DD3E86F83}" srcOrd="0" destOrd="0" parTransId="{C46F0B70-CB90-464D-AEB3-B0988DFA2409}" sibTransId="{C833EC56-1F99-4746-B83A-2DDD7BC36F8E}"/>
    <dgm:cxn modelId="{8CD34DC2-8217-4F77-9C4B-0D9E72F62C6E}" type="presOf" srcId="{BA548D99-C3CF-4548-BC7A-D71EE862E70A}" destId="{12AE364D-5CBE-47D5-B2CA-3F2FFE699543}" srcOrd="0" destOrd="0" presId="urn:microsoft.com/office/officeart/2005/8/layout/vList2"/>
    <dgm:cxn modelId="{F24F6EC9-0A0C-4024-A4F8-135F33259137}" type="presOf" srcId="{6D137406-E609-4998-A88D-685DD3E86F83}" destId="{2A0CEB90-30C9-4B07-B720-AB1CB29710F0}" srcOrd="0" destOrd="0" presId="urn:microsoft.com/office/officeart/2005/8/layout/vList2"/>
    <dgm:cxn modelId="{FA7297DD-31F5-4865-B1A3-384C8669594B}" srcId="{BA548D99-C3CF-4548-BC7A-D71EE862E70A}" destId="{3488C0E4-6B85-4AC7-889E-EC583E5650B2}" srcOrd="0" destOrd="0" parTransId="{C846DB09-C409-4B0D-8AF6-0BD0B3462691}" sibTransId="{B3D74DB6-CFBB-439C-AA26-2ABA23AF6EEF}"/>
    <dgm:cxn modelId="{D6A891EA-E840-42B2-A58A-38A08CE99B1A}" type="presOf" srcId="{0B070860-D175-4D85-837D-A9965753AAF2}" destId="{F37E3BD7-C235-42B2-B3D8-E98037E22419}" srcOrd="0" destOrd="0" presId="urn:microsoft.com/office/officeart/2005/8/layout/vList2"/>
    <dgm:cxn modelId="{5D4C9D80-DF40-47F1-A6FC-740302F5F754}" type="presParOf" srcId="{C182AF76-E71B-4057-8569-3B9245D48BE9}" destId="{BCE69880-5DFC-433B-9E77-56EDCA6A6700}" srcOrd="0" destOrd="0" presId="urn:microsoft.com/office/officeart/2005/8/layout/vList2"/>
    <dgm:cxn modelId="{18DEDDD1-DB41-44D5-B9A8-699DF60E3A3E}" type="presParOf" srcId="{C182AF76-E71B-4057-8569-3B9245D48BE9}" destId="{2A0CEB90-30C9-4B07-B720-AB1CB29710F0}" srcOrd="1" destOrd="0" presId="urn:microsoft.com/office/officeart/2005/8/layout/vList2"/>
    <dgm:cxn modelId="{824848F7-5C60-443D-9F75-931F3B8AABB4}" type="presParOf" srcId="{C182AF76-E71B-4057-8569-3B9245D48BE9}" destId="{12AE364D-5CBE-47D5-B2CA-3F2FFE699543}" srcOrd="2" destOrd="0" presId="urn:microsoft.com/office/officeart/2005/8/layout/vList2"/>
    <dgm:cxn modelId="{0FB03021-40D8-4995-93DD-8D47ECA4E94B}" type="presParOf" srcId="{C182AF76-E71B-4057-8569-3B9245D48BE9}" destId="{33C54AAA-CAAE-4C6B-ABAE-E0C1272260CA}" srcOrd="3" destOrd="0" presId="urn:microsoft.com/office/officeart/2005/8/layout/vList2"/>
    <dgm:cxn modelId="{D84589E5-9610-48F2-8686-36511D5E8F3E}" type="presParOf" srcId="{C182AF76-E71B-4057-8569-3B9245D48BE9}" destId="{F37E3BD7-C235-42B2-B3D8-E98037E22419}" srcOrd="4" destOrd="0" presId="urn:microsoft.com/office/officeart/2005/8/layout/vList2"/>
    <dgm:cxn modelId="{38AE0049-367A-4084-9A14-B39A890D8CB1}" type="presParOf" srcId="{C182AF76-E71B-4057-8569-3B9245D48BE9}" destId="{5E070A51-1E83-4141-B091-5A0ED89689E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62606-A55A-41BA-83C2-E0CDD4FDA07F}">
      <dsp:nvSpPr>
        <dsp:cNvPr id="0" name=""/>
        <dsp:cNvSpPr/>
      </dsp:nvSpPr>
      <dsp:spPr>
        <a:xfrm>
          <a:off x="4941114" y="3479910"/>
          <a:ext cx="211507" cy="554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753" y="0"/>
              </a:lnTo>
              <a:lnTo>
                <a:pt x="105753" y="554819"/>
              </a:lnTo>
              <a:lnTo>
                <a:pt x="211507" y="5548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334B29-8E7C-4CC9-A8E2-4CF919261A0E}">
      <dsp:nvSpPr>
        <dsp:cNvPr id="0" name=""/>
        <dsp:cNvSpPr/>
      </dsp:nvSpPr>
      <dsp:spPr>
        <a:xfrm>
          <a:off x="4941114" y="3396309"/>
          <a:ext cx="211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83601"/>
              </a:moveTo>
              <a:lnTo>
                <a:pt x="105753" y="83601"/>
              </a:lnTo>
              <a:lnTo>
                <a:pt x="105753" y="45720"/>
              </a:lnTo>
              <a:lnTo>
                <a:pt x="211507" y="4572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61C0E0-A691-496D-AC1B-7D5E6FC1DBBD}">
      <dsp:nvSpPr>
        <dsp:cNvPr id="0" name=""/>
        <dsp:cNvSpPr/>
      </dsp:nvSpPr>
      <dsp:spPr>
        <a:xfrm>
          <a:off x="4941114" y="2887209"/>
          <a:ext cx="211507" cy="592700"/>
        </a:xfrm>
        <a:custGeom>
          <a:avLst/>
          <a:gdLst/>
          <a:ahLst/>
          <a:cxnLst/>
          <a:rect l="0" t="0" r="0" b="0"/>
          <a:pathLst>
            <a:path>
              <a:moveTo>
                <a:pt x="0" y="592700"/>
              </a:moveTo>
              <a:lnTo>
                <a:pt x="105753" y="592700"/>
              </a:lnTo>
              <a:lnTo>
                <a:pt x="105753" y="0"/>
              </a:lnTo>
              <a:lnTo>
                <a:pt x="211507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F69AE-1848-4A66-BD8D-52A8ECD91A1A}">
      <dsp:nvSpPr>
        <dsp:cNvPr id="0" name=""/>
        <dsp:cNvSpPr/>
      </dsp:nvSpPr>
      <dsp:spPr>
        <a:xfrm>
          <a:off x="1986900" y="2665645"/>
          <a:ext cx="211507" cy="814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753" y="0"/>
              </a:lnTo>
              <a:lnTo>
                <a:pt x="105753" y="814265"/>
              </a:lnTo>
              <a:lnTo>
                <a:pt x="211507" y="814265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B7EF91-5382-4490-9EFC-8EDADE7289FA}">
      <dsp:nvSpPr>
        <dsp:cNvPr id="0" name=""/>
        <dsp:cNvSpPr/>
      </dsp:nvSpPr>
      <dsp:spPr>
        <a:xfrm>
          <a:off x="5646323" y="1851153"/>
          <a:ext cx="211507" cy="5106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5753" y="0"/>
              </a:lnTo>
              <a:lnTo>
                <a:pt x="105753" y="510642"/>
              </a:lnTo>
              <a:lnTo>
                <a:pt x="211507" y="51064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7CE4F3-67A5-48F3-AE4B-F31A2D7AAC07}">
      <dsp:nvSpPr>
        <dsp:cNvPr id="0" name=""/>
        <dsp:cNvSpPr/>
      </dsp:nvSpPr>
      <dsp:spPr>
        <a:xfrm>
          <a:off x="5646323" y="1801904"/>
          <a:ext cx="2115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9248"/>
              </a:moveTo>
              <a:lnTo>
                <a:pt x="105753" y="49248"/>
              </a:lnTo>
              <a:lnTo>
                <a:pt x="105753" y="45720"/>
              </a:lnTo>
              <a:lnTo>
                <a:pt x="211507" y="4572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3A6A41-F511-42F5-B7F4-998482BF0C96}">
      <dsp:nvSpPr>
        <dsp:cNvPr id="0" name=""/>
        <dsp:cNvSpPr/>
      </dsp:nvSpPr>
      <dsp:spPr>
        <a:xfrm>
          <a:off x="5646323" y="1336981"/>
          <a:ext cx="211507" cy="514171"/>
        </a:xfrm>
        <a:custGeom>
          <a:avLst/>
          <a:gdLst/>
          <a:ahLst/>
          <a:cxnLst/>
          <a:rect l="0" t="0" r="0" b="0"/>
          <a:pathLst>
            <a:path>
              <a:moveTo>
                <a:pt x="0" y="514171"/>
              </a:moveTo>
              <a:lnTo>
                <a:pt x="105753" y="514171"/>
              </a:lnTo>
              <a:lnTo>
                <a:pt x="105753" y="0"/>
              </a:lnTo>
              <a:lnTo>
                <a:pt x="211507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5B1D4A-1F58-4D1D-9B98-24CF963B255F}">
      <dsp:nvSpPr>
        <dsp:cNvPr id="0" name=""/>
        <dsp:cNvSpPr/>
      </dsp:nvSpPr>
      <dsp:spPr>
        <a:xfrm>
          <a:off x="1986900" y="1851153"/>
          <a:ext cx="211507" cy="814492"/>
        </a:xfrm>
        <a:custGeom>
          <a:avLst/>
          <a:gdLst/>
          <a:ahLst/>
          <a:cxnLst/>
          <a:rect l="0" t="0" r="0" b="0"/>
          <a:pathLst>
            <a:path>
              <a:moveTo>
                <a:pt x="0" y="814492"/>
              </a:moveTo>
              <a:lnTo>
                <a:pt x="105753" y="814492"/>
              </a:lnTo>
              <a:lnTo>
                <a:pt x="105753" y="0"/>
              </a:lnTo>
              <a:lnTo>
                <a:pt x="211507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9FC4D6-61C0-4E12-9CF5-4A6CCD1BF942}">
      <dsp:nvSpPr>
        <dsp:cNvPr id="0" name=""/>
        <dsp:cNvSpPr/>
      </dsp:nvSpPr>
      <dsp:spPr>
        <a:xfrm>
          <a:off x="2333" y="2452466"/>
          <a:ext cx="1984566" cy="4263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Operation Focus</a:t>
          </a:r>
          <a:endParaRPr lang="zh-CN" altLang="en-US" sz="1800" kern="1200" dirty="0"/>
        </a:p>
      </dsp:txBody>
      <dsp:txXfrm>
        <a:off x="2333" y="2452466"/>
        <a:ext cx="1984566" cy="426358"/>
      </dsp:txXfrm>
    </dsp:sp>
    <dsp:sp modelId="{0E471146-9E7B-4A3D-9397-351C5F3B7AED}">
      <dsp:nvSpPr>
        <dsp:cNvPr id="0" name=""/>
        <dsp:cNvSpPr/>
      </dsp:nvSpPr>
      <dsp:spPr>
        <a:xfrm>
          <a:off x="2198408" y="1645618"/>
          <a:ext cx="3447915" cy="41106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Boutique Community Store</a:t>
          </a:r>
          <a:endParaRPr lang="zh-CN" altLang="en-US" sz="1800" kern="1200" dirty="0"/>
        </a:p>
      </dsp:txBody>
      <dsp:txXfrm>
        <a:off x="2198408" y="1645618"/>
        <a:ext cx="3447915" cy="411069"/>
      </dsp:txXfrm>
    </dsp:sp>
    <dsp:sp modelId="{BCF85AD0-E216-4D58-B2F3-7762007E34B9}">
      <dsp:nvSpPr>
        <dsp:cNvPr id="0" name=""/>
        <dsp:cNvSpPr/>
      </dsp:nvSpPr>
      <dsp:spPr>
        <a:xfrm>
          <a:off x="5857831" y="1142234"/>
          <a:ext cx="2290333" cy="38949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Experience Space</a:t>
          </a:r>
          <a:endParaRPr lang="zh-CN" altLang="en-US" sz="1800" kern="1200" dirty="0"/>
        </a:p>
      </dsp:txBody>
      <dsp:txXfrm>
        <a:off x="5857831" y="1142234"/>
        <a:ext cx="2290333" cy="389494"/>
      </dsp:txXfrm>
    </dsp:sp>
    <dsp:sp modelId="{DAB1CE9F-64E4-4676-B469-0115E3A1E689}">
      <dsp:nvSpPr>
        <dsp:cNvPr id="0" name=""/>
        <dsp:cNvSpPr/>
      </dsp:nvSpPr>
      <dsp:spPr>
        <a:xfrm>
          <a:off x="5857831" y="1663921"/>
          <a:ext cx="2482540" cy="3674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Self-Created Design</a:t>
          </a:r>
          <a:endParaRPr lang="zh-CN" altLang="en-US" sz="1800" kern="1200" dirty="0"/>
        </a:p>
      </dsp:txBody>
      <dsp:txXfrm>
        <a:off x="5857831" y="1663921"/>
        <a:ext cx="2482540" cy="367406"/>
      </dsp:txXfrm>
    </dsp:sp>
    <dsp:sp modelId="{6147B712-C47A-4AAF-B32D-5039DF3803FA}">
      <dsp:nvSpPr>
        <dsp:cNvPr id="0" name=""/>
        <dsp:cNvSpPr/>
      </dsp:nvSpPr>
      <dsp:spPr>
        <a:xfrm>
          <a:off x="5857831" y="2163520"/>
          <a:ext cx="3380750" cy="3965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Strategies for Residents' Stay Time</a:t>
          </a:r>
          <a:endParaRPr lang="zh-CN" altLang="en-US" sz="1800" kern="1200" dirty="0"/>
        </a:p>
      </dsp:txBody>
      <dsp:txXfrm>
        <a:off x="5857831" y="2163520"/>
        <a:ext cx="3380750" cy="396551"/>
      </dsp:txXfrm>
    </dsp:sp>
    <dsp:sp modelId="{5C97BEC0-5A14-4161-B8A4-70A81C15040D}">
      <dsp:nvSpPr>
        <dsp:cNvPr id="0" name=""/>
        <dsp:cNvSpPr/>
      </dsp:nvSpPr>
      <dsp:spPr>
        <a:xfrm>
          <a:off x="2198408" y="3274148"/>
          <a:ext cx="2742706" cy="4115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Traditional Hypermarket</a:t>
          </a:r>
          <a:endParaRPr lang="zh-CN" altLang="en-US" sz="1800" kern="1200" dirty="0"/>
        </a:p>
      </dsp:txBody>
      <dsp:txXfrm>
        <a:off x="2198408" y="3274148"/>
        <a:ext cx="2742706" cy="411524"/>
      </dsp:txXfrm>
    </dsp:sp>
    <dsp:sp modelId="{375AFDE0-45B2-41AA-A6CE-4C09D5802FD4}">
      <dsp:nvSpPr>
        <dsp:cNvPr id="0" name=""/>
        <dsp:cNvSpPr/>
      </dsp:nvSpPr>
      <dsp:spPr>
        <a:xfrm>
          <a:off x="5152622" y="2692264"/>
          <a:ext cx="1057337" cy="3898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Scale</a:t>
          </a:r>
          <a:endParaRPr lang="zh-CN" altLang="en-US" sz="1800" kern="1200" dirty="0"/>
        </a:p>
      </dsp:txBody>
      <dsp:txXfrm>
        <a:off x="5152622" y="2692264"/>
        <a:ext cx="1057337" cy="389891"/>
      </dsp:txXfrm>
    </dsp:sp>
    <dsp:sp modelId="{1ED85BC8-2E57-429C-BD19-6A2FD367385B}">
      <dsp:nvSpPr>
        <dsp:cNvPr id="0" name=""/>
        <dsp:cNvSpPr/>
      </dsp:nvSpPr>
      <dsp:spPr>
        <a:xfrm>
          <a:off x="5152622" y="3214347"/>
          <a:ext cx="3507338" cy="45536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Comprehensive Product Range</a:t>
          </a:r>
          <a:endParaRPr lang="zh-CN" altLang="en-US" sz="1800" kern="1200" dirty="0"/>
        </a:p>
      </dsp:txBody>
      <dsp:txXfrm>
        <a:off x="5152622" y="3214347"/>
        <a:ext cx="3507338" cy="455362"/>
      </dsp:txXfrm>
    </dsp:sp>
    <dsp:sp modelId="{1472F0EC-BC51-4141-886C-F2DAE7C203A1}">
      <dsp:nvSpPr>
        <dsp:cNvPr id="0" name=""/>
        <dsp:cNvSpPr/>
      </dsp:nvSpPr>
      <dsp:spPr>
        <a:xfrm>
          <a:off x="5152622" y="3801902"/>
          <a:ext cx="2664130" cy="46565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/>
            <a:t>Efficiency, and Coverage</a:t>
          </a:r>
          <a:endParaRPr lang="zh-CN" altLang="en-US" sz="1800" kern="1200" dirty="0"/>
        </a:p>
      </dsp:txBody>
      <dsp:txXfrm>
        <a:off x="5152622" y="3801902"/>
        <a:ext cx="2664130" cy="465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69880-5DFC-433B-9E77-56EDCA6A6700}">
      <dsp:nvSpPr>
        <dsp:cNvPr id="0" name=""/>
        <dsp:cNvSpPr/>
      </dsp:nvSpPr>
      <dsp:spPr>
        <a:xfrm>
          <a:off x="0" y="42327"/>
          <a:ext cx="8445259" cy="804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Regional coverage and channel capabilities</a:t>
          </a:r>
          <a:endParaRPr lang="zh-CN" altLang="en-US" sz="2000" b="1" kern="1200" dirty="0"/>
        </a:p>
      </dsp:txBody>
      <dsp:txXfrm>
        <a:off x="39295" y="81622"/>
        <a:ext cx="8366669" cy="726370"/>
      </dsp:txXfrm>
    </dsp:sp>
    <dsp:sp modelId="{2A0CEB90-30C9-4B07-B720-AB1CB29710F0}">
      <dsp:nvSpPr>
        <dsp:cNvPr id="0" name=""/>
        <dsp:cNvSpPr/>
      </dsp:nvSpPr>
      <dsp:spPr>
        <a:xfrm>
          <a:off x="0" y="847287"/>
          <a:ext cx="8445259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13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 kern="1200" dirty="0"/>
            <a:t>Yonghui has many stores, is close to communities, covers a wide audience, </a:t>
          </a:r>
          <a:r>
            <a:rPr lang="en-US" altLang="zh-CN" sz="1800" b="1" kern="1200" dirty="0">
              <a:solidFill>
                <a:srgbClr val="C00000"/>
              </a:solidFill>
            </a:rPr>
            <a:t>and has a stable customer base.</a:t>
          </a:r>
          <a:endParaRPr lang="zh-CN" altLang="en-US" sz="1800" b="1" kern="1200" dirty="0">
            <a:solidFill>
              <a:srgbClr val="C00000"/>
            </a:solidFill>
          </a:endParaRPr>
        </a:p>
      </dsp:txBody>
      <dsp:txXfrm>
        <a:off x="0" y="847287"/>
        <a:ext cx="8445259" cy="712080"/>
      </dsp:txXfrm>
    </dsp:sp>
    <dsp:sp modelId="{12AE364D-5CBE-47D5-B2CA-3F2FFE699543}">
      <dsp:nvSpPr>
        <dsp:cNvPr id="0" name=""/>
        <dsp:cNvSpPr/>
      </dsp:nvSpPr>
      <dsp:spPr>
        <a:xfrm>
          <a:off x="0" y="1559367"/>
          <a:ext cx="8445259" cy="804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Digital infrastructure</a:t>
          </a:r>
          <a:endParaRPr lang="zh-CN" altLang="en-US" sz="2000" b="1" kern="1200" dirty="0"/>
        </a:p>
      </dsp:txBody>
      <dsp:txXfrm>
        <a:off x="39295" y="1598662"/>
        <a:ext cx="8366669" cy="726370"/>
      </dsp:txXfrm>
    </dsp:sp>
    <dsp:sp modelId="{33C54AAA-CAAE-4C6B-ABAE-E0C1272260CA}">
      <dsp:nvSpPr>
        <dsp:cNvPr id="0" name=""/>
        <dsp:cNvSpPr/>
      </dsp:nvSpPr>
      <dsp:spPr>
        <a:xfrm>
          <a:off x="0" y="2364326"/>
          <a:ext cx="8445259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13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 kern="1200" dirty="0"/>
            <a:t>Yonghui has paid memberships, online mini-programs, and </a:t>
          </a:r>
          <a:r>
            <a:rPr lang="en-US" altLang="zh-CN" sz="1800" b="1" kern="1200" dirty="0">
              <a:solidFill>
                <a:srgbClr val="C00000"/>
              </a:solidFill>
            </a:rPr>
            <a:t>a digitalized fresh food supply chain</a:t>
          </a:r>
          <a:r>
            <a:rPr lang="en-US" altLang="zh-CN" sz="1800" kern="1200" dirty="0"/>
            <a:t>, while Pang </a:t>
          </a:r>
          <a:r>
            <a:rPr lang="en-US" altLang="zh-CN" sz="1800" kern="1200" dirty="0" err="1"/>
            <a:t>Donglai</a:t>
          </a:r>
          <a:r>
            <a:rPr lang="en-US" altLang="zh-CN" sz="1800" kern="1200" dirty="0"/>
            <a:t> focuses on offline manual processes.</a:t>
          </a:r>
          <a:endParaRPr lang="zh-CN" altLang="en-US" sz="1800" kern="1200" dirty="0"/>
        </a:p>
      </dsp:txBody>
      <dsp:txXfrm>
        <a:off x="0" y="2364326"/>
        <a:ext cx="8445259" cy="712080"/>
      </dsp:txXfrm>
    </dsp:sp>
    <dsp:sp modelId="{F37E3BD7-C235-42B2-B3D8-E98037E22419}">
      <dsp:nvSpPr>
        <dsp:cNvPr id="0" name=""/>
        <dsp:cNvSpPr/>
      </dsp:nvSpPr>
      <dsp:spPr>
        <a:xfrm>
          <a:off x="0" y="3076406"/>
          <a:ext cx="8445259" cy="8049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Fresh produce serves as a core competitive entry point</a:t>
          </a:r>
          <a:endParaRPr lang="zh-CN" altLang="en-US" sz="2000" b="1" kern="1200" dirty="0"/>
        </a:p>
      </dsp:txBody>
      <dsp:txXfrm>
        <a:off x="39295" y="3115701"/>
        <a:ext cx="8366669" cy="726370"/>
      </dsp:txXfrm>
    </dsp:sp>
    <dsp:sp modelId="{5E070A51-1E83-4141-B091-5A0ED89689EB}">
      <dsp:nvSpPr>
        <dsp:cNvPr id="0" name=""/>
        <dsp:cNvSpPr/>
      </dsp:nvSpPr>
      <dsp:spPr>
        <a:xfrm>
          <a:off x="0" y="3881367"/>
          <a:ext cx="8445259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13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800" kern="1200" dirty="0"/>
            <a:t>Yonghui can attract essential consumer traffic by "replacing traditional wet markets," meeting the </a:t>
          </a:r>
          <a:r>
            <a:rPr lang="en-US" altLang="zh-CN" sz="1800" b="1" kern="1200" dirty="0">
              <a:solidFill>
                <a:srgbClr val="C00000"/>
              </a:solidFill>
            </a:rPr>
            <a:t>daily needs of residents of all ages.</a:t>
          </a:r>
          <a:endParaRPr lang="zh-CN" altLang="en-US" sz="1800" b="1" kern="1200" dirty="0">
            <a:solidFill>
              <a:srgbClr val="C00000"/>
            </a:solidFill>
          </a:endParaRPr>
        </a:p>
      </dsp:txBody>
      <dsp:txXfrm>
        <a:off x="0" y="3881367"/>
        <a:ext cx="8445259" cy="712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890C2-0845-7C58-E15A-2F2E50BC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51F56A-4650-3953-C57D-9FF8EC7BB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67C291-26D1-45E6-27FF-5C3C1BDAC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0A91D-8DD2-4B32-26B4-89E435811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746F1-0C75-3B44-879A-5305FA7DC38E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06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746F1-0C75-3B44-879A-5305FA7DC38E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4939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746F1-0C75-3B44-879A-5305FA7DC38E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97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145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169604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819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58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956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369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59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714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754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101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8708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86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image" Target="../media/image5.png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3.png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image" Target="../media/image8.png"/><Relationship Id="rId2" Type="http://schemas.openxmlformats.org/officeDocument/2006/relationships/tags" Target="../tags/tag23.xml"/><Relationship Id="rId16" Type="http://schemas.openxmlformats.org/officeDocument/2006/relationships/image" Target="../media/image3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image" Target="../media/image7.svg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image" Target="../media/image9.png"/><Relationship Id="rId3" Type="http://schemas.openxmlformats.org/officeDocument/2006/relationships/tags" Target="../tags/tag36.xml"/><Relationship Id="rId21" Type="http://schemas.openxmlformats.org/officeDocument/2006/relationships/image" Target="../media/image12.png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3.png"/><Relationship Id="rId2" Type="http://schemas.openxmlformats.org/officeDocument/2006/relationships/tags" Target="../tags/tag35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1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image" Target="../media/image14.png"/><Relationship Id="rId10" Type="http://schemas.openxmlformats.org/officeDocument/2006/relationships/tags" Target="../tags/tag43.xml"/><Relationship Id="rId19" Type="http://schemas.openxmlformats.org/officeDocument/2006/relationships/image" Target="../media/image10.pn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6" Type="http://schemas.openxmlformats.org/officeDocument/2006/relationships/image" Target="../media/image3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chart" Target="../charts/chart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3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slideLayout" Target="../slideLayouts/slideLayout13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image" Target="../media/image16.png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image" Target="../media/image15.svg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image" Target="../media/image3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slideLayout" Target="../slideLayouts/slideLayout13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image" Target="../media/image19.png"/><Relationship Id="rId2" Type="http://schemas.openxmlformats.org/officeDocument/2006/relationships/tags" Target="../tags/tag96.xml"/><Relationship Id="rId16" Type="http://schemas.openxmlformats.org/officeDocument/2006/relationships/image" Target="../media/image18.png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image" Target="../media/image15.svg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22.png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image" Target="../media/image21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image" Target="../media/image20.png"/><Relationship Id="rId5" Type="http://schemas.openxmlformats.org/officeDocument/2006/relationships/tags" Target="../tags/tag111.xml"/><Relationship Id="rId10" Type="http://schemas.openxmlformats.org/officeDocument/2006/relationships/image" Target="../media/image3.png"/><Relationship Id="rId4" Type="http://schemas.openxmlformats.org/officeDocument/2006/relationships/tags" Target="../tags/tag110.xml"/><Relationship Id="rId9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23.png"/><Relationship Id="rId5" Type="http://schemas.openxmlformats.org/officeDocument/2006/relationships/tags" Target="../tags/tag118.xml"/><Relationship Id="rId10" Type="http://schemas.openxmlformats.org/officeDocument/2006/relationships/image" Target="../media/image3.png"/><Relationship Id="rId4" Type="http://schemas.openxmlformats.org/officeDocument/2006/relationships/tags" Target="../tags/tag117.xml"/><Relationship Id="rId9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image" Target="../media/image25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image" Target="../media/image24.png"/><Relationship Id="rId5" Type="http://schemas.openxmlformats.org/officeDocument/2006/relationships/tags" Target="../tags/tag126.xml"/><Relationship Id="rId10" Type="http://schemas.openxmlformats.org/officeDocument/2006/relationships/image" Target="../media/image3.png"/><Relationship Id="rId4" Type="http://schemas.openxmlformats.org/officeDocument/2006/relationships/tags" Target="../tags/tag125.xml"/><Relationship Id="rId9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tags" Target="../tags/tag131.xml"/><Relationship Id="rId21" Type="http://schemas.openxmlformats.org/officeDocument/2006/relationships/image" Target="../media/image38.png"/><Relationship Id="rId7" Type="http://schemas.openxmlformats.org/officeDocument/2006/relationships/tags" Target="../tags/tag135.xml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tags" Target="../tags/tag130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image" Target="../media/image28.png"/><Relationship Id="rId5" Type="http://schemas.openxmlformats.org/officeDocument/2006/relationships/tags" Target="../tags/tag133.xml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tags" Target="../tags/tag132.xml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image" Target="../media/image37.png"/><Relationship Id="rId18" Type="http://schemas.openxmlformats.org/officeDocument/2006/relationships/image" Target="../media/image45.png"/><Relationship Id="rId3" Type="http://schemas.openxmlformats.org/officeDocument/2006/relationships/tags" Target="../tags/tag138.xml"/><Relationship Id="rId21" Type="http://schemas.openxmlformats.org/officeDocument/2006/relationships/image" Target="../media/image48.png"/><Relationship Id="rId7" Type="http://schemas.openxmlformats.org/officeDocument/2006/relationships/tags" Target="../tags/tag142.xml"/><Relationship Id="rId12" Type="http://schemas.openxmlformats.org/officeDocument/2006/relationships/notesSlide" Target="../notesSlides/notesSlide4.xml"/><Relationship Id="rId17" Type="http://schemas.openxmlformats.org/officeDocument/2006/relationships/image" Target="../media/image44.png"/><Relationship Id="rId2" Type="http://schemas.openxmlformats.org/officeDocument/2006/relationships/tags" Target="../tags/tag137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140.xml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tags" Target="../tags/tag145.xml"/><Relationship Id="rId19" Type="http://schemas.openxmlformats.org/officeDocument/2006/relationships/image" Target="../media/image46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image" Target="../media/image51.png"/><Relationship Id="rId5" Type="http://schemas.openxmlformats.org/officeDocument/2006/relationships/tags" Target="../tags/tag150.xml"/><Relationship Id="rId10" Type="http://schemas.openxmlformats.org/officeDocument/2006/relationships/image" Target="../media/image37.png"/><Relationship Id="rId4" Type="http://schemas.openxmlformats.org/officeDocument/2006/relationships/tags" Target="../tags/tag149.xml"/><Relationship Id="rId9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image" Target="../media/image52.png"/><Relationship Id="rId5" Type="http://schemas.openxmlformats.org/officeDocument/2006/relationships/tags" Target="../tags/tag158.xml"/><Relationship Id="rId10" Type="http://schemas.openxmlformats.org/officeDocument/2006/relationships/image" Target="../media/image37.png"/><Relationship Id="rId4" Type="http://schemas.openxmlformats.org/officeDocument/2006/relationships/tags" Target="../tags/tag157.xml"/><Relationship Id="rId9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image" Target="../media/image53.png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image" Target="../media/image15.svg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image" Target="../media/image3.png"/><Relationship Id="rId5" Type="http://schemas.openxmlformats.org/officeDocument/2006/relationships/tags" Target="../tags/tag166.xml"/><Relationship Id="rId10" Type="http://schemas.openxmlformats.org/officeDocument/2006/relationships/image" Target="../media/image37.png"/><Relationship Id="rId4" Type="http://schemas.openxmlformats.org/officeDocument/2006/relationships/tags" Target="../tags/tag165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diagramColors" Target="../diagrams/colors1.xml"/><Relationship Id="rId18" Type="http://schemas.openxmlformats.org/officeDocument/2006/relationships/image" Target="../media/image55.png"/><Relationship Id="rId3" Type="http://schemas.openxmlformats.org/officeDocument/2006/relationships/tags" Target="../tags/tag172.xml"/><Relationship Id="rId7" Type="http://schemas.openxmlformats.org/officeDocument/2006/relationships/tags" Target="../tags/tag176.xml"/><Relationship Id="rId12" Type="http://schemas.openxmlformats.org/officeDocument/2006/relationships/diagramQuickStyle" Target="../diagrams/quickStyle1.xml"/><Relationship Id="rId17" Type="http://schemas.openxmlformats.org/officeDocument/2006/relationships/image" Target="../media/image15.svg"/><Relationship Id="rId2" Type="http://schemas.openxmlformats.org/officeDocument/2006/relationships/tags" Target="../tags/tag171.xml"/><Relationship Id="rId16" Type="http://schemas.openxmlformats.org/officeDocument/2006/relationships/image" Target="../media/image3.png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diagramLayout" Target="../diagrams/layout1.xml"/><Relationship Id="rId5" Type="http://schemas.openxmlformats.org/officeDocument/2006/relationships/tags" Target="../tags/tag174.xml"/><Relationship Id="rId15" Type="http://schemas.openxmlformats.org/officeDocument/2006/relationships/image" Target="../media/image37.png"/><Relationship Id="rId10" Type="http://schemas.openxmlformats.org/officeDocument/2006/relationships/diagramData" Target="../diagrams/data1.xml"/><Relationship Id="rId4" Type="http://schemas.openxmlformats.org/officeDocument/2006/relationships/tags" Target="../tags/tag173.xml"/><Relationship Id="rId9" Type="http://schemas.openxmlformats.org/officeDocument/2006/relationships/slideLayout" Target="../slideLayouts/slideLayout1.xml"/><Relationship Id="rId14" Type="http://schemas.microsoft.com/office/2007/relationships/diagramDrawing" Target="../diagrams/drawing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57.svg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tags" Target="../tags/tag189.xml"/><Relationship Id="rId17" Type="http://schemas.openxmlformats.org/officeDocument/2006/relationships/image" Target="../media/image56.png"/><Relationship Id="rId2" Type="http://schemas.openxmlformats.org/officeDocument/2006/relationships/tags" Target="../tags/tag179.xml"/><Relationship Id="rId16" Type="http://schemas.openxmlformats.org/officeDocument/2006/relationships/image" Target="../media/image15.svg"/><Relationship Id="rId20" Type="http://schemas.openxmlformats.org/officeDocument/2006/relationships/image" Target="../media/image59.png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5" Type="http://schemas.openxmlformats.org/officeDocument/2006/relationships/image" Target="../media/image3.png"/><Relationship Id="rId10" Type="http://schemas.openxmlformats.org/officeDocument/2006/relationships/tags" Target="../tags/tag187.xml"/><Relationship Id="rId19" Type="http://schemas.openxmlformats.org/officeDocument/2006/relationships/image" Target="../media/image58.svg"/><Relationship Id="rId4" Type="http://schemas.openxmlformats.org/officeDocument/2006/relationships/tags" Target="../tags/tag181.xml"/><Relationship Id="rId9" Type="http://schemas.openxmlformats.org/officeDocument/2006/relationships/tags" Target="../tags/tag186.xml"/><Relationship Id="rId1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image" Target="../media/image15.svg"/><Relationship Id="rId3" Type="http://schemas.openxmlformats.org/officeDocument/2006/relationships/tags" Target="../tags/tag192.xml"/><Relationship Id="rId7" Type="http://schemas.openxmlformats.org/officeDocument/2006/relationships/tags" Target="../tags/tag196.xml"/><Relationship Id="rId12" Type="http://schemas.openxmlformats.org/officeDocument/2006/relationships/image" Target="../media/image3.png"/><Relationship Id="rId2" Type="http://schemas.openxmlformats.org/officeDocument/2006/relationships/tags" Target="../tags/tag191.xml"/><Relationship Id="rId16" Type="http://schemas.openxmlformats.org/officeDocument/2006/relationships/image" Target="../media/image61.png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image" Target="../media/image37.png"/><Relationship Id="rId5" Type="http://schemas.openxmlformats.org/officeDocument/2006/relationships/tags" Target="../tags/tag194.xml"/><Relationship Id="rId15" Type="http://schemas.openxmlformats.org/officeDocument/2006/relationships/image" Target="../media/image60.png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image" Target="../media/image15.svg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image" Target="../media/image3.png"/><Relationship Id="rId5" Type="http://schemas.openxmlformats.org/officeDocument/2006/relationships/tags" Target="../tags/tag203.xml"/><Relationship Id="rId10" Type="http://schemas.openxmlformats.org/officeDocument/2006/relationships/image" Target="../media/image37.png"/><Relationship Id="rId4" Type="http://schemas.openxmlformats.org/officeDocument/2006/relationships/tags" Target="../tags/tag202.xml"/><Relationship Id="rId9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diagramData" Target="../diagrams/data2.xml"/><Relationship Id="rId18" Type="http://schemas.openxmlformats.org/officeDocument/2006/relationships/image" Target="../media/image62.png"/><Relationship Id="rId3" Type="http://schemas.openxmlformats.org/officeDocument/2006/relationships/tags" Target="../tags/tag209.xml"/><Relationship Id="rId7" Type="http://schemas.openxmlformats.org/officeDocument/2006/relationships/tags" Target="../tags/tag213.xml"/><Relationship Id="rId12" Type="http://schemas.openxmlformats.org/officeDocument/2006/relationships/image" Target="../media/image15.svg"/><Relationship Id="rId17" Type="http://schemas.microsoft.com/office/2007/relationships/diagramDrawing" Target="../diagrams/drawing2.xml"/><Relationship Id="rId2" Type="http://schemas.openxmlformats.org/officeDocument/2006/relationships/tags" Target="../tags/tag208.xml"/><Relationship Id="rId16" Type="http://schemas.openxmlformats.org/officeDocument/2006/relationships/diagramColors" Target="../diagrams/colors2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image" Target="../media/image3.png"/><Relationship Id="rId5" Type="http://schemas.openxmlformats.org/officeDocument/2006/relationships/tags" Target="../tags/tag211.xml"/><Relationship Id="rId15" Type="http://schemas.openxmlformats.org/officeDocument/2006/relationships/diagramQuickStyle" Target="../diagrams/quickStyle2.xml"/><Relationship Id="rId10" Type="http://schemas.openxmlformats.org/officeDocument/2006/relationships/image" Target="../media/image37.png"/><Relationship Id="rId4" Type="http://schemas.openxmlformats.org/officeDocument/2006/relationships/tags" Target="../tags/tag210.xml"/><Relationship Id="rId9" Type="http://schemas.openxmlformats.org/officeDocument/2006/relationships/slideLayout" Target="../slideLayouts/slideLayout1.xml"/><Relationship Id="rId1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3" Type="http://schemas.openxmlformats.org/officeDocument/2006/relationships/tags" Target="../tags/tag217.xml"/><Relationship Id="rId21" Type="http://schemas.openxmlformats.org/officeDocument/2006/relationships/image" Target="../media/image15.svg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0" Type="http://schemas.openxmlformats.org/officeDocument/2006/relationships/image" Target="../media/image3.png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10" Type="http://schemas.openxmlformats.org/officeDocument/2006/relationships/tags" Target="../tags/tag224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image" Target="../media/image3.png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20" Type="http://schemas.openxmlformats.org/officeDocument/2006/relationships/image" Target="../media/image63.png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10" Type="http://schemas.openxmlformats.org/officeDocument/2006/relationships/tags" Target="../tags/tag242.xml"/><Relationship Id="rId19" Type="http://schemas.openxmlformats.org/officeDocument/2006/relationships/image" Target="../media/image15.svg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56.xml"/><Relationship Id="rId13" Type="http://schemas.openxmlformats.org/officeDocument/2006/relationships/image" Target="../media/image3.png"/><Relationship Id="rId3" Type="http://schemas.openxmlformats.org/officeDocument/2006/relationships/tags" Target="../tags/tag251.xml"/><Relationship Id="rId7" Type="http://schemas.openxmlformats.org/officeDocument/2006/relationships/tags" Target="../tags/tag255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tags" Target="../tags/tag254.xml"/><Relationship Id="rId11" Type="http://schemas.openxmlformats.org/officeDocument/2006/relationships/tags" Target="../tags/tag259.xml"/><Relationship Id="rId5" Type="http://schemas.openxmlformats.org/officeDocument/2006/relationships/tags" Target="../tags/tag253.xml"/><Relationship Id="rId10" Type="http://schemas.openxmlformats.org/officeDocument/2006/relationships/tags" Target="../tags/tag258.xml"/><Relationship Id="rId4" Type="http://schemas.openxmlformats.org/officeDocument/2006/relationships/tags" Target="../tags/tag252.xml"/><Relationship Id="rId9" Type="http://schemas.openxmlformats.org/officeDocument/2006/relationships/tags" Target="../tags/tag257.xml"/><Relationship Id="rId14" Type="http://schemas.openxmlformats.org/officeDocument/2006/relationships/image" Target="../media/image1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13" Type="http://schemas.openxmlformats.org/officeDocument/2006/relationships/image" Target="../media/image3.png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tags" Target="../tags/tag270.xml"/><Relationship Id="rId5" Type="http://schemas.openxmlformats.org/officeDocument/2006/relationships/tags" Target="../tags/tag264.xml"/><Relationship Id="rId15" Type="http://schemas.openxmlformats.org/officeDocument/2006/relationships/chart" Target="../charts/chart3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image" Target="../media/image3.png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tags" Target="../tags/tag281.xml"/><Relationship Id="rId5" Type="http://schemas.openxmlformats.org/officeDocument/2006/relationships/tags" Target="../tags/tag275.xml"/><Relationship Id="rId15" Type="http://schemas.openxmlformats.org/officeDocument/2006/relationships/chart" Target="../charts/chart4.xml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4" Type="http://schemas.openxmlformats.org/officeDocument/2006/relationships/image" Target="../media/image15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18" Type="http://schemas.openxmlformats.org/officeDocument/2006/relationships/image" Target="../media/image3.png"/><Relationship Id="rId3" Type="http://schemas.openxmlformats.org/officeDocument/2006/relationships/tags" Target="../tags/tag284.xml"/><Relationship Id="rId21" Type="http://schemas.microsoft.com/office/2007/relationships/hdphoto" Target="../media/hdphoto1.wdp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83.xml"/><Relationship Id="rId16" Type="http://schemas.openxmlformats.org/officeDocument/2006/relationships/tags" Target="../tags/tag297.xml"/><Relationship Id="rId20" Type="http://schemas.openxmlformats.org/officeDocument/2006/relationships/image" Target="../media/image65.png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5" Type="http://schemas.openxmlformats.org/officeDocument/2006/relationships/tags" Target="../tags/tag286.xml"/><Relationship Id="rId15" Type="http://schemas.openxmlformats.org/officeDocument/2006/relationships/tags" Target="../tags/tag296.xml"/><Relationship Id="rId10" Type="http://schemas.openxmlformats.org/officeDocument/2006/relationships/tags" Target="../tags/tag291.xml"/><Relationship Id="rId19" Type="http://schemas.openxmlformats.org/officeDocument/2006/relationships/image" Target="../media/image15.svg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05.xml"/><Relationship Id="rId13" Type="http://schemas.openxmlformats.org/officeDocument/2006/relationships/image" Target="../media/image66.png"/><Relationship Id="rId3" Type="http://schemas.openxmlformats.org/officeDocument/2006/relationships/tags" Target="../tags/tag300.xml"/><Relationship Id="rId7" Type="http://schemas.openxmlformats.org/officeDocument/2006/relationships/tags" Target="../tags/tag304.xml"/><Relationship Id="rId12" Type="http://schemas.openxmlformats.org/officeDocument/2006/relationships/image" Target="../media/image3.png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tags" Target="../tags/tag303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02.xml"/><Relationship Id="rId10" Type="http://schemas.openxmlformats.org/officeDocument/2006/relationships/tags" Target="../tags/tag307.xml"/><Relationship Id="rId4" Type="http://schemas.openxmlformats.org/officeDocument/2006/relationships/tags" Target="../tags/tag301.xml"/><Relationship Id="rId9" Type="http://schemas.openxmlformats.org/officeDocument/2006/relationships/tags" Target="../tags/tag30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8.xml"/><Relationship Id="rId5" Type="http://schemas.openxmlformats.org/officeDocument/2006/relationships/image" Target="../media/image3.png"/><Relationship Id="rId4" Type="http://schemas.openxmlformats.org/officeDocument/2006/relationships/image" Target="../media/image6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BA1ADD-6A20-CBE2-F688-97CFC6ABA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216386" y="0"/>
            <a:ext cx="971090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B8BF85-18C6-F1E4-F91B-877E83872DD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9647" y="2245022"/>
            <a:ext cx="7514513" cy="3689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A Giant in Crisis: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 </a:t>
            </a:r>
            <a:endParaRPr lang="en-US" altLang="zh-CN" sz="4000" b="1" dirty="0">
              <a:solidFill>
                <a:schemeClr val="bg1"/>
              </a:solidFill>
              <a:latin typeface="Arial Black" panose="020B0A04020102020204" charset="0"/>
              <a:ea typeface="微软雅黑" panose="020B0503020204020204" pitchFamily="34" charset="-122"/>
              <a:cs typeface="Arial Black" panose="020B0A0402010202020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A Research for the failure of </a:t>
            </a:r>
            <a:r>
              <a:rPr lang="en-US" altLang="zh-CN" sz="4000" b="1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Yonghui’s Business Model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charset="0"/>
              <a:ea typeface="微软雅黑" panose="020B0503020204020204" pitchFamily="34" charset="-122"/>
              <a:cs typeface="Arial Black" panose="020B0A04020102020204" charset="0"/>
            </a:endParaRPr>
          </a:p>
        </p:txBody>
      </p:sp>
      <p:pic>
        <p:nvPicPr>
          <p:cNvPr id="10" name="图形 9" descr="下降趋势条形图 轮廓">
            <a:extLst>
              <a:ext uri="{FF2B5EF4-FFF2-40B4-BE49-F238E27FC236}">
                <a16:creationId xmlns:a16="http://schemas.microsoft.com/office/drawing/2014/main" id="{7C8072B2-B7F5-068B-7CC2-77FA0955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170" y="542359"/>
            <a:ext cx="1459754" cy="145975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A690B26-A87C-9EA7-B1DE-80A98A764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280" y="0"/>
            <a:ext cx="3601720" cy="86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4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BA60-4B97-9E90-146D-6858E6A5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484B7767-29A3-9CCB-8459-961AE97661A3}"/>
              </a:ext>
            </a:extLst>
          </p:cNvPr>
          <p:cNvGrpSpPr/>
          <p:nvPr/>
        </p:nvGrpSpPr>
        <p:grpSpPr>
          <a:xfrm>
            <a:off x="-98201" y="0"/>
            <a:ext cx="12290200" cy="6945085"/>
            <a:chOff x="-98201" y="0"/>
            <a:chExt cx="12290200" cy="694508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6BF2F02-DBBF-7808-1E68-FC063C0CBCE7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1999" cy="6857999"/>
            </a:xfrm>
            <a:prstGeom prst="rect">
              <a:avLst/>
            </a:prstGeom>
            <a:solidFill>
              <a:srgbClr val="D80B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6B70777B-0DFA-71B0-E005-A856756ACDC3}"/>
                </a:ext>
              </a:extLst>
            </p:cNvPr>
            <p:cNvSpPr/>
            <p:nvPr/>
          </p:nvSpPr>
          <p:spPr>
            <a:xfrm flipH="1">
              <a:off x="-98201" y="5264483"/>
              <a:ext cx="1592897" cy="1680602"/>
            </a:xfrm>
            <a:custGeom>
              <a:avLst/>
              <a:gdLst>
                <a:gd name="connsiteX0" fmla="*/ 1432299 w 2105399"/>
                <a:gd name="connsiteY0" fmla="*/ 0 h 2221323"/>
                <a:gd name="connsiteX1" fmla="*/ 1989815 w 2105399"/>
                <a:gd name="connsiteY1" fmla="*/ 112557 h 2221323"/>
                <a:gd name="connsiteX2" fmla="*/ 2105399 w 2105399"/>
                <a:gd name="connsiteY2" fmla="*/ 168237 h 2221323"/>
                <a:gd name="connsiteX3" fmla="*/ 2105399 w 2105399"/>
                <a:gd name="connsiteY3" fmla="*/ 2221323 h 2221323"/>
                <a:gd name="connsiteX4" fmla="*/ 237453 w 2105399"/>
                <a:gd name="connsiteY4" fmla="*/ 2221323 h 2221323"/>
                <a:gd name="connsiteX5" fmla="*/ 172871 w 2105399"/>
                <a:gd name="connsiteY5" fmla="*/ 2115018 h 2221323"/>
                <a:gd name="connsiteX6" fmla="*/ 0 w 2105399"/>
                <a:gd name="connsiteY6" fmla="*/ 1432299 h 2221323"/>
                <a:gd name="connsiteX7" fmla="*/ 1432299 w 2105399"/>
                <a:gd name="connsiteY7" fmla="*/ 0 h 2221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05399" h="2221323">
                  <a:moveTo>
                    <a:pt x="1432299" y="0"/>
                  </a:moveTo>
                  <a:cubicBezTo>
                    <a:pt x="1630058" y="0"/>
                    <a:pt x="1818457" y="40079"/>
                    <a:pt x="1989815" y="112557"/>
                  </a:cubicBezTo>
                  <a:lnTo>
                    <a:pt x="2105399" y="168237"/>
                  </a:lnTo>
                  <a:lnTo>
                    <a:pt x="2105399" y="2221323"/>
                  </a:lnTo>
                  <a:lnTo>
                    <a:pt x="237453" y="2221323"/>
                  </a:lnTo>
                  <a:lnTo>
                    <a:pt x="172871" y="2115018"/>
                  </a:lnTo>
                  <a:cubicBezTo>
                    <a:pt x="62623" y="1912071"/>
                    <a:pt x="0" y="1679498"/>
                    <a:pt x="0" y="1432299"/>
                  </a:cubicBezTo>
                  <a:cubicBezTo>
                    <a:pt x="0" y="641262"/>
                    <a:pt x="641262" y="0"/>
                    <a:pt x="1432299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333E75A-4D7A-AB38-7A62-773AA5E40E63}"/>
                </a:ext>
              </a:extLst>
            </p:cNvPr>
            <p:cNvSpPr/>
            <p:nvPr/>
          </p:nvSpPr>
          <p:spPr>
            <a:xfrm>
              <a:off x="6989399" y="845787"/>
              <a:ext cx="1027954" cy="10279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softEdge rad="1143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B6F6B93-78C7-A7D1-DE55-1776D73CC2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6573" y="879941"/>
              <a:ext cx="4508500" cy="10009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Autofit/>
            </a:bodyPr>
            <a:lstStyle/>
            <a:p>
              <a:pPr algn="ctr">
                <a:buSzPct val="25000"/>
              </a:pPr>
              <a:r>
                <a:rPr lang="en-US" altLang="zh-CN" sz="8000" b="1" dirty="0">
                  <a:solidFill>
                    <a:srgbClr val="FFFFFF"/>
                  </a:solidFill>
                  <a:effectLst>
                    <a:outerShdw blurRad="50800" dist="12700" dir="4200000" algn="ctr" rotWithShape="0">
                      <a:schemeClr val="accent1">
                        <a:alpha val="56000"/>
                      </a:schemeClr>
                    </a:outerShdw>
                    <a:reflection blurRad="6350" stA="17000" endPos="45500" dir="5400000" sy="-100000" algn="bl" rotWithShape="0"/>
                  </a:effectLst>
                  <a:latin typeface="Calibri" panose="020F0502020204030204" pitchFamily="34" charset="0"/>
                  <a:ea typeface="微软雅黑" panose="020B0503020204020204" pitchFamily="34" charset="-122"/>
                </a:rPr>
                <a:t>Agenda</a:t>
              </a: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E4984863-2366-3BBB-36C5-42D115CAAE29}"/>
                </a:ext>
              </a:extLst>
            </p:cNvPr>
            <p:cNvSpPr/>
            <p:nvPr/>
          </p:nvSpPr>
          <p:spPr>
            <a:xfrm>
              <a:off x="11262898" y="329860"/>
              <a:ext cx="512004" cy="512004"/>
            </a:xfrm>
            <a:prstGeom prst="ellipse">
              <a:avLst/>
            </a:prstGeom>
            <a:gradFill flip="none" rotWithShape="1">
              <a:gsLst>
                <a:gs pos="21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AEAD72B-54AE-1D65-0101-1DEC8888D9AB}"/>
                </a:ext>
              </a:extLst>
            </p:cNvPr>
            <p:cNvGrpSpPr/>
            <p:nvPr/>
          </p:nvGrpSpPr>
          <p:grpSpPr>
            <a:xfrm>
              <a:off x="861107" y="2484526"/>
              <a:ext cx="4803566" cy="1696626"/>
              <a:chOff x="657636" y="2484526"/>
              <a:chExt cx="3610919" cy="1583084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F4C70EE6-4D00-9324-9A21-5EE11B0D9EAC}"/>
                  </a:ext>
                </a:extLst>
              </p:cNvPr>
              <p:cNvSpPr>
                <a:spLocks/>
              </p:cNvSpPr>
              <p:nvPr/>
            </p:nvSpPr>
            <p:spPr>
              <a:xfrm rot="286542">
                <a:off x="657636" y="2484526"/>
                <a:ext cx="2958768" cy="1453033"/>
              </a:xfrm>
              <a:prstGeom prst="roundRect">
                <a:avLst>
                  <a:gd name="adj" fmla="val 8200"/>
                </a:avLst>
              </a:prstGeom>
              <a:solidFill>
                <a:srgbClr val="2194A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358B1A9B-AAE4-104F-D4EE-46BDE0A348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6109" y="2614578"/>
                <a:ext cx="2958768" cy="1453032"/>
              </a:xfrm>
              <a:prstGeom prst="roundRect">
                <a:avLst>
                  <a:gd name="adj" fmla="val 8200"/>
                </a:avLst>
              </a:prstGeom>
              <a:solidFill>
                <a:srgbClr val="FFFFFF"/>
              </a:solidFill>
              <a:ln w="12700" cap="rnd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B44C830-8D03-3469-195E-A7601E36CB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6109" y="2621230"/>
                <a:ext cx="886919" cy="6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>
                  <a:buSzPct val="25000"/>
                </a:pPr>
                <a:r>
                  <a:rPr lang="en-US" altLang="zh-CN" sz="4400" b="1" i="1" dirty="0">
                    <a:ln>
                      <a:solidFill>
                        <a:schemeClr val="accent1"/>
                      </a:solidFill>
                    </a:ln>
                    <a:noFill/>
                    <a:effectLst>
                      <a:reflection blurRad="6350" stA="17000" endPos="45500" dir="5400000" sy="-100000" algn="bl" rotWithShape="0"/>
                    </a:effectLst>
                    <a:latin typeface="Calibri" panose="020F0502020204030204" pitchFamily="34" charset="0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FEC20EC-210D-006D-8ACA-7775BAD6D317}"/>
                  </a:ext>
                </a:extLst>
              </p:cNvPr>
              <p:cNvSpPr txBox="1"/>
              <p:nvPr/>
            </p:nvSpPr>
            <p:spPr>
              <a:xfrm>
                <a:off x="1458098" y="3167826"/>
                <a:ext cx="2810457" cy="740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de-DE" sz="2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Introduction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353124A-402B-28B2-25F5-C28DE475F6AB}"/>
                </a:ext>
              </a:extLst>
            </p:cNvPr>
            <p:cNvGrpSpPr/>
            <p:nvPr/>
          </p:nvGrpSpPr>
          <p:grpSpPr>
            <a:xfrm>
              <a:off x="5606569" y="2484526"/>
              <a:ext cx="4703205" cy="1696626"/>
              <a:chOff x="3447216" y="2484526"/>
              <a:chExt cx="3535475" cy="1583084"/>
            </a:xfrm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4425DE6D-A658-2BEE-5092-388C6AED1976}"/>
                  </a:ext>
                </a:extLst>
              </p:cNvPr>
              <p:cNvSpPr>
                <a:spLocks/>
              </p:cNvSpPr>
              <p:nvPr/>
            </p:nvSpPr>
            <p:spPr>
              <a:xfrm rot="286542">
                <a:off x="3447216" y="2484526"/>
                <a:ext cx="2958768" cy="1453033"/>
              </a:xfrm>
              <a:prstGeom prst="roundRect">
                <a:avLst>
                  <a:gd name="adj" fmla="val 8200"/>
                </a:avLst>
              </a:prstGeom>
              <a:gradFill flip="none" rotWithShape="1">
                <a:gsLst>
                  <a:gs pos="54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2F46C745-6433-C8A5-CA87-1FD633B459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55689" y="2614578"/>
                <a:ext cx="2958768" cy="1453032"/>
              </a:xfrm>
              <a:prstGeom prst="roundRect">
                <a:avLst>
                  <a:gd name="adj" fmla="val 8200"/>
                </a:avLst>
              </a:prstGeom>
              <a:solidFill>
                <a:srgbClr val="FFFFFF"/>
              </a:solidFill>
              <a:ln w="12700" cap="rnd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A133BC46-DECF-BAA2-1E95-51EAF12B4C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71430" y="2621230"/>
                <a:ext cx="886919" cy="6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>
                  <a:buSzPct val="25000"/>
                </a:pPr>
                <a:r>
                  <a:rPr lang="en-US" altLang="zh-CN" sz="4400" b="1" i="1" dirty="0">
                    <a:ln>
                      <a:solidFill>
                        <a:schemeClr val="accent2"/>
                      </a:solidFill>
                    </a:ln>
                    <a:noFill/>
                    <a:effectLst>
                      <a:reflection blurRad="6350" stA="17000" endPos="45500" dir="5400000" sy="-100000" algn="bl" rotWithShape="0"/>
                    </a:effectLst>
                    <a:latin typeface="Calibri" panose="020F0502020204030204" pitchFamily="34" charset="0"/>
                    <a:ea typeface="微软雅黑" panose="020B0503020204020204" pitchFamily="34" charset="-122"/>
                  </a:rPr>
                  <a:t>02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30CD86B-3902-1EF1-A8B1-158AF3D249E0}"/>
                  </a:ext>
                </a:extLst>
              </p:cNvPr>
              <p:cNvSpPr txBox="1"/>
              <p:nvPr/>
            </p:nvSpPr>
            <p:spPr>
              <a:xfrm>
                <a:off x="3651679" y="3185306"/>
                <a:ext cx="3331012" cy="740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de-DE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软雅黑" panose="020B0503020204020204" pitchFamily="34" charset="-122"/>
                  </a:rPr>
                  <a:t>Business Model Analysis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B399E8C-E6A9-0E74-A92D-663D43FBC850}"/>
                </a:ext>
              </a:extLst>
            </p:cNvPr>
            <p:cNvGrpSpPr/>
            <p:nvPr/>
          </p:nvGrpSpPr>
          <p:grpSpPr>
            <a:xfrm>
              <a:off x="2492413" y="4437474"/>
              <a:ext cx="4340739" cy="1696626"/>
              <a:chOff x="6236795" y="2484526"/>
              <a:chExt cx="3263004" cy="1583084"/>
            </a:xfrm>
          </p:grpSpPr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3BB79018-4893-3758-DA14-E73D93CBBBE4}"/>
                  </a:ext>
                </a:extLst>
              </p:cNvPr>
              <p:cNvSpPr>
                <a:spLocks/>
              </p:cNvSpPr>
              <p:nvPr/>
            </p:nvSpPr>
            <p:spPr>
              <a:xfrm rot="286542">
                <a:off x="6236795" y="2484526"/>
                <a:ext cx="2958768" cy="1453033"/>
              </a:xfrm>
              <a:prstGeom prst="roundRect">
                <a:avLst>
                  <a:gd name="adj" fmla="val 8200"/>
                </a:avLst>
              </a:prstGeom>
              <a:gradFill flip="none" rotWithShape="1">
                <a:gsLst>
                  <a:gs pos="54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26CE33A0-5E1C-17CE-B9AD-C8EA697A65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45268" y="2614578"/>
                <a:ext cx="2958768" cy="1453032"/>
              </a:xfrm>
              <a:prstGeom prst="roundRect">
                <a:avLst>
                  <a:gd name="adj" fmla="val 8200"/>
                </a:avLst>
              </a:prstGeom>
              <a:solidFill>
                <a:srgbClr val="FFFFFF"/>
              </a:solidFill>
              <a:ln w="12700" cap="rnd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1F960987-15B8-ACEE-7E1E-0EE290B357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45268" y="2621230"/>
                <a:ext cx="886919" cy="6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>
                  <a:buSzPct val="25000"/>
                </a:pPr>
                <a:r>
                  <a:rPr lang="en-US" altLang="zh-CN" sz="4400" b="1" i="1" dirty="0">
                    <a:ln>
                      <a:solidFill>
                        <a:schemeClr val="accent2"/>
                      </a:solidFill>
                    </a:ln>
                    <a:noFill/>
                    <a:effectLst>
                      <a:reflection blurRad="6350" stA="17000" endPos="45500" dir="5400000" sy="-100000" algn="bl" rotWithShape="0"/>
                    </a:effectLst>
                    <a:latin typeface="Calibri" panose="020F0502020204030204" pitchFamily="34" charset="0"/>
                    <a:ea typeface="微软雅黑" panose="020B0503020204020204" pitchFamily="34" charset="-122"/>
                  </a:rPr>
                  <a:t>03</a:t>
                </a: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E41CAB3-AA58-205E-F9E2-AEBA49D3737D}"/>
                  </a:ext>
                </a:extLst>
              </p:cNvPr>
              <p:cNvSpPr txBox="1"/>
              <p:nvPr/>
            </p:nvSpPr>
            <p:spPr>
              <a:xfrm>
                <a:off x="6689342" y="3182165"/>
                <a:ext cx="2810457" cy="740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de-DE" sz="2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Further Exploration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0EA47D3-A15B-5C28-081D-86E0273F5F63}"/>
                </a:ext>
              </a:extLst>
            </p:cNvPr>
            <p:cNvGrpSpPr/>
            <p:nvPr/>
          </p:nvGrpSpPr>
          <p:grpSpPr>
            <a:xfrm>
              <a:off x="7237874" y="4437474"/>
              <a:ext cx="4925614" cy="1696626"/>
              <a:chOff x="9026374" y="2484526"/>
              <a:chExt cx="3702664" cy="1583084"/>
            </a:xfrm>
          </p:grpSpPr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AA61CD9B-D692-DB83-3091-56AF1AE23497}"/>
                  </a:ext>
                </a:extLst>
              </p:cNvPr>
              <p:cNvSpPr>
                <a:spLocks/>
              </p:cNvSpPr>
              <p:nvPr/>
            </p:nvSpPr>
            <p:spPr>
              <a:xfrm rot="286542">
                <a:off x="9026374" y="2484526"/>
                <a:ext cx="2958768" cy="1453033"/>
              </a:xfrm>
              <a:prstGeom prst="roundRect">
                <a:avLst>
                  <a:gd name="adj" fmla="val 8200"/>
                </a:avLst>
              </a:prstGeom>
              <a:gradFill flip="none" rotWithShape="1">
                <a:gsLst>
                  <a:gs pos="54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CE0FC69-2F0B-CD26-6A2D-BB0DE98E36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34847" y="2614578"/>
                <a:ext cx="2958768" cy="1453032"/>
              </a:xfrm>
              <a:prstGeom prst="roundRect">
                <a:avLst>
                  <a:gd name="adj" fmla="val 8200"/>
                </a:avLst>
              </a:prstGeom>
              <a:solidFill>
                <a:srgbClr val="FFFFFF"/>
              </a:solidFill>
              <a:ln w="12700" cap="rnd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0" scaled="0"/>
                </a:gradFill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  <a:endParaRPr lang="zh-CN" altLang="en-US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76C1162C-2409-A11B-2BFA-8D68DF7FFE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50588" y="2621230"/>
                <a:ext cx="886919" cy="6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 algn="ctr">
                  <a:buSzPct val="25000"/>
                </a:pPr>
                <a:r>
                  <a:rPr lang="en-US" altLang="zh-CN" sz="4400" b="1" i="1" dirty="0">
                    <a:ln>
                      <a:solidFill>
                        <a:schemeClr val="accent1"/>
                      </a:solidFill>
                    </a:ln>
                    <a:noFill/>
                    <a:effectLst>
                      <a:reflection blurRad="6350" stA="17000" endPos="45500" dir="5400000" sy="-100000" algn="bl" rotWithShape="0"/>
                    </a:effectLst>
                    <a:latin typeface="Calibri" panose="020F0502020204030204" pitchFamily="34" charset="0"/>
                    <a:ea typeface="微软雅黑" panose="020B0503020204020204" pitchFamily="34" charset="-122"/>
                  </a:rPr>
                  <a:t>04</a:t>
                </a: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D97BCC7-E74C-C584-3518-348A56C25655}"/>
                  </a:ext>
                </a:extLst>
              </p:cNvPr>
              <p:cNvSpPr txBox="1"/>
              <p:nvPr/>
            </p:nvSpPr>
            <p:spPr>
              <a:xfrm>
                <a:off x="9918581" y="3167827"/>
                <a:ext cx="2810457" cy="740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defTabSz="913765">
                  <a:buSzPct val="25000"/>
                  <a:defRPr/>
                </a:pPr>
                <a:r>
                  <a:rPr lang="de-DE" sz="28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Summary</a:t>
                </a:r>
              </a:p>
            </p:txBody>
          </p:sp>
        </p:grp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CF09855C-509A-259E-4333-C634DF41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599" y="0"/>
            <a:ext cx="3308401" cy="79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4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 flipV="1">
            <a:off x="326390" y="809923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225425" y="866775"/>
            <a:ext cx="3949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The Rise of a Retail Giant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8314919" y="1333255"/>
            <a:ext cx="3665080" cy="1501140"/>
            <a:chOff x="460" y="8266"/>
            <a:chExt cx="5772" cy="2364"/>
          </a:xfrm>
        </p:grpSpPr>
        <p:sp>
          <p:nvSpPr>
            <p:cNvPr id="14" name="文本框 13"/>
            <p:cNvSpPr txBox="1"/>
            <p:nvPr>
              <p:custDataLst>
                <p:tags r:id="rId18"/>
              </p:custDataLst>
            </p:nvPr>
          </p:nvSpPr>
          <p:spPr>
            <a:xfrm>
              <a:off x="475" y="8266"/>
              <a:ext cx="5757" cy="236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    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The Winning Formula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等线" panose="02010600030101010101" pitchFamily="2" charset="-122"/>
                  <a:cs typeface="Calibri" panose="020F0502020204030204" charset="0"/>
                </a:rPr>
                <a:t>Low Prices + Fresh Produce + Wide Assortment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等线" panose="02010600030101010101" pitchFamily="2" charset="-122"/>
                  <a:cs typeface="Calibri" panose="020F0502020204030204" charset="0"/>
                </a:rPr>
                <a:t>crushed competitors in the 2010s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</a:endParaRPr>
            </a:p>
          </p:txBody>
        </p:sp>
        <p:pic>
          <p:nvPicPr>
            <p:cNvPr id="20" name="图形 19" descr="V 形箭头 纯色填充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" y="8310"/>
              <a:ext cx="499" cy="499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282575" y="1276985"/>
            <a:ext cx="8823960" cy="1438910"/>
            <a:chOff x="475" y="2816"/>
            <a:chExt cx="13896" cy="2266"/>
          </a:xfrm>
        </p:grpSpPr>
        <p:sp>
          <p:nvSpPr>
            <p:cNvPr id="26" name="文本框 25"/>
            <p:cNvSpPr txBox="1"/>
            <p:nvPr>
              <p:custDataLst>
                <p:tags r:id="rId16"/>
              </p:custDataLst>
            </p:nvPr>
          </p:nvSpPr>
          <p:spPr>
            <a:xfrm>
              <a:off x="475" y="2816"/>
              <a:ext cx="13896" cy="2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    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Established &amp; Recognized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：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Founded in 2001 in Fuzhou, Fujian.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"National Top 500 Enterprise"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"People's Supermarket, Yonghui for All"</a:t>
              </a:r>
            </a:p>
          </p:txBody>
        </p:sp>
        <p:pic>
          <p:nvPicPr>
            <p:cNvPr id="16" name="图形 27" descr="V 形箭头 纯色填充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75" y="2869"/>
              <a:ext cx="499" cy="499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4437380" y="1333255"/>
            <a:ext cx="3856990" cy="1511935"/>
            <a:chOff x="448" y="5550"/>
            <a:chExt cx="6074" cy="2381"/>
          </a:xfrm>
        </p:grpSpPr>
        <p:pic>
          <p:nvPicPr>
            <p:cNvPr id="29" name="图形 28" descr="V 形箭头 纯色填充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" y="5600"/>
              <a:ext cx="499" cy="499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448" y="6043"/>
              <a:ext cx="6074" cy="18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81C0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Went public in 2010 (SHA: 601933)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81C0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Over 700 stores across 441 cities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90204" pitchFamily="34" charset="0"/>
                <a:buChar char="•"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81C0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Exceeded 6.13 million square meters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15"/>
              </p:custDataLst>
            </p:nvPr>
          </p:nvSpPr>
          <p:spPr>
            <a:xfrm>
              <a:off x="932" y="5550"/>
              <a:ext cx="4216" cy="67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Calibri" panose="020F0502020204030204" charset="0"/>
                </a:rPr>
                <a:t>Scale &amp; Expansion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93694" y="114352"/>
            <a:ext cx="2298306" cy="5515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71DDAB-EFDD-91B9-6A0B-9A26721134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2575" y="2801893"/>
            <a:ext cx="339407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The Alarming Downturn</a:t>
            </a:r>
          </a:p>
        </p:txBody>
      </p:sp>
      <p:graphicFrame>
        <p:nvGraphicFramePr>
          <p:cNvPr id="52" name="图表 51">
            <a:extLst>
              <a:ext uri="{FF2B5EF4-FFF2-40B4-BE49-F238E27FC236}">
                <a16:creationId xmlns:a16="http://schemas.microsoft.com/office/drawing/2014/main" id="{FA6073F2-4918-7D9F-B294-133E4D32E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799465"/>
              </p:ext>
            </p:extLst>
          </p:nvPr>
        </p:nvGraphicFramePr>
        <p:xfrm>
          <a:off x="1258763" y="2283398"/>
          <a:ext cx="4667664" cy="4238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pic>
        <p:nvPicPr>
          <p:cNvPr id="55" name="图片 54" descr="图片包含 灯光, 飞行, 房间, 星星&#10;&#10;AI 生成的内容可能不正确。">
            <a:extLst>
              <a:ext uri="{FF2B5EF4-FFF2-40B4-BE49-F238E27FC236}">
                <a16:creationId xmlns:a16="http://schemas.microsoft.com/office/drawing/2014/main" id="{41E99714-529F-BCF1-5F41-74CB6DFD884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64" y="2315148"/>
            <a:ext cx="8357367" cy="470102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A41C8964-2975-36DF-F7E6-949A635ECB60}"/>
              </a:ext>
            </a:extLst>
          </p:cNvPr>
          <p:cNvSpPr/>
          <p:nvPr/>
        </p:nvSpPr>
        <p:spPr>
          <a:xfrm>
            <a:off x="7681328" y="3674984"/>
            <a:ext cx="827327" cy="69011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E3FFB2D-54F1-E7F1-C818-D5AF808C812A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1" name="文本框 64">
              <a:extLst>
                <a:ext uri="{FF2B5EF4-FFF2-40B4-BE49-F238E27FC236}">
                  <a16:creationId xmlns:a16="http://schemas.microsoft.com/office/drawing/2014/main" id="{CDD6051A-1A47-76CF-E41A-022120392D7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2" name="文本框 66">
              <a:extLst>
                <a:ext uri="{FF2B5EF4-FFF2-40B4-BE49-F238E27FC236}">
                  <a16:creationId xmlns:a16="http://schemas.microsoft.com/office/drawing/2014/main" id="{0680CB69-F403-C4B7-EDA7-CB02D43678FA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13" name="文本框 67">
              <a:extLst>
                <a:ext uri="{FF2B5EF4-FFF2-40B4-BE49-F238E27FC236}">
                  <a16:creationId xmlns:a16="http://schemas.microsoft.com/office/drawing/2014/main" id="{3727D217-AE8F-283C-F608-F8606B83AF5D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15" name="文本框 66">
              <a:extLst>
                <a:ext uri="{FF2B5EF4-FFF2-40B4-BE49-F238E27FC236}">
                  <a16:creationId xmlns:a16="http://schemas.microsoft.com/office/drawing/2014/main" id="{E6E3E713-288A-C49A-CC37-ED640AEC886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Introduction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CFF1337-199F-F8D2-42EE-8A077CE80332}"/>
              </a:ext>
            </a:extLst>
          </p:cNvPr>
          <p:cNvGrpSpPr/>
          <p:nvPr/>
        </p:nvGrpSpPr>
        <p:grpSpPr>
          <a:xfrm>
            <a:off x="282575" y="0"/>
            <a:ext cx="10832465" cy="829315"/>
            <a:chOff x="282575" y="0"/>
            <a:chExt cx="10832465" cy="829315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A709ED2-BDDF-3998-80EE-64A3A3459CB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82575" y="0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Introduction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ECCAD25-7394-32AE-4C81-7188A9D0B8A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398428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1.1 Yonghui Superstores: A Giant in Crisis</a:t>
              </a: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FF3E26C3-4496-353C-3C97-D3C11EA92AE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311650" y="1261746"/>
            <a:ext cx="3696624" cy="155708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270279-860F-0076-F60C-E406E9C528C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212801" y="1253197"/>
            <a:ext cx="3696624" cy="155708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F88914-A96C-2FBF-07CA-E5C91C2CD40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96826" y="1261746"/>
            <a:ext cx="3890918" cy="155708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71231-E79C-D708-7AAF-74E84631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图片包含 形状&#10;&#10;AI 生成的内容可能不正确。">
            <a:extLst>
              <a:ext uri="{FF2B5EF4-FFF2-40B4-BE49-F238E27FC236}">
                <a16:creationId xmlns:a16="http://schemas.microsoft.com/office/drawing/2014/main" id="{FABA3988-CA9F-99DF-01E4-6A82406A561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350" y="1125018"/>
            <a:ext cx="6593031" cy="502103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F028E8-D31B-E8E2-BFFA-0F30366C67C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A9CFCF-3B7C-566B-F779-A687530908C0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V="1">
            <a:off x="215265" y="853836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D898D3D-0FA0-8738-6738-AC56F99033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13180" y="1098043"/>
            <a:ext cx="33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    </a:t>
            </a:r>
            <a:r>
              <a:rPr lang="en-US" altLang="zh-CN" sz="2000" b="1" dirty="0">
                <a:solidFill>
                  <a:prstClr val="black"/>
                </a:solidFill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Decreased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Sales Scale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16" name="图形 27" descr="V 形箭头 纯色填充">
            <a:extLst>
              <a:ext uri="{FF2B5EF4-FFF2-40B4-BE49-F238E27FC236}">
                <a16:creationId xmlns:a16="http://schemas.microsoft.com/office/drawing/2014/main" id="{56151E48-D38C-D7FE-D714-8E4E34479F2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625" y="1140616"/>
            <a:ext cx="316640" cy="3166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78227DB-EECD-AEB3-C327-C03101BA0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8" name="图形 27" descr="V 形箭头 纯色填充">
            <a:extLst>
              <a:ext uri="{FF2B5EF4-FFF2-40B4-BE49-F238E27FC236}">
                <a16:creationId xmlns:a16="http://schemas.microsoft.com/office/drawing/2014/main" id="{76C39E88-9D17-FDA5-4945-38F0D9140D6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48415" y="1093168"/>
            <a:ext cx="316640" cy="31664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F730540-6B68-0769-174E-41670130E2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06735" y="1066524"/>
            <a:ext cx="4333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Calibri" panose="020F0502020204030204" charset="0"/>
                <a:cs typeface="Calibri" panose="020F050202020403020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Decreased profits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24" name="图片 23" descr="徽标&#10;&#10;AI 生成的内容可能不正确。">
            <a:extLst>
              <a:ext uri="{FF2B5EF4-FFF2-40B4-BE49-F238E27FC236}">
                <a16:creationId xmlns:a16="http://schemas.microsoft.com/office/drawing/2014/main" id="{C7EC4AD8-D617-5DF0-0B89-9B9A3435009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57" t="1742" r="40616" b="19401"/>
          <a:stretch>
            <a:fillRect/>
          </a:stretch>
        </p:blipFill>
        <p:spPr>
          <a:xfrm>
            <a:off x="5781713" y="-446835"/>
            <a:ext cx="5476551" cy="6837418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952E29B8-8E44-78F3-BFEF-12D6386661A9}"/>
              </a:ext>
            </a:extLst>
          </p:cNvPr>
          <p:cNvSpPr/>
          <p:nvPr/>
        </p:nvSpPr>
        <p:spPr>
          <a:xfrm>
            <a:off x="819818" y="2490666"/>
            <a:ext cx="827327" cy="69011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354A81-5034-9FFD-F09D-C25DABF230AB}"/>
              </a:ext>
            </a:extLst>
          </p:cNvPr>
          <p:cNvSpPr/>
          <p:nvPr/>
        </p:nvSpPr>
        <p:spPr>
          <a:xfrm>
            <a:off x="5104537" y="3511377"/>
            <a:ext cx="235789" cy="38574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52137E6-97D4-8EB7-5852-24BF4377EF73}"/>
              </a:ext>
            </a:extLst>
          </p:cNvPr>
          <p:cNvGrpSpPr/>
          <p:nvPr/>
        </p:nvGrpSpPr>
        <p:grpSpPr>
          <a:xfrm>
            <a:off x="282575" y="0"/>
            <a:ext cx="10832465" cy="829315"/>
            <a:chOff x="282575" y="0"/>
            <a:chExt cx="10832465" cy="82931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0CEEA3E-B9D1-9E64-A482-AF4B9EB69229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82575" y="0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Introduction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4FF1B6-C731-692E-0B94-7A2C8494511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82575" y="398428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1.2 Industry Analysis: Overall Market Shrinkage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C0F5A3-04BA-3C66-DAFF-599451F1CFD2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8DEBA056-2068-E442-9FED-CE5579F56DD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7" name="文本框 66">
              <a:extLst>
                <a:ext uri="{FF2B5EF4-FFF2-40B4-BE49-F238E27FC236}">
                  <a16:creationId xmlns:a16="http://schemas.microsoft.com/office/drawing/2014/main" id="{8934D7E9-0CDD-EC38-1E27-403F6635132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18" name="文本框 67">
              <a:extLst>
                <a:ext uri="{FF2B5EF4-FFF2-40B4-BE49-F238E27FC236}">
                  <a16:creationId xmlns:a16="http://schemas.microsoft.com/office/drawing/2014/main" id="{43271F02-A8DF-7DED-A554-1844ED31AB8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19" name="文本框 66">
              <a:extLst>
                <a:ext uri="{FF2B5EF4-FFF2-40B4-BE49-F238E27FC236}">
                  <a16:creationId xmlns:a16="http://schemas.microsoft.com/office/drawing/2014/main" id="{FCC45BCF-ED88-5651-8570-3B0862F358F8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567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DB13-A922-5D14-0885-2643780E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F19CB69-7A2F-6940-FCB4-0558DBCFCD7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7CBFDCA-C43F-EE61-489C-A66EB1D5C126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V="1">
            <a:off x="215265" y="853836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497B9F7-3898-CFB5-B09F-6F6F0A254A9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FCCCDCB-4D31-6AE6-A0F0-8FD2138D5FB3}"/>
              </a:ext>
            </a:extLst>
          </p:cNvPr>
          <p:cNvSpPr txBox="1"/>
          <p:nvPr/>
        </p:nvSpPr>
        <p:spPr>
          <a:xfrm>
            <a:off x="1957414" y="1477196"/>
            <a:ext cx="9630064" cy="2955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Why did Yonghui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’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 once-unbeatable business         model suddenly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fail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?</a:t>
            </a:r>
          </a:p>
          <a:p>
            <a:pPr marL="457200" marR="0" lvl="0" indent="-4572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threat of E-commerce, Community Group Buying, and Consumer Trading Down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1034A0F-4A25-AB01-13D0-51340C540E55}"/>
              </a:ext>
            </a:extLst>
          </p:cNvPr>
          <p:cNvGrpSpPr/>
          <p:nvPr/>
        </p:nvGrpSpPr>
        <p:grpSpPr>
          <a:xfrm>
            <a:off x="1047563" y="1386111"/>
            <a:ext cx="1052381" cy="2970685"/>
            <a:chOff x="7140" y="6974"/>
            <a:chExt cx="539" cy="1770"/>
          </a:xfrm>
        </p:grpSpPr>
        <p:pic>
          <p:nvPicPr>
            <p:cNvPr id="7" name="图片 6" descr="/Users/wizone/Library/Containers/com.kingsoft.wpsoffice.mac/Data/tmp/kaimatting/20251019173052/output_aiMatting_20251019173105.pngoutput_aiMatting_20251019173105">
              <a:extLst>
                <a:ext uri="{FF2B5EF4-FFF2-40B4-BE49-F238E27FC236}">
                  <a16:creationId xmlns:a16="http://schemas.microsoft.com/office/drawing/2014/main" id="{E00ACB6F-0815-EC33-3066-4FE2D64C8976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7140" y="6974"/>
              <a:ext cx="539" cy="539"/>
            </a:xfrm>
            <a:prstGeom prst="rect">
              <a:avLst/>
            </a:prstGeom>
          </p:spPr>
        </p:pic>
        <p:pic>
          <p:nvPicPr>
            <p:cNvPr id="40" name="图片 39" descr="/Users/wizone/Library/Containers/com.kingsoft.wpsoffice.mac/Data/tmp/kaimatting/20251019173159/output_aiMatting_20251019173234.pngoutput_aiMatting_20251019173234">
              <a:extLst>
                <a:ext uri="{FF2B5EF4-FFF2-40B4-BE49-F238E27FC236}">
                  <a16:creationId xmlns:a16="http://schemas.microsoft.com/office/drawing/2014/main" id="{AD561F38-58FD-7EAA-B578-C38F27AFF0A0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7153" y="8065"/>
              <a:ext cx="453" cy="679"/>
            </a:xfrm>
            <a:prstGeom prst="rect">
              <a:avLst/>
            </a:prstGeom>
          </p:spPr>
        </p:pic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D1006F0-E74F-97EE-B2BD-12D25D66CE6D}"/>
              </a:ext>
            </a:extLst>
          </p:cNvPr>
          <p:cNvGrpSpPr/>
          <p:nvPr/>
        </p:nvGrpSpPr>
        <p:grpSpPr>
          <a:xfrm>
            <a:off x="8922829" y="5084347"/>
            <a:ext cx="2840546" cy="685413"/>
            <a:chOff x="6861" y="9232"/>
            <a:chExt cx="4004" cy="822"/>
          </a:xfrm>
        </p:grpSpPr>
        <p:pic>
          <p:nvPicPr>
            <p:cNvPr id="43" name="图片 42" descr="/Users/wizone/Library/Containers/com.kingsoft.wpsoffice.mac/Data/tmp/kaimatting/20251019164930/output_aiMatting_20251019165040.pngoutput_aiMatting_20251019165040">
              <a:extLst>
                <a:ext uri="{FF2B5EF4-FFF2-40B4-BE49-F238E27FC236}">
                  <a16:creationId xmlns:a16="http://schemas.microsoft.com/office/drawing/2014/main" id="{0BBADB02-6174-462B-0755-63CAF10D9253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/>
            <a:srcRect r="65610"/>
            <a:stretch>
              <a:fillRect/>
            </a:stretch>
          </p:blipFill>
          <p:spPr>
            <a:xfrm>
              <a:off x="6861" y="9319"/>
              <a:ext cx="680" cy="690"/>
            </a:xfrm>
            <a:prstGeom prst="rect">
              <a:avLst/>
            </a:prstGeom>
          </p:spPr>
        </p:pic>
        <p:pic>
          <p:nvPicPr>
            <p:cNvPr id="46" name="图片 45" descr="/Users/wizone/Library/Containers/com.kingsoft.wpsoffice.mac/Data/tmp/kaimatting/20251019165159/output_aiMatting_20251019165253.pngoutput_aiMatting_20251019165253">
              <a:extLst>
                <a:ext uri="{FF2B5EF4-FFF2-40B4-BE49-F238E27FC236}">
                  <a16:creationId xmlns:a16="http://schemas.microsoft.com/office/drawing/2014/main" id="{B195681C-CDB9-1D80-0D8C-1572FB65AE0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/>
            <a:srcRect l="30646" t="17296" r="32188" b="17528"/>
            <a:stretch>
              <a:fillRect/>
            </a:stretch>
          </p:blipFill>
          <p:spPr>
            <a:xfrm>
              <a:off x="9149" y="9317"/>
              <a:ext cx="700" cy="692"/>
            </a:xfrm>
            <a:prstGeom prst="rect">
              <a:avLst/>
            </a:prstGeom>
          </p:spPr>
        </p:pic>
        <p:pic>
          <p:nvPicPr>
            <p:cNvPr id="48" name="图片 47" descr="/Users/wizone/Library/Containers/com.kingsoft.wpsoffice.mac/Data/tmp/kaimatting/20251019172150/output_aiMatting_20251019172159.pngoutput_aiMatting_20251019172159">
              <a:extLst>
                <a:ext uri="{FF2B5EF4-FFF2-40B4-BE49-F238E27FC236}">
                  <a16:creationId xmlns:a16="http://schemas.microsoft.com/office/drawing/2014/main" id="{615926C4-0E04-A19F-1713-FDC49AF7C45C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2"/>
            <a:srcRect l="19444" t="2593" r="18898" b="34281"/>
            <a:stretch>
              <a:fillRect/>
            </a:stretch>
          </p:blipFill>
          <p:spPr>
            <a:xfrm>
              <a:off x="7938" y="9232"/>
              <a:ext cx="841" cy="820"/>
            </a:xfrm>
            <a:prstGeom prst="rect">
              <a:avLst/>
            </a:prstGeom>
          </p:spPr>
        </p:pic>
        <p:pic>
          <p:nvPicPr>
            <p:cNvPr id="50" name="图片 49" descr="/Users/wizone/Library/Containers/com.kingsoft.wpsoffice.mac/Data/tmp/kaimatting/20251019172246/output_aiMatting_20251019172254.pngoutput_aiMatting_20251019172254">
              <a:extLst>
                <a:ext uri="{FF2B5EF4-FFF2-40B4-BE49-F238E27FC236}">
                  <a16:creationId xmlns:a16="http://schemas.microsoft.com/office/drawing/2014/main" id="{01A3A5B4-78E8-5841-8CFD-04F435F04628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3"/>
            <a:srcRect l="16978" r="15659" b="32562"/>
            <a:stretch>
              <a:fillRect/>
            </a:stretch>
          </p:blipFill>
          <p:spPr>
            <a:xfrm>
              <a:off x="10159" y="9324"/>
              <a:ext cx="706" cy="731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C7554E-A045-2610-E03F-DE5440653194}"/>
              </a:ext>
            </a:extLst>
          </p:cNvPr>
          <p:cNvGrpSpPr/>
          <p:nvPr/>
        </p:nvGrpSpPr>
        <p:grpSpPr>
          <a:xfrm>
            <a:off x="251460" y="44061"/>
            <a:ext cx="10832465" cy="829315"/>
            <a:chOff x="282575" y="0"/>
            <a:chExt cx="10832465" cy="82931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CB32B41-802E-1DAB-D5A8-7040F623176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0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Introduction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8D32856-CE87-7C59-465F-F4978407D16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82575" y="398428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1.3 Core Question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E186F02-09A2-109B-232F-CB3F747F3939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E680617E-3B43-3D34-9446-7F7C45B682D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7" name="文本框 66">
              <a:extLst>
                <a:ext uri="{FF2B5EF4-FFF2-40B4-BE49-F238E27FC236}">
                  <a16:creationId xmlns:a16="http://schemas.microsoft.com/office/drawing/2014/main" id="{F7636B9F-C3F4-8CFF-7C29-C704ACBC345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18" name="文本框 67">
              <a:extLst>
                <a:ext uri="{FF2B5EF4-FFF2-40B4-BE49-F238E27FC236}">
                  <a16:creationId xmlns:a16="http://schemas.microsoft.com/office/drawing/2014/main" id="{02FCE5C4-01A3-5273-CD2D-4C4C32CE304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19" name="文本框 66">
              <a:extLst>
                <a:ext uri="{FF2B5EF4-FFF2-40B4-BE49-F238E27FC236}">
                  <a16:creationId xmlns:a16="http://schemas.microsoft.com/office/drawing/2014/main" id="{3A557525-7FDF-F2B3-C0D3-DBD24D0FBB7A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Introduction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014AA4A8-E361-9A88-83B2-4162D40847D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75639" y="1261745"/>
            <a:ext cx="11231881" cy="3599815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77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24"/>
          <p:cNvCxnSpPr/>
          <p:nvPr>
            <p:custDataLst>
              <p:tags r:id="rId1"/>
            </p:custDataLst>
          </p:nvPr>
        </p:nvCxnSpPr>
        <p:spPr>
          <a:xfrm flipV="1">
            <a:off x="335542" y="1041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377565" y="2583815"/>
            <a:ext cx="2714625" cy="2334260"/>
            <a:chOff x="10950" y="4366"/>
            <a:chExt cx="6960" cy="3277"/>
          </a:xfrm>
        </p:grpSpPr>
        <p:sp>
          <p:nvSpPr>
            <p:cNvPr id="26" name="矩形 25"/>
            <p:cNvSpPr/>
            <p:nvPr>
              <p:custDataLst>
                <p:tags r:id="rId14"/>
              </p:custDataLst>
            </p:nvPr>
          </p:nvSpPr>
          <p:spPr>
            <a:xfrm>
              <a:off x="10950" y="4366"/>
              <a:ext cx="6940" cy="3277"/>
            </a:xfrm>
            <a:prstGeom prst="rect">
              <a:avLst/>
            </a:prstGeom>
            <a:solidFill>
              <a:schemeClr val="accent6">
                <a:alpha val="223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78" y="4479"/>
              <a:ext cx="6732" cy="21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000" b="1"/>
                <a:t>Store Count Effect </a:t>
              </a:r>
            </a:p>
            <a:p>
              <a:pPr algn="ctr"/>
              <a:r>
                <a:rPr lang="zh-CN" altLang="en-US" sz="1600" b="1"/>
                <a:t>= </a:t>
              </a:r>
            </a:p>
            <a:p>
              <a:pPr algn="ctr"/>
              <a:r>
                <a:rPr lang="zh-CN" altLang="en-US" sz="1600" b="1"/>
                <a:t>Assumed </a:t>
              </a:r>
              <a:r>
                <a:rPr lang="en-US" altLang="zh-CN" sz="1600" b="1"/>
                <a:t>R</a:t>
              </a:r>
              <a:r>
                <a:rPr lang="zh-CN" altLang="en-US" sz="1600" b="1"/>
                <a:t>evenue 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600" b="1"/>
                <a:t>- 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b="1"/>
                <a:t>Total </a:t>
              </a:r>
              <a:r>
                <a:rPr lang="en-US" altLang="zh-CN" sz="1400" b="1"/>
                <a:t>R</a:t>
              </a:r>
              <a:r>
                <a:rPr lang="zh-CN" altLang="en-US" sz="1400" b="1"/>
                <a:t>evenue of </a:t>
              </a:r>
              <a:r>
                <a:rPr lang="en-US" altLang="zh-CN" sz="1400" b="1"/>
                <a:t>L</a:t>
              </a:r>
              <a:r>
                <a:rPr lang="zh-CN" altLang="en-US" sz="1400" b="1"/>
                <a:t>ast </a:t>
              </a:r>
              <a:r>
                <a:rPr lang="en-US" altLang="zh-CN" sz="1400" b="1"/>
                <a:t>Y</a:t>
              </a:r>
              <a:r>
                <a:rPr lang="zh-CN" altLang="en-US" sz="1400" b="1"/>
                <a:t>ear</a:t>
              </a:r>
            </a:p>
            <a:p>
              <a:pPr indent="0" algn="ctr" fontAlgn="auto">
                <a:lnSpc>
                  <a:spcPct val="150000"/>
                </a:lnSpc>
              </a:pPr>
              <a:r>
                <a:rPr lang="en-US" altLang="zh-CN" sz="1200" i="1">
                  <a:solidFill>
                    <a:schemeClr val="accent6">
                      <a:lumMod val="75000"/>
                    </a:schemeClr>
                  </a:solidFill>
                </a:rPr>
                <a:t>(</a:t>
              </a:r>
              <a:r>
                <a:rPr lang="zh-CN" altLang="en-US" sz="1200" i="1">
                  <a:solidFill>
                    <a:schemeClr val="accent6">
                      <a:lumMod val="75000"/>
                    </a:schemeClr>
                  </a:solidFill>
                </a:rPr>
                <a:t>The change in </a:t>
              </a:r>
              <a:r>
                <a:rPr lang="en-US" altLang="zh-CN" sz="1200" i="1">
                  <a:solidFill>
                    <a:schemeClr val="accent6">
                      <a:lumMod val="75000"/>
                    </a:schemeClr>
                  </a:solidFill>
                </a:rPr>
                <a:t>revenue</a:t>
              </a:r>
              <a:r>
                <a:rPr lang="zh-CN" altLang="en-US" sz="1200" i="1">
                  <a:solidFill>
                    <a:schemeClr val="accent6">
                      <a:lumMod val="75000"/>
                    </a:schemeClr>
                  </a:solidFill>
                </a:rPr>
                <a:t> purely brought about by the behavior of opening and closing stores</a:t>
              </a:r>
              <a:r>
                <a:rPr lang="en-US" altLang="zh-CN" sz="1200" i="1">
                  <a:solidFill>
                    <a:schemeClr val="accent6">
                      <a:lumMod val="75000"/>
                    </a:schemeClr>
                  </a:solidFill>
                </a:rPr>
                <a:t>)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grpSp>
        <p:nvGrpSpPr>
          <p:cNvPr id="41" name="组合 40"/>
          <p:cNvGrpSpPr/>
          <p:nvPr/>
        </p:nvGrpSpPr>
        <p:grpSpPr>
          <a:xfrm>
            <a:off x="496302" y="5210175"/>
            <a:ext cx="11204121" cy="895350"/>
            <a:chOff x="10373" y="7692"/>
            <a:chExt cx="6559" cy="2276"/>
          </a:xfrm>
        </p:grpSpPr>
        <p:sp>
          <p:nvSpPr>
            <p:cNvPr id="21" name="矩形 20"/>
            <p:cNvSpPr/>
            <p:nvPr>
              <p:custDataLst>
                <p:tags r:id="rId13"/>
              </p:custDataLst>
            </p:nvPr>
          </p:nvSpPr>
          <p:spPr>
            <a:xfrm>
              <a:off x="10391" y="7692"/>
              <a:ext cx="6541" cy="2276"/>
            </a:xfrm>
            <a:prstGeom prst="rect">
              <a:avLst/>
            </a:prstGeom>
            <a:solidFill>
              <a:schemeClr val="bg1">
                <a:lumMod val="85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373" y="7941"/>
              <a:ext cx="6548" cy="1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b="1"/>
                <a:t>Assumed Revenue</a:t>
              </a:r>
              <a:r>
                <a:rPr lang="zh-CN" altLang="en-US" sz="1400" b="1"/>
                <a:t> =</a:t>
              </a:r>
              <a:r>
                <a:rPr lang="en-US" altLang="zh-CN" sz="1400" b="1"/>
                <a:t> </a:t>
              </a:r>
              <a:r>
                <a:rPr lang="zh-CN" altLang="en-US" sz="1400" b="1"/>
                <a:t>Single Store </a:t>
              </a:r>
              <a:r>
                <a:rPr lang="zh-CN" altLang="en-US" sz="1400" b="1">
                  <a:sym typeface="+mn-ea"/>
                </a:rPr>
                <a:t>Revenue</a:t>
              </a:r>
              <a:r>
                <a:rPr lang="zh-CN" altLang="en-US" sz="1400" b="1"/>
                <a:t> Last Year × The Number of Stores This Year</a:t>
              </a:r>
            </a:p>
            <a:p>
              <a:pPr indent="0" algn="ctr" fontAlgn="auto">
                <a:lnSpc>
                  <a:spcPct val="150000"/>
                </a:lnSpc>
              </a:pPr>
              <a:r>
                <a:rPr lang="zh-CN" altLang="en-US" sz="1200" i="1">
                  <a:solidFill>
                    <a:srgbClr val="D47329"/>
                  </a:solidFill>
                </a:rPr>
                <a:t>Assuming that the sales capacity of each store this year is the same as last year, how much revenue should there be this year just by opening and closing stores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55625" y="2583815"/>
            <a:ext cx="2625090" cy="2350770"/>
            <a:chOff x="2980" y="3933"/>
            <a:chExt cx="10310" cy="12350"/>
          </a:xfrm>
        </p:grpSpPr>
        <p:sp>
          <p:nvSpPr>
            <p:cNvPr id="24" name="矩形 23"/>
            <p:cNvSpPr/>
            <p:nvPr>
              <p:custDataLst>
                <p:tags r:id="rId12"/>
              </p:custDataLst>
            </p:nvPr>
          </p:nvSpPr>
          <p:spPr>
            <a:xfrm>
              <a:off x="2980" y="3933"/>
              <a:ext cx="10310" cy="1235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23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329" y="4536"/>
              <a:ext cx="9961" cy="88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2000" b="1"/>
                <a:t>Same-Store Effect</a:t>
              </a:r>
              <a:r>
                <a:rPr lang="en-US" altLang="zh-CN" sz="2000" b="1"/>
                <a:t> </a:t>
              </a:r>
              <a:r>
                <a:rPr lang="zh-CN" altLang="en-US" sz="1600" b="1"/>
                <a:t>= 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b="1"/>
                <a:t>Total </a:t>
              </a:r>
              <a:r>
                <a:rPr lang="en-US" altLang="zh-CN" sz="1400" b="1"/>
                <a:t>R</a:t>
              </a:r>
              <a:r>
                <a:rPr lang="zh-CN" altLang="en-US" sz="1400" b="1"/>
                <a:t>evenue for </a:t>
              </a:r>
              <a:r>
                <a:rPr lang="en-US" altLang="zh-CN" sz="1400" b="1"/>
                <a:t>T</a:t>
              </a:r>
              <a:r>
                <a:rPr lang="zh-CN" altLang="en-US" sz="1400" b="1"/>
                <a:t>his </a:t>
              </a:r>
              <a:r>
                <a:rPr lang="en-US" altLang="zh-CN" sz="1400" b="1"/>
                <a:t>Y</a:t>
              </a:r>
              <a:r>
                <a:rPr lang="zh-CN" altLang="en-US" sz="1400" b="1"/>
                <a:t>ear -</a:t>
              </a: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400" b="1"/>
                <a:t> Assumed </a:t>
              </a:r>
              <a:r>
                <a:rPr lang="en-US" altLang="zh-CN" sz="1400" b="1"/>
                <a:t>R</a:t>
              </a:r>
              <a:r>
                <a:rPr lang="zh-CN" altLang="en-US" sz="1400" b="1"/>
                <a:t>evenue</a:t>
              </a:r>
            </a:p>
            <a:p>
              <a:pPr indent="0" algn="ctr" fontAlgn="auto">
                <a:lnSpc>
                  <a:spcPct val="150000"/>
                </a:lnSpc>
              </a:pPr>
              <a:r>
                <a:rPr lang="en-US" altLang="zh-CN" sz="1200" i="1">
                  <a:solidFill>
                    <a:schemeClr val="accent6">
                      <a:lumMod val="50000"/>
                    </a:schemeClr>
                  </a:solidFill>
                </a:rPr>
                <a:t>(</a:t>
              </a:r>
              <a:r>
                <a:rPr lang="zh-CN" altLang="en-US" sz="1200" i="1">
                  <a:solidFill>
                    <a:schemeClr val="accent6">
                      <a:lumMod val="50000"/>
                    </a:schemeClr>
                  </a:solidFill>
                </a:rPr>
                <a:t>Reflect the changes in the operational capabilities of existing stores themselves</a:t>
              </a:r>
              <a:r>
                <a:rPr lang="en-US" altLang="zh-CN" sz="1200" i="1">
                  <a:solidFill>
                    <a:schemeClr val="accent6">
                      <a:lumMod val="50000"/>
                    </a:schemeClr>
                  </a:solidFill>
                </a:rPr>
                <a:t>)</a:t>
              </a:r>
            </a:p>
          </p:txBody>
        </p:sp>
      </p:grpSp>
      <p:sp>
        <p:nvSpPr>
          <p:cNvPr id="29" name="加号 28"/>
          <p:cNvSpPr/>
          <p:nvPr/>
        </p:nvSpPr>
        <p:spPr>
          <a:xfrm>
            <a:off x="3157855" y="3634740"/>
            <a:ext cx="219710" cy="230505"/>
          </a:xfrm>
          <a:prstGeom prst="mathPlus">
            <a:avLst/>
          </a:prstGeom>
          <a:solidFill>
            <a:srgbClr val="D7092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27050" y="1217930"/>
            <a:ext cx="5680960" cy="1221740"/>
            <a:chOff x="1662" y="2058"/>
            <a:chExt cx="4716" cy="690"/>
          </a:xfrm>
        </p:grpSpPr>
        <p:sp>
          <p:nvSpPr>
            <p:cNvPr id="38" name="圆角矩形 37"/>
            <p:cNvSpPr/>
            <p:nvPr>
              <p:custDataLst>
                <p:tags r:id="rId10"/>
              </p:custDataLst>
            </p:nvPr>
          </p:nvSpPr>
          <p:spPr>
            <a:xfrm>
              <a:off x="1662" y="2058"/>
              <a:ext cx="4613" cy="690"/>
            </a:xfrm>
            <a:prstGeom prst="roundRect">
              <a:avLst>
                <a:gd name="adj" fmla="val 7717"/>
              </a:avLst>
            </a:prstGeom>
            <a:solidFill>
              <a:srgbClr val="C54A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rgbClr val="C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920" y="2276"/>
              <a:ext cx="4458" cy="20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Annual Revenue</a:t>
              </a: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 </a:t>
              </a:r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C</a:t>
              </a: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hange </a:t>
              </a:r>
              <a:r>
                <a:rPr lang="en-US" altLang="zh-CN" sz="2400" b="1">
                  <a:solidFill>
                    <a:schemeClr val="bg1"/>
                  </a:solidFill>
                  <a:sym typeface="+mn-ea"/>
                </a:rPr>
                <a:t>A</a:t>
              </a:r>
              <a:r>
                <a:rPr lang="zh-CN" altLang="en-US" sz="2400" b="1">
                  <a:solidFill>
                    <a:schemeClr val="bg1"/>
                  </a:solidFill>
                  <a:sym typeface="+mn-ea"/>
                </a:rPr>
                <a:t>mount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  <a:sym typeface="+mn-ea"/>
              </a:endParaRPr>
            </a:p>
          </p:txBody>
        </p:sp>
      </p:grpSp>
      <p:graphicFrame>
        <p:nvGraphicFramePr>
          <p:cNvPr id="36" name="表格 35"/>
          <p:cNvGraphicFramePr/>
          <p:nvPr>
            <p:custDataLst>
              <p:tags r:id="rId3"/>
            </p:custDataLst>
          </p:nvPr>
        </p:nvGraphicFramePr>
        <p:xfrm>
          <a:off x="6439535" y="1749425"/>
          <a:ext cx="5241925" cy="3158490"/>
        </p:xfrm>
        <a:graphic>
          <a:graphicData uri="http://schemas.openxmlformats.org/drawingml/2006/table">
            <a:tbl>
              <a:tblPr/>
              <a:tblGrid>
                <a:gridCol w="128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Compare Years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Change in Rev.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Same-Store Effect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Store Count Effect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2020 vs 2019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8,322,147,620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-1,553,766,501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9,875,914,121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3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2021 vs 2020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-2,137,213,352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-5,802,861,638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CB7E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3,665,648,286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E7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2022 vs 2021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-971,074,916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1,096,555,608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-2,067,630,524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2023 vs 2022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-11,448,647,819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-8,570,625,515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B47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-2,878,022,304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2024 vs 2023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-11,068,347,477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A0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 6,626,141,128 </a:t>
                      </a: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Bold" panose="020B0604020202090204" charset="-122"/>
                        </a:rPr>
                        <a:t> -17,694,488,605 </a:t>
                      </a:r>
                      <a:endParaRPr lang="en-US" altLang="en-US" sz="1200" b="1">
                        <a:solidFill>
                          <a:srgbClr val="000000"/>
                        </a:solidFill>
                        <a:latin typeface="Arial Bold" panose="020B060402020209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6364605" y="1257300"/>
            <a:ext cx="536956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Arial Bold" panose="020B0604020202090204" charset="0"/>
                <a:cs typeface="Arial Bold" panose="020B0604020202090204" charset="0"/>
              </a:rPr>
              <a:t>Drill</a:t>
            </a:r>
            <a:r>
              <a:rPr lang="zh-CN" altLang="en-US" sz="1600" b="1">
                <a:solidFill>
                  <a:srgbClr val="C00000"/>
                </a:solidFill>
                <a:latin typeface="Arial Bold" panose="020B0604020202090204" charset="0"/>
                <a:cs typeface="Arial Bold" panose="020B0604020202090204" charset="0"/>
              </a:rPr>
              <a:t> down the revenue changes over the past </a:t>
            </a:r>
            <a:r>
              <a:rPr lang="en-US" altLang="zh-CN" sz="1600" b="1">
                <a:solidFill>
                  <a:srgbClr val="C00000"/>
                </a:solidFill>
                <a:latin typeface="Arial Bold" panose="020B0604020202090204" charset="0"/>
                <a:cs typeface="Arial Bold" panose="020B0604020202090204" charset="0"/>
              </a:rPr>
              <a:t>5</a:t>
            </a:r>
            <a:r>
              <a:rPr lang="zh-CN" altLang="en-US" sz="1600" b="1">
                <a:solidFill>
                  <a:srgbClr val="C00000"/>
                </a:solidFill>
                <a:latin typeface="Arial Bold" panose="020B0604020202090204" charset="0"/>
                <a:cs typeface="Arial Bold" panose="020B0604020202090204" charset="0"/>
              </a:rPr>
              <a:t> years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4BA1F9C-8A1F-B77F-7C1C-4F9AC9A9D4E7}"/>
              </a:ext>
            </a:extLst>
          </p:cNvPr>
          <p:cNvGrpSpPr/>
          <p:nvPr/>
        </p:nvGrpSpPr>
        <p:grpSpPr>
          <a:xfrm>
            <a:off x="272788" y="134545"/>
            <a:ext cx="10832465" cy="1231885"/>
            <a:chOff x="247015" y="-40174"/>
            <a:chExt cx="10832465" cy="123188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AA7ED09-492F-95A9-1E53-674E26422C0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3022188-9335-661C-6248-5C81417FAE3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82575" y="422270"/>
              <a:ext cx="9026525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2.1 Revenue Decomposition</a:t>
              </a:r>
            </a:p>
            <a:p>
              <a:pPr>
                <a:buClrTx/>
                <a:buSzTx/>
                <a:buFontTx/>
              </a:pPr>
              <a:endPara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803A860-F4C6-96D5-989D-403D4632BB0C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1" name="文本框 64">
              <a:extLst>
                <a:ext uri="{FF2B5EF4-FFF2-40B4-BE49-F238E27FC236}">
                  <a16:creationId xmlns:a16="http://schemas.microsoft.com/office/drawing/2014/main" id="{4F67EAC6-7AB5-D53A-F45F-1FE2CFC8734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7" name="文本框 66">
              <a:extLst>
                <a:ext uri="{FF2B5EF4-FFF2-40B4-BE49-F238E27FC236}">
                  <a16:creationId xmlns:a16="http://schemas.microsoft.com/office/drawing/2014/main" id="{8F0A5F15-F8A8-B585-AAFC-FECB1C8EBD9E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18" name="文本框 67">
              <a:extLst>
                <a:ext uri="{FF2B5EF4-FFF2-40B4-BE49-F238E27FC236}">
                  <a16:creationId xmlns:a16="http://schemas.microsoft.com/office/drawing/2014/main" id="{DCE4C924-2FE3-7F49-DD7D-487F831200F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0" name="文本框 66">
              <a:extLst>
                <a:ext uri="{FF2B5EF4-FFF2-40B4-BE49-F238E27FC236}">
                  <a16:creationId xmlns:a16="http://schemas.microsoft.com/office/drawing/2014/main" id="{3ED015B6-EBC1-0D6B-60E9-BE91D6CD955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图表 15"/>
          <p:cNvGraphicFramePr/>
          <p:nvPr>
            <p:custDataLst>
              <p:tags r:id="rId1"/>
            </p:custDataLst>
          </p:nvPr>
        </p:nvGraphicFramePr>
        <p:xfrm>
          <a:off x="394970" y="1172845"/>
          <a:ext cx="7030720" cy="5022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cxnSp>
        <p:nvCxnSpPr>
          <p:cNvPr id="12" name="直接连接符 24"/>
          <p:cNvCxnSpPr/>
          <p:nvPr>
            <p:custDataLst>
              <p:tags r:id="rId2"/>
            </p:custDataLst>
          </p:nvPr>
        </p:nvCxnSpPr>
        <p:spPr>
          <a:xfrm flipV="1">
            <a:off x="335542" y="1041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628255" y="1124585"/>
            <a:ext cx="4255135" cy="2660015"/>
            <a:chOff x="12013" y="1771"/>
            <a:chExt cx="6701" cy="4189"/>
          </a:xfrm>
        </p:grpSpPr>
        <p:sp>
          <p:nvSpPr>
            <p:cNvPr id="3" name="矩形 2"/>
            <p:cNvSpPr/>
            <p:nvPr>
              <p:custDataLst>
                <p:tags r:id="rId11"/>
              </p:custDataLst>
            </p:nvPr>
          </p:nvSpPr>
          <p:spPr>
            <a:xfrm>
              <a:off x="12013" y="1771"/>
              <a:ext cx="6701" cy="4189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23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199" y="1876"/>
              <a:ext cx="5988" cy="39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/>
                <a:t>2020-2023: </a:t>
              </a:r>
            </a:p>
            <a:p>
              <a:r>
                <a:rPr lang="zh-CN" altLang="en-US" sz="1400"/>
                <a:t>Revenue growth initially came entirely from </a:t>
              </a:r>
              <a:r>
                <a:rPr lang="zh-CN" altLang="en-US" sz="1400" b="1">
                  <a:solidFill>
                    <a:srgbClr val="F2AA8A"/>
                  </a:solidFill>
                </a:rPr>
                <a:t>new stores</a:t>
              </a:r>
              <a:r>
                <a:rPr lang="zh-CN" altLang="en-US" sz="1400"/>
                <a:t>, masking falling same-store sales.</a:t>
              </a:r>
            </a:p>
            <a:p>
              <a:endParaRPr lang="zh-CN" altLang="en-US" sz="1400"/>
            </a:p>
            <a:p>
              <a:r>
                <a:rPr lang="zh-CN" altLang="en-US" sz="1400"/>
                <a:t>From 2021, same-store sales </a:t>
              </a:r>
              <a:r>
                <a:rPr lang="zh-CN" altLang="en-US" sz="1400" b="1">
                  <a:solidFill>
                    <a:srgbClr val="F2AA8A"/>
                  </a:solidFill>
                </a:rPr>
                <a:t>collapse </a:t>
              </a:r>
              <a:r>
                <a:rPr lang="zh-CN" altLang="en-US" sz="1400"/>
                <a:t>became the main cause of revenue loss — a clear sign of a broken store model.</a:t>
              </a:r>
            </a:p>
            <a:p>
              <a:endParaRPr lang="zh-CN" altLang="en-US" sz="1400"/>
            </a:p>
            <a:p>
              <a:r>
                <a:rPr lang="zh-CN" altLang="en-US" sz="1400"/>
                <a:t>Closing stores couldn</a:t>
              </a:r>
              <a:r>
                <a:rPr lang="en-US" altLang="zh-CN" sz="1400"/>
                <a:t>’</a:t>
              </a:r>
              <a:r>
                <a:rPr lang="zh-CN" altLang="en-US" sz="1400"/>
                <a:t>t offset the widespread deterioration in existing locations.</a:t>
              </a:r>
            </a:p>
            <a:p>
              <a:endParaRPr lang="zh-CN" altLang="en-US" sz="140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628890" y="3866515"/>
            <a:ext cx="4372610" cy="2477770"/>
            <a:chOff x="12014" y="6089"/>
            <a:chExt cx="6886" cy="3902"/>
          </a:xfrm>
        </p:grpSpPr>
        <p:sp>
          <p:nvSpPr>
            <p:cNvPr id="20" name="矩形 19"/>
            <p:cNvSpPr/>
            <p:nvPr>
              <p:custDataLst>
                <p:tags r:id="rId10"/>
              </p:custDataLst>
            </p:nvPr>
          </p:nvSpPr>
          <p:spPr>
            <a:xfrm>
              <a:off x="12014" y="6089"/>
              <a:ext cx="6701" cy="3683"/>
            </a:xfrm>
            <a:prstGeom prst="rect">
              <a:avLst/>
            </a:prstGeom>
            <a:solidFill>
              <a:schemeClr val="accent6">
                <a:alpha val="22353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199" y="6194"/>
              <a:ext cx="6701" cy="37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/>
                <a:t>2024: </a:t>
              </a:r>
            </a:p>
            <a:p>
              <a:r>
                <a:rPr lang="en-US" altLang="zh-CN" sz="1400"/>
                <a:t>The revenue drop was almost entirely due to </a:t>
              </a:r>
              <a:r>
                <a:rPr lang="en-US" altLang="zh-CN" sz="1400" b="1">
                  <a:solidFill>
                    <a:srgbClr val="F2AA8A"/>
                  </a:solidFill>
                </a:rPr>
                <a:t>closing 225 stores</a:t>
              </a:r>
              <a:r>
                <a:rPr lang="en-US" altLang="zh-CN" sz="1400"/>
                <a:t>, a massive network cut.</a:t>
              </a:r>
            </a:p>
            <a:p>
              <a:endParaRPr lang="en-US" altLang="zh-CN" sz="1400"/>
            </a:p>
            <a:p>
              <a:r>
                <a:rPr lang="en-US" altLang="zh-CN" sz="1400" b="1">
                  <a:solidFill>
                    <a:srgbClr val="D47329"/>
                  </a:solidFill>
                </a:rPr>
                <a:t>Same-store sales</a:t>
              </a:r>
              <a:r>
                <a:rPr lang="en-US" altLang="zh-CN" sz="1400"/>
                <a:t> turned strongly positive — the remaining smaller network is now selling significantly more per store.</a:t>
              </a:r>
            </a:p>
            <a:p>
              <a:endParaRPr lang="en-US" altLang="zh-CN" sz="1400"/>
            </a:p>
            <a:p>
              <a:r>
                <a:rPr lang="en-US" altLang="zh-CN" sz="1400"/>
                <a:t>Shift in strategy: accepting a smaller business to focus on a healthier core.</a:t>
              </a:r>
            </a:p>
            <a:p>
              <a:endParaRPr lang="en-US" altLang="zh-CN" sz="140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154C5E8-576F-13C2-2429-5D481C7E1F04}"/>
              </a:ext>
            </a:extLst>
          </p:cNvPr>
          <p:cNvGrpSpPr/>
          <p:nvPr/>
        </p:nvGrpSpPr>
        <p:grpSpPr>
          <a:xfrm>
            <a:off x="272788" y="134545"/>
            <a:ext cx="10832465" cy="1231885"/>
            <a:chOff x="247015" y="-40174"/>
            <a:chExt cx="10832465" cy="1231885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4957FE4-9194-B9A4-C1CA-40631C34D08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F59C2F6-A205-8661-CDFB-A6A9D89032C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82575" y="422270"/>
              <a:ext cx="9026525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2.1 Revenue Decomposition</a:t>
              </a:r>
            </a:p>
            <a:p>
              <a:pPr>
                <a:buClrTx/>
                <a:buSzTx/>
                <a:buFontTx/>
              </a:pPr>
              <a:endPara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F143007-FB9B-8936-F09A-1B654AE9D1D0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32" name="文本框 64">
              <a:extLst>
                <a:ext uri="{FF2B5EF4-FFF2-40B4-BE49-F238E27FC236}">
                  <a16:creationId xmlns:a16="http://schemas.microsoft.com/office/drawing/2014/main" id="{FC3E9FC3-83AE-D7B3-0AAF-81EC1640CE9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33" name="文本框 66">
              <a:extLst>
                <a:ext uri="{FF2B5EF4-FFF2-40B4-BE49-F238E27FC236}">
                  <a16:creationId xmlns:a16="http://schemas.microsoft.com/office/drawing/2014/main" id="{271EAE7F-E5AF-A03B-9A1B-BD4F048457E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34" name="文本框 67">
              <a:extLst>
                <a:ext uri="{FF2B5EF4-FFF2-40B4-BE49-F238E27FC236}">
                  <a16:creationId xmlns:a16="http://schemas.microsoft.com/office/drawing/2014/main" id="{3EC3B3FC-817C-F648-CE72-1B9BE6EA956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5" name="文本框 66">
              <a:extLst>
                <a:ext uri="{FF2B5EF4-FFF2-40B4-BE49-F238E27FC236}">
                  <a16:creationId xmlns:a16="http://schemas.microsoft.com/office/drawing/2014/main" id="{55CAF3E9-4854-3FA4-EA8C-D37D1900568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/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ADD11F63-CDA5-D4D1-E524-E58939218B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D19FD0DE-FCC8-F764-A2A5-5BF2628486D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10385" y="1188050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051981E-16AE-7811-A377-A22DCB5FEE3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012168" y="1141471"/>
            <a:ext cx="3500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Stable Gross Margin </a:t>
            </a:r>
            <a:r>
              <a:rPr lang="en-US" altLang="zh-CN" sz="2000" b="1" dirty="0">
                <a:solidFill>
                  <a:srgbClr val="C55A11"/>
                </a:solidFill>
              </a:rPr>
              <a:t>Could Not </a:t>
            </a:r>
            <a:r>
              <a:rPr lang="en-US" altLang="zh-CN" sz="2000" b="1" dirty="0"/>
              <a:t>Prevent a Descent into Loss</a:t>
            </a:r>
            <a:endParaRPr lang="en-US" altLang="zh-CN" sz="2000" dirty="0">
              <a:solidFill>
                <a:schemeClr val="tx1"/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1DCC52-D595-FB8D-DAB1-AF45149DEB7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559286" y="2275931"/>
            <a:ext cx="4411476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Despite a resilient gross margin, the core net profit has been </a:t>
            </a:r>
            <a:r>
              <a:rPr lang="en-US" altLang="zh-CN" sz="2400" dirty="0">
                <a:solidFill>
                  <a:srgbClr val="C55A11"/>
                </a:solidFill>
              </a:rPr>
              <a:t>deeply negative </a:t>
            </a:r>
            <a:r>
              <a:rPr lang="en-US" altLang="zh-CN" sz="2400" dirty="0"/>
              <a:t>since 2021, revealing a fundamental </a:t>
            </a:r>
            <a:r>
              <a:rPr lang="en-US" altLang="zh-CN" sz="2400" b="1" dirty="0">
                <a:solidFill>
                  <a:srgbClr val="C00000"/>
                </a:solidFill>
              </a:rPr>
              <a:t>profitability crisis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pPr algn="just"/>
            <a:endParaRPr lang="en-US" altLang="zh-CN" dirty="0"/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A7639B3-ADD4-EE85-4FA7-7A3BB98459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" y="1041193"/>
            <a:ext cx="7156573" cy="5310646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78B20F0C-8876-78DF-DA72-5649D71CC9C6}"/>
              </a:ext>
            </a:extLst>
          </p:cNvPr>
          <p:cNvGrpSpPr/>
          <p:nvPr/>
        </p:nvGrpSpPr>
        <p:grpSpPr>
          <a:xfrm>
            <a:off x="272788" y="134545"/>
            <a:ext cx="10832465" cy="1231885"/>
            <a:chOff x="247015" y="-40174"/>
            <a:chExt cx="10832465" cy="123188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183F842-DD0D-1704-E2CD-816C521D672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213DC73-8067-5941-5162-156E9CF66FD5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82575" y="422270"/>
              <a:ext cx="9026525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2.2 Profitability Trend</a:t>
              </a:r>
            </a:p>
            <a:p>
              <a:pPr>
                <a:buClrTx/>
                <a:buSzTx/>
                <a:buFontTx/>
              </a:pPr>
              <a:endPara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BDE599A-C02F-4818-6CF7-05AB64F80A55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3" name="文本框 64">
              <a:extLst>
                <a:ext uri="{FF2B5EF4-FFF2-40B4-BE49-F238E27FC236}">
                  <a16:creationId xmlns:a16="http://schemas.microsoft.com/office/drawing/2014/main" id="{3409F3B8-3952-33F5-0CCD-A5AFECCC853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4125762E-DBA1-5667-8D35-C2357ED37CD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6" name="文本框 67">
              <a:extLst>
                <a:ext uri="{FF2B5EF4-FFF2-40B4-BE49-F238E27FC236}">
                  <a16:creationId xmlns:a16="http://schemas.microsoft.com/office/drawing/2014/main" id="{26A27416-ACFE-FCA2-1FB0-8966A0EB51B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7" name="文本框 66">
              <a:extLst>
                <a:ext uri="{FF2B5EF4-FFF2-40B4-BE49-F238E27FC236}">
                  <a16:creationId xmlns:a16="http://schemas.microsoft.com/office/drawing/2014/main" id="{C2C9D164-90AD-FD8B-EDAA-CF0B9EF4978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6F84-0334-409D-7E4B-CF91F81C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7350F1B-A0B0-ADBA-240C-DCFE5A6FFAC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55A60E3-257B-C27C-9728-FF64BE2471A5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E465ECA1-FA7F-12E4-86E6-93843805AC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F4033B68-BB5B-2910-9E97-3E2BD9E1768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406" y="1241815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0B93623-7720-1F58-5CE5-E114D500B96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3348" y="1241815"/>
            <a:ext cx="3500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The </a:t>
            </a:r>
            <a:r>
              <a:rPr lang="en-US" altLang="zh-CN" sz="2000" b="1" dirty="0">
                <a:solidFill>
                  <a:srgbClr val="C55A11"/>
                </a:solidFill>
              </a:rPr>
              <a:t>“Scissors Effect</a:t>
            </a:r>
            <a:r>
              <a:rPr lang="en-US" altLang="zh-CN" sz="2000" b="1" dirty="0"/>
              <a:t>”: Falling Revenue Amplifies Losses</a:t>
            </a:r>
            <a:endParaRPr lang="en-US" altLang="zh-CN" sz="2000" dirty="0">
              <a:solidFill>
                <a:schemeClr val="tx1"/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592539-BCEB-FB82-D2BA-CDCD6F99F859}"/>
              </a:ext>
            </a:extLst>
          </p:cNvPr>
          <p:cNvSpPr/>
          <p:nvPr/>
        </p:nvSpPr>
        <p:spPr>
          <a:xfrm>
            <a:off x="251460" y="2037487"/>
            <a:ext cx="4382540" cy="36804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As revenue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contracted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, the profit margin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collapsed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at a steeper rate, exposing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severe fixed cost rigidity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and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negative operating leverage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1" name="图片 20" descr="图表, 折线图&#10;&#10;AI 生成的内容可能不正确。">
            <a:extLst>
              <a:ext uri="{FF2B5EF4-FFF2-40B4-BE49-F238E27FC236}">
                <a16:creationId xmlns:a16="http://schemas.microsoft.com/office/drawing/2014/main" id="{A4D769A9-C5CD-0767-4D1C-A78E2BB20A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79" y="1060913"/>
            <a:ext cx="7098761" cy="534417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C4EA65C-C342-4B3F-AA71-B0C098B1C47F}"/>
              </a:ext>
            </a:extLst>
          </p:cNvPr>
          <p:cNvGrpSpPr/>
          <p:nvPr/>
        </p:nvGrpSpPr>
        <p:grpSpPr>
          <a:xfrm>
            <a:off x="272788" y="134545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A959C9-1E07-1316-7E82-B451EEDF35A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5EA657-5C3D-0CD0-5C17-BF9EA873094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2.2 Revenue vs. Net Profit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Margin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C6FAE56-ABE8-F686-9C29-4141BDB5163B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3" name="文本框 64">
              <a:extLst>
                <a:ext uri="{FF2B5EF4-FFF2-40B4-BE49-F238E27FC236}">
                  <a16:creationId xmlns:a16="http://schemas.microsoft.com/office/drawing/2014/main" id="{D54EBEED-6FEA-F03A-B860-CE960CFF206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E839FAE3-F35A-940B-61D0-959F16103667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6" name="文本框 67">
              <a:extLst>
                <a:ext uri="{FF2B5EF4-FFF2-40B4-BE49-F238E27FC236}">
                  <a16:creationId xmlns:a16="http://schemas.microsoft.com/office/drawing/2014/main" id="{7FCB45B4-A51E-6D23-6E5E-7A79F5DC3B1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7" name="文本框 66">
              <a:extLst>
                <a:ext uri="{FF2B5EF4-FFF2-40B4-BE49-F238E27FC236}">
                  <a16:creationId xmlns:a16="http://schemas.microsoft.com/office/drawing/2014/main" id="{C9AC0542-A9EA-1CB8-8787-6DF6E7A895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457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5292-7D02-1347-519B-FF89BDD6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42F06DA-6230-2C66-C9B6-52F373B135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5CFE8C6-B3CF-473A-C7BC-BE74D4724700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63594" y="960764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97FD08E-5656-C465-418E-D08DCA2146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7C66C13D-D2E0-21C0-8FF7-F83B4648EDA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38868" y="994454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E71A3BB-9FE5-450F-5023-80660D8DBCA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46972" y="1010529"/>
            <a:ext cx="5649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Gross Profit Completely Devoured by </a:t>
            </a:r>
            <a:r>
              <a:rPr lang="en-US" altLang="zh-CN" sz="2000" b="1" dirty="0">
                <a:solidFill>
                  <a:srgbClr val="C55A11"/>
                </a:solidFill>
              </a:rPr>
              <a:t>Costs</a:t>
            </a:r>
            <a:r>
              <a:rPr lang="en-US" altLang="zh-CN" sz="2000" b="1" dirty="0"/>
              <a:t> (2024)</a:t>
            </a:r>
            <a:endParaRPr lang="en-US" altLang="zh-CN" sz="2000" dirty="0">
              <a:solidFill>
                <a:schemeClr val="tx1"/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23" name="图片 22" descr="图表, 瀑布图&#10;&#10;AI 生成的内容可能不正确。">
            <a:extLst>
              <a:ext uri="{FF2B5EF4-FFF2-40B4-BE49-F238E27FC236}">
                <a16:creationId xmlns:a16="http://schemas.microsoft.com/office/drawing/2014/main" id="{FF33709A-33F8-84E3-0F49-D050CC4B48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9" y="1422784"/>
            <a:ext cx="5056520" cy="4565279"/>
          </a:xfrm>
          <a:prstGeom prst="rect">
            <a:avLst/>
          </a:prstGeom>
        </p:spPr>
      </p:pic>
      <p:pic>
        <p:nvPicPr>
          <p:cNvPr id="27" name="图片 26" descr="图表, 折线图&#10;&#10;AI 生成的内容可能不正确。">
            <a:extLst>
              <a:ext uri="{FF2B5EF4-FFF2-40B4-BE49-F238E27FC236}">
                <a16:creationId xmlns:a16="http://schemas.microsoft.com/office/drawing/2014/main" id="{FD44A409-372B-35D9-5684-7FBCFBFBA4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535" y="1673063"/>
            <a:ext cx="5499744" cy="4121482"/>
          </a:xfrm>
          <a:prstGeom prst="rect">
            <a:avLst/>
          </a:prstGeom>
        </p:spPr>
      </p:pic>
      <p:pic>
        <p:nvPicPr>
          <p:cNvPr id="28" name="图形 27" descr="V 形箭头 纯色填充">
            <a:extLst>
              <a:ext uri="{FF2B5EF4-FFF2-40B4-BE49-F238E27FC236}">
                <a16:creationId xmlns:a16="http://schemas.microsoft.com/office/drawing/2014/main" id="{B196247D-3F12-A2F5-E712-DFDF01856F8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2152" y="980099"/>
            <a:ext cx="501783" cy="50178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455D93F4-4C26-F63A-A8EF-2695BDF20472}"/>
              </a:ext>
            </a:extLst>
          </p:cNvPr>
          <p:cNvSpPr txBox="1"/>
          <p:nvPr/>
        </p:nvSpPr>
        <p:spPr>
          <a:xfrm>
            <a:off x="6539225" y="960764"/>
            <a:ext cx="5056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Operating Costs Consumed an Ever-Larger Share of Revenue</a:t>
            </a:r>
            <a:endParaRPr lang="zh-CN" altLang="en-US" sz="2000" b="1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ECB00A7-DC6F-6A7A-D813-AB56EFD6C48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049055" y="995706"/>
            <a:ext cx="37502" cy="5482706"/>
          </a:xfrm>
          <a:prstGeom prst="line">
            <a:avLst/>
          </a:prstGeom>
          <a:ln w="38100" cap="flat" cmpd="sng" algn="ctr">
            <a:solidFill>
              <a:srgbClr val="D70A2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CD1FEA4-65E2-9988-EF36-FA2FE09FD5B5}"/>
              </a:ext>
            </a:extLst>
          </p:cNvPr>
          <p:cNvSpPr txBox="1"/>
          <p:nvPr/>
        </p:nvSpPr>
        <p:spPr>
          <a:xfrm>
            <a:off x="63594" y="5897236"/>
            <a:ext cx="6110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 2024, operating costs completely </a:t>
            </a:r>
            <a:r>
              <a:rPr lang="en-US" altLang="zh-CN" b="1" dirty="0">
                <a:solidFill>
                  <a:srgbClr val="C55A11"/>
                </a:solidFill>
              </a:rPr>
              <a:t>devoured</a:t>
            </a:r>
            <a:r>
              <a:rPr lang="en-US" altLang="zh-CN" dirty="0"/>
              <a:t> the gross profit, leading to a </a:t>
            </a:r>
            <a:r>
              <a:rPr lang="en-US" altLang="zh-CN" b="1" dirty="0">
                <a:solidFill>
                  <a:srgbClr val="C55A11"/>
                </a:solidFill>
              </a:rPr>
              <a:t>net loss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3CB455A-49EA-A97E-22FF-110BBFFA2989}"/>
              </a:ext>
            </a:extLst>
          </p:cNvPr>
          <p:cNvSpPr txBox="1"/>
          <p:nvPr/>
        </p:nvSpPr>
        <p:spPr>
          <a:xfrm>
            <a:off x="6132563" y="5832081"/>
            <a:ext cx="6110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expense-to-revenue ratio has </a:t>
            </a:r>
            <a:r>
              <a:rPr lang="en-US" altLang="zh-CN" b="1" dirty="0">
                <a:solidFill>
                  <a:srgbClr val="C55A11"/>
                </a:solidFill>
              </a:rPr>
              <a:t>climbed</a:t>
            </a:r>
            <a:r>
              <a:rPr lang="en-US" altLang="zh-CN" dirty="0"/>
              <a:t> persistently since 2021, proving the </a:t>
            </a:r>
            <a:r>
              <a:rPr lang="en-US" altLang="zh-CN" b="1" dirty="0">
                <a:solidFill>
                  <a:srgbClr val="C55A11"/>
                </a:solidFill>
              </a:rPr>
              <a:t>cost pressure </a:t>
            </a:r>
            <a:r>
              <a:rPr lang="en-US" altLang="zh-CN" dirty="0"/>
              <a:t>is intensifying.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B51334E-BB1D-888F-0B65-2D3F60D2CF0C}"/>
              </a:ext>
            </a:extLst>
          </p:cNvPr>
          <p:cNvGrpSpPr/>
          <p:nvPr/>
        </p:nvGrpSpPr>
        <p:grpSpPr>
          <a:xfrm>
            <a:off x="113862" y="42976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CA2242E-56EC-7477-08EB-08EEAD453729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095A3AF-F294-C95A-19CC-645FAA4C3CAD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2.2 Profit Structure Breakdown &amp; Operating Expense Ratio Trend 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5829019-8646-0590-93AA-67A02B57317D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2" name="文本框 64">
              <a:extLst>
                <a:ext uri="{FF2B5EF4-FFF2-40B4-BE49-F238E27FC236}">
                  <a16:creationId xmlns:a16="http://schemas.microsoft.com/office/drawing/2014/main" id="{0454EF0C-64E8-4A26-6FF5-045076C6BE8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588C4598-A377-BD9C-FE52-5BED23EF914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6" name="文本框 67">
              <a:extLst>
                <a:ext uri="{FF2B5EF4-FFF2-40B4-BE49-F238E27FC236}">
                  <a16:creationId xmlns:a16="http://schemas.microsoft.com/office/drawing/2014/main" id="{18F925A3-A7DC-638C-993F-AD0AABF7458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9" name="文本框 66">
              <a:extLst>
                <a:ext uri="{FF2B5EF4-FFF2-40B4-BE49-F238E27FC236}">
                  <a16:creationId xmlns:a16="http://schemas.microsoft.com/office/drawing/2014/main" id="{665D69CD-0B99-1D02-8921-3327F14FBA8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770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6F12-8257-A0B4-38B0-9281B960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A6D2EA9B-6C4A-3615-E5F5-FEC57C313B30}"/>
              </a:ext>
            </a:extLst>
          </p:cNvPr>
          <p:cNvSpPr/>
          <p:nvPr/>
        </p:nvSpPr>
        <p:spPr>
          <a:xfrm>
            <a:off x="8053730" y="1701443"/>
            <a:ext cx="3662298" cy="4398273"/>
          </a:xfrm>
          <a:prstGeom prst="rect">
            <a:avLst/>
          </a:prstGeom>
          <a:solidFill>
            <a:schemeClr val="accent6">
              <a:alpha val="223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E699BEF3-D6D8-2CE8-2861-25CEA5D0DCCD}"/>
              </a:ext>
            </a:extLst>
          </p:cNvPr>
          <p:cNvSpPr/>
          <p:nvPr/>
        </p:nvSpPr>
        <p:spPr>
          <a:xfrm>
            <a:off x="8646637" y="1451323"/>
            <a:ext cx="2612399" cy="437841"/>
          </a:xfrm>
          <a:prstGeom prst="roundRect">
            <a:avLst>
              <a:gd name="adj" fmla="val 771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F8BF0B0-E79E-6D7D-D8F6-64649594693D}"/>
              </a:ext>
            </a:extLst>
          </p:cNvPr>
          <p:cNvSpPr/>
          <p:nvPr/>
        </p:nvSpPr>
        <p:spPr>
          <a:xfrm>
            <a:off x="4296939" y="1701444"/>
            <a:ext cx="3557270" cy="4398273"/>
          </a:xfrm>
          <a:prstGeom prst="rect">
            <a:avLst/>
          </a:prstGeom>
          <a:solidFill>
            <a:schemeClr val="accent6">
              <a:alpha val="223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F0B25E7-5AF7-C8F4-4845-73BFCC85E2EE}"/>
              </a:ext>
            </a:extLst>
          </p:cNvPr>
          <p:cNvSpPr/>
          <p:nvPr/>
        </p:nvSpPr>
        <p:spPr>
          <a:xfrm>
            <a:off x="4930697" y="1437059"/>
            <a:ext cx="2330605" cy="437841"/>
          </a:xfrm>
          <a:prstGeom prst="roundRect">
            <a:avLst>
              <a:gd name="adj" fmla="val 771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189E6E-60A3-9B97-CCFD-5E064547D6EE}"/>
              </a:ext>
            </a:extLst>
          </p:cNvPr>
          <p:cNvSpPr/>
          <p:nvPr/>
        </p:nvSpPr>
        <p:spPr>
          <a:xfrm>
            <a:off x="323385" y="1655980"/>
            <a:ext cx="3814884" cy="4443737"/>
          </a:xfrm>
          <a:prstGeom prst="rect">
            <a:avLst/>
          </a:prstGeom>
          <a:solidFill>
            <a:schemeClr val="accent3">
              <a:lumMod val="60000"/>
              <a:lumOff val="40000"/>
              <a:alpha val="223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086807-10A8-8CBA-34F2-E5580CA803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3DEB0C0-11A2-BE3E-A508-AF20A6F9BD50}"/>
              </a:ext>
            </a:extLst>
          </p:cNvPr>
          <p:cNvSpPr txBox="1"/>
          <p:nvPr/>
        </p:nvSpPr>
        <p:spPr>
          <a:xfrm>
            <a:off x="772191" y="5484883"/>
            <a:ext cx="3325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zh-CN" sz="1400" b="1" dirty="0">
                <a:solidFill>
                  <a:srgbClr val="C54A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expanded </a:t>
            </a:r>
            <a:r>
              <a:rPr lang="e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until 2022</a:t>
            </a:r>
            <a:r>
              <a:rPr lang="e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, followed by consolidation.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E52F3C-AD13-66FA-1EEF-72EA442ECF13}"/>
              </a:ext>
            </a:extLst>
          </p:cNvPr>
          <p:cNvSpPr txBox="1"/>
          <p:nvPr/>
        </p:nvSpPr>
        <p:spPr>
          <a:xfrm>
            <a:off x="4353276" y="5592604"/>
            <a:ext cx="3411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Declined steadily </a:t>
            </a:r>
            <a:r>
              <a:rPr lang="e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during the period.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1A3D60A-3852-1045-DE88-0BB679B88F65}"/>
              </a:ext>
            </a:extLst>
          </p:cNvPr>
          <p:cNvSpPr txBox="1"/>
          <p:nvPr/>
        </p:nvSpPr>
        <p:spPr>
          <a:xfrm>
            <a:off x="8290023" y="5413450"/>
            <a:ext cx="34260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14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Turned negative </a:t>
            </a:r>
            <a:r>
              <a:rPr lang="e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since 2021 &amp; remained below zero.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55C16F2-BDB1-757F-BEEC-E2C2E6473931}"/>
              </a:ext>
            </a:extLst>
          </p:cNvPr>
          <p:cNvSpPr/>
          <p:nvPr/>
        </p:nvSpPr>
        <p:spPr>
          <a:xfrm>
            <a:off x="1168272" y="1437059"/>
            <a:ext cx="2330605" cy="437841"/>
          </a:xfrm>
          <a:prstGeom prst="roundRect">
            <a:avLst>
              <a:gd name="adj" fmla="val 7717"/>
            </a:avLst>
          </a:prstGeom>
          <a:solidFill>
            <a:srgbClr val="C54A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50EA7C-7F41-7329-9D48-9B35762A064F}"/>
              </a:ext>
            </a:extLst>
          </p:cNvPr>
          <p:cNvSpPr txBox="1"/>
          <p:nvPr/>
        </p:nvSpPr>
        <p:spPr>
          <a:xfrm>
            <a:off x="1553301" y="1494632"/>
            <a:ext cx="1627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</a:t>
            </a:r>
            <a:endParaRPr lang="en" altLang="zh-C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7426F32-B3AA-AAA5-0B33-D728A05E83A1}"/>
              </a:ext>
            </a:extLst>
          </p:cNvPr>
          <p:cNvSpPr txBox="1"/>
          <p:nvPr/>
        </p:nvSpPr>
        <p:spPr>
          <a:xfrm>
            <a:off x="5166726" y="1488904"/>
            <a:ext cx="1885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lang="zh-CN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endParaRPr lang="en" altLang="zh-C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17168CE8-A654-149E-D797-71E5411806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3286" y="2139284"/>
            <a:ext cx="3349345" cy="3090286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5CCF0D0-7FC1-485E-EDD8-637069EEFD11}"/>
              </a:ext>
            </a:extLst>
          </p:cNvPr>
          <p:cNvSpPr txBox="1"/>
          <p:nvPr/>
        </p:nvSpPr>
        <p:spPr>
          <a:xfrm>
            <a:off x="8754995" y="1502090"/>
            <a:ext cx="24960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</a:rPr>
              <a:t>Operating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profit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per</a:t>
            </a:r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store</a:t>
            </a:r>
            <a:endParaRPr lang="en" altLang="zh-CN" sz="1400" dirty="0">
              <a:solidFill>
                <a:schemeClr val="bg1"/>
              </a:solidFill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502B3E1-BA59-8C5A-7D7D-3567BDCAF7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8213" y="2093821"/>
            <a:ext cx="3325227" cy="3325227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B56BD886-827B-E869-9A01-01EFE4EE6416}"/>
              </a:ext>
            </a:extLst>
          </p:cNvPr>
          <p:cNvSpPr txBox="1"/>
          <p:nvPr/>
        </p:nvSpPr>
        <p:spPr>
          <a:xfrm>
            <a:off x="10452149" y="2105520"/>
            <a:ext cx="1105635" cy="230832"/>
          </a:xfrm>
          <a:prstGeom prst="rect">
            <a:avLst/>
          </a:prstGeom>
          <a:noFill/>
        </p:spPr>
        <p:txBody>
          <a:bodyPr vert="horz" wrap="square" anchor="ctr">
            <a:spAutoFit/>
          </a:bodyPr>
          <a:lstStyle/>
          <a:p>
            <a:r>
              <a:rPr lang="en" altLang="zh-CN" sz="9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(Unit: CNY million)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1B450DC0-CD87-8FE3-A94E-81D0DA5EBA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9850" y="2093821"/>
            <a:ext cx="3238154" cy="332712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C3DCC569-7401-EAD2-24C1-5977755712A6}"/>
              </a:ext>
            </a:extLst>
          </p:cNvPr>
          <p:cNvSpPr txBox="1"/>
          <p:nvPr/>
        </p:nvSpPr>
        <p:spPr>
          <a:xfrm>
            <a:off x="6544387" y="2124834"/>
            <a:ext cx="1105635" cy="230832"/>
          </a:xfrm>
          <a:prstGeom prst="rect">
            <a:avLst/>
          </a:prstGeom>
          <a:noFill/>
        </p:spPr>
        <p:txBody>
          <a:bodyPr vert="horz" wrap="square" anchor="ctr">
            <a:spAutoFit/>
          </a:bodyPr>
          <a:lstStyle/>
          <a:p>
            <a:r>
              <a:rPr lang="en" altLang="zh-CN" sz="9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(Unit: CNY million)</a:t>
            </a:r>
          </a:p>
        </p:txBody>
      </p:sp>
      <p:cxnSp>
        <p:nvCxnSpPr>
          <p:cNvPr id="56" name="直接连接符 24">
            <a:extLst>
              <a:ext uri="{FF2B5EF4-FFF2-40B4-BE49-F238E27FC236}">
                <a16:creationId xmlns:a16="http://schemas.microsoft.com/office/drawing/2014/main" id="{0FB01C74-B8B7-0D0D-EAB4-EA719755D1EB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35542" y="1041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3FD8C113-8A57-E27B-8C3E-F84FBDC7D809}"/>
              </a:ext>
            </a:extLst>
          </p:cNvPr>
          <p:cNvGrpSpPr/>
          <p:nvPr/>
        </p:nvGrpSpPr>
        <p:grpSpPr>
          <a:xfrm>
            <a:off x="272788" y="134545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D5A282B-7255-7913-B663-F3EEA7E6FCD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59C45E8-FE7C-691E-E196-2C961F2FBAD0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2.3 Store Expansion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237B197-FCCB-07AF-04C8-FE0A368997ED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8" name="文本框 64">
              <a:extLst>
                <a:ext uri="{FF2B5EF4-FFF2-40B4-BE49-F238E27FC236}">
                  <a16:creationId xmlns:a16="http://schemas.microsoft.com/office/drawing/2014/main" id="{2495793B-2F19-0B00-8463-B8C7442A0187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9" name="文本框 66">
              <a:extLst>
                <a:ext uri="{FF2B5EF4-FFF2-40B4-BE49-F238E27FC236}">
                  <a16:creationId xmlns:a16="http://schemas.microsoft.com/office/drawing/2014/main" id="{67A268EC-0B10-945A-2E6D-033313AEC8C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0" name="文本框 67">
              <a:extLst>
                <a:ext uri="{FF2B5EF4-FFF2-40B4-BE49-F238E27FC236}">
                  <a16:creationId xmlns:a16="http://schemas.microsoft.com/office/drawing/2014/main" id="{749A7204-FB39-9ABD-803A-94193B91173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1" name="文本框 66">
              <a:extLst>
                <a:ext uri="{FF2B5EF4-FFF2-40B4-BE49-F238E27FC236}">
                  <a16:creationId xmlns:a16="http://schemas.microsoft.com/office/drawing/2014/main" id="{2FA2E9A5-88F8-BFC0-B770-8933E53600B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80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24">
            <a:extLst>
              <a:ext uri="{FF2B5EF4-FFF2-40B4-BE49-F238E27FC236}">
                <a16:creationId xmlns:a16="http://schemas.microsoft.com/office/drawing/2014/main" id="{A890C3EB-0160-C759-7E70-0D405CAE168B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35542" y="1041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3E990216-59B0-AC36-8827-28B78CD8A0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B307E55-3168-0C51-24AB-A9E448801C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274" y="1955365"/>
            <a:ext cx="4080376" cy="411596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1AB36A6-DD6D-78A2-482B-1D771A089770}"/>
              </a:ext>
            </a:extLst>
          </p:cNvPr>
          <p:cNvSpPr txBox="1"/>
          <p:nvPr/>
        </p:nvSpPr>
        <p:spPr>
          <a:xfrm>
            <a:off x="1129279" y="1395316"/>
            <a:ext cx="3657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  <a:r>
              <a: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days</a:t>
            </a:r>
            <a:endParaRPr lang="en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2D5C4D1-9760-9F5F-E2D1-624965714174}"/>
              </a:ext>
            </a:extLst>
          </p:cNvPr>
          <p:cNvGrpSpPr/>
          <p:nvPr/>
        </p:nvGrpSpPr>
        <p:grpSpPr>
          <a:xfrm>
            <a:off x="5738646" y="1865604"/>
            <a:ext cx="5788989" cy="3804624"/>
            <a:chOff x="5422282" y="2282043"/>
            <a:chExt cx="6244640" cy="195695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EF246E-DC34-BA01-2A5A-11B5EE0914F0}"/>
                </a:ext>
              </a:extLst>
            </p:cNvPr>
            <p:cNvSpPr txBox="1"/>
            <p:nvPr/>
          </p:nvSpPr>
          <p:spPr>
            <a:xfrm>
              <a:off x="5422282" y="2282043"/>
              <a:ext cx="6227956" cy="6078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High inventory intensity (&gt;50 days)</a:t>
              </a:r>
              <a:br>
                <a:rPr lang="en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→ higher spoilage risk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&amp;</a:t>
              </a:r>
              <a: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working-capital lock-up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C669C2B-75F8-EE40-3D3A-444C0024AB4D}"/>
                </a:ext>
              </a:extLst>
            </p:cNvPr>
            <p:cNvSpPr txBox="1"/>
            <p:nvPr/>
          </p:nvSpPr>
          <p:spPr>
            <a:xfrm>
              <a:off x="5438967" y="3052397"/>
              <a:ext cx="6227955" cy="425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Fresh-food–dominant model</a:t>
              </a:r>
              <a:b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→ limited flexibility in inventory reduction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99A7080-5402-1190-8D16-0502D8F4E745}"/>
                </a:ext>
              </a:extLst>
            </p:cNvPr>
            <p:cNvSpPr txBox="1"/>
            <p:nvPr/>
          </p:nvSpPr>
          <p:spPr>
            <a:xfrm>
              <a:off x="5438967" y="3813516"/>
              <a:ext cx="5556136" cy="425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Result</a:t>
              </a:r>
              <a:r>
                <a:rPr lang="zh-CN" alt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：</a:t>
              </a:r>
              <a: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Cost pressure persists, constraining margin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&amp;</a:t>
              </a:r>
              <a:r>
                <a:rPr lang="en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profit recovery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9424D5FA-BC0C-D294-82E0-4D26D2CE0B63}"/>
              </a:ext>
            </a:extLst>
          </p:cNvPr>
          <p:cNvSpPr txBox="1"/>
          <p:nvPr/>
        </p:nvSpPr>
        <p:spPr>
          <a:xfrm>
            <a:off x="3757960" y="1955365"/>
            <a:ext cx="9813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Unit: days )</a:t>
            </a:r>
            <a:endParaRPr kumimoji="1" lang="zh-CN" altLang="en-US" sz="11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481B1AF-684B-3384-8462-1BB6DB247A9E}"/>
              </a:ext>
            </a:extLst>
          </p:cNvPr>
          <p:cNvGrpSpPr/>
          <p:nvPr/>
        </p:nvGrpSpPr>
        <p:grpSpPr>
          <a:xfrm>
            <a:off x="272788" y="134545"/>
            <a:ext cx="10832465" cy="893331"/>
            <a:chOff x="247015" y="-40174"/>
            <a:chExt cx="10832465" cy="893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3ECFF16-236E-3520-B11D-066D6E911C7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011793-EBA6-C862-71E9-DAB7AD93D8C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en-US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2.3 High Inventory Turnover Days</a:t>
              </a: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582ABAE8-009D-7649-4DEC-6EEC9820D0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914" y="1708195"/>
            <a:ext cx="6018446" cy="4019505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741DF5A-BE7C-56F2-8493-BC5A6ABCBB01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3" name="文本框 64">
              <a:extLst>
                <a:ext uri="{FF2B5EF4-FFF2-40B4-BE49-F238E27FC236}">
                  <a16:creationId xmlns:a16="http://schemas.microsoft.com/office/drawing/2014/main" id="{24867C8F-20BF-C704-FC63-8C8B25513D41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5" name="文本框 66">
              <a:extLst>
                <a:ext uri="{FF2B5EF4-FFF2-40B4-BE49-F238E27FC236}">
                  <a16:creationId xmlns:a16="http://schemas.microsoft.com/office/drawing/2014/main" id="{74CED2CC-A13E-0B4E-97B2-F8AA9BB468D8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9" name="文本框 67">
              <a:extLst>
                <a:ext uri="{FF2B5EF4-FFF2-40B4-BE49-F238E27FC236}">
                  <a16:creationId xmlns:a16="http://schemas.microsoft.com/office/drawing/2014/main" id="{A4FA2593-AF8A-E11F-3D74-3553F5E2DFDE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0" name="文本框 66">
              <a:extLst>
                <a:ext uri="{FF2B5EF4-FFF2-40B4-BE49-F238E27FC236}">
                  <a16:creationId xmlns:a16="http://schemas.microsoft.com/office/drawing/2014/main" id="{8AE03E47-8E05-9F64-FF48-D3EB4339BC1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687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3695-49FE-1604-8A71-EC4448F1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24">
            <a:extLst>
              <a:ext uri="{FF2B5EF4-FFF2-40B4-BE49-F238E27FC236}">
                <a16:creationId xmlns:a16="http://schemas.microsoft.com/office/drawing/2014/main" id="{BD463610-D2F1-8E63-4D56-0895736B3F9F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35542" y="1041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158F11F-FFA6-6C2A-33F1-B24BD582A2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240388D-B2C1-DBE9-0E69-B5864D9D45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029" y="1851761"/>
            <a:ext cx="4844217" cy="366177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82F73BE-2254-1518-FAA9-6066A6591F0A}"/>
              </a:ext>
            </a:extLst>
          </p:cNvPr>
          <p:cNvSpPr txBox="1"/>
          <p:nvPr/>
        </p:nvSpPr>
        <p:spPr>
          <a:xfrm>
            <a:off x="1692041" y="1258043"/>
            <a:ext cx="3264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Avg. Region Revenue Share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A4E07E3-685F-9E6F-A13C-8F7B5AF4E133}"/>
              </a:ext>
            </a:extLst>
          </p:cNvPr>
          <p:cNvSpPr txBox="1"/>
          <p:nvPr/>
        </p:nvSpPr>
        <p:spPr>
          <a:xfrm>
            <a:off x="7563771" y="1258043"/>
            <a:ext cx="2866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Avg. Region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Gross</a:t>
            </a: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7FB88C-0CF9-AD83-4237-69DBAB6B9054}"/>
              </a:ext>
            </a:extLst>
          </p:cNvPr>
          <p:cNvSpPr/>
          <p:nvPr/>
        </p:nvSpPr>
        <p:spPr>
          <a:xfrm>
            <a:off x="4192255" y="1812953"/>
            <a:ext cx="1324991" cy="3717229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2A2A2D4-4A5D-8636-9B42-A252BE5ACE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2802" y="2027542"/>
            <a:ext cx="4886092" cy="3217971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8548569-39BD-8687-AC6B-560FB0FF2475}"/>
              </a:ext>
            </a:extLst>
          </p:cNvPr>
          <p:cNvSpPr/>
          <p:nvPr/>
        </p:nvSpPr>
        <p:spPr>
          <a:xfrm>
            <a:off x="8193659" y="1938178"/>
            <a:ext cx="1324991" cy="3307335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775B2F2-933D-3051-50FC-03F75B5EBCA1}"/>
              </a:ext>
            </a:extLst>
          </p:cNvPr>
          <p:cNvSpPr txBox="1"/>
          <p:nvPr/>
        </p:nvSpPr>
        <p:spPr>
          <a:xfrm>
            <a:off x="524580" y="5587857"/>
            <a:ext cx="5841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concentrated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in a few regions (East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West &gt;40%).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2B1FD3-CF4E-A90E-2C12-8D1BEB071A87}"/>
              </a:ext>
            </a:extLst>
          </p:cNvPr>
          <p:cNvSpPr txBox="1"/>
          <p:nvPr/>
        </p:nvSpPr>
        <p:spPr>
          <a:xfrm>
            <a:off x="6522802" y="5474139"/>
            <a:ext cx="5593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High-revenue regions </a:t>
            </a: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generate </a:t>
            </a:r>
            <a:r>
              <a:rPr lang="en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 gross margins.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D1D4248-A913-7E8C-22FF-178BB600476D}"/>
              </a:ext>
            </a:extLst>
          </p:cNvPr>
          <p:cNvSpPr txBox="1"/>
          <p:nvPr/>
        </p:nvSpPr>
        <p:spPr>
          <a:xfrm>
            <a:off x="6805149" y="6091853"/>
            <a:ext cx="497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revenue regions also face </a:t>
            </a:r>
            <a:r>
              <a:rPr lang="en" altLang="zh-CN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costs</a:t>
            </a:r>
            <a:r>
              <a:rPr lang="en" altLang="zh-CN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45E87445-44FB-A8CA-A5A3-3B24468F7118}"/>
              </a:ext>
            </a:extLst>
          </p:cNvPr>
          <p:cNvSpPr/>
          <p:nvPr/>
        </p:nvSpPr>
        <p:spPr>
          <a:xfrm>
            <a:off x="6522801" y="6133900"/>
            <a:ext cx="282348" cy="25422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B822EE6-52BC-AB82-72FD-1EBD7039FAB4}"/>
              </a:ext>
            </a:extLst>
          </p:cNvPr>
          <p:cNvGrpSpPr/>
          <p:nvPr/>
        </p:nvGrpSpPr>
        <p:grpSpPr>
          <a:xfrm>
            <a:off x="272788" y="134545"/>
            <a:ext cx="10832465" cy="893331"/>
            <a:chOff x="247015" y="-40174"/>
            <a:chExt cx="10832465" cy="89333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B9A8FA5-26F3-49C9-2976-5DF8C400FDD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Business Model Analysis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510CDE8-96F9-6D2F-F611-93F2B1F91E1A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2.3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Regional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Revenue Concentration &amp;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Margins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F17461-CB3F-7605-D17D-C1B9C53C3D50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1" name="文本框 64">
              <a:extLst>
                <a:ext uri="{FF2B5EF4-FFF2-40B4-BE49-F238E27FC236}">
                  <a16:creationId xmlns:a16="http://schemas.microsoft.com/office/drawing/2014/main" id="{558DD2BD-9D62-39D9-2BA8-0FCB2E5833F8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5CF31DA5-5B05-E6DA-9565-36E364E99170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7" name="文本框 67">
              <a:extLst>
                <a:ext uri="{FF2B5EF4-FFF2-40B4-BE49-F238E27FC236}">
                  <a16:creationId xmlns:a16="http://schemas.microsoft.com/office/drawing/2014/main" id="{9991B70C-AA38-FB46-B98D-2E56C5007E79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9" name="文本框 66">
              <a:extLst>
                <a:ext uri="{FF2B5EF4-FFF2-40B4-BE49-F238E27FC236}">
                  <a16:creationId xmlns:a16="http://schemas.microsoft.com/office/drawing/2014/main" id="{9EE9927C-8E62-9D78-8607-0568E4D740E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0872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2AE2-EB2E-D1D1-6C04-3E002E6D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13" descr="preencoded.png">
            <a:extLst>
              <a:ext uri="{FF2B5EF4-FFF2-40B4-BE49-F238E27FC236}">
                <a16:creationId xmlns:a16="http://schemas.microsoft.com/office/drawing/2014/main" id="{B5608B9F-7CEC-42F6-D858-084FF46B8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471" y="4762702"/>
            <a:ext cx="4821382" cy="1650644"/>
          </a:xfrm>
          <a:prstGeom prst="rect">
            <a:avLst/>
          </a:prstGeom>
        </p:spPr>
      </p:pic>
      <p:pic>
        <p:nvPicPr>
          <p:cNvPr id="58" name="Image 8" descr="preencoded.png">
            <a:extLst>
              <a:ext uri="{FF2B5EF4-FFF2-40B4-BE49-F238E27FC236}">
                <a16:creationId xmlns:a16="http://schemas.microsoft.com/office/drawing/2014/main" id="{3D3B350E-273F-E3FF-A254-5094FDB28E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836" y="1333499"/>
            <a:ext cx="5975036" cy="5153977"/>
          </a:xfrm>
          <a:prstGeom prst="rect">
            <a:avLst/>
          </a:prstGeom>
        </p:spPr>
      </p:pic>
      <p:pic>
        <p:nvPicPr>
          <p:cNvPr id="48" name="Image 2" descr="preencoded.png">
            <a:extLst>
              <a:ext uri="{FF2B5EF4-FFF2-40B4-BE49-F238E27FC236}">
                <a16:creationId xmlns:a16="http://schemas.microsoft.com/office/drawing/2014/main" id="{C3EDD2F5-B3C6-64D3-46CB-B42C6F0EFD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9064" y="1463010"/>
            <a:ext cx="4163125" cy="3314700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9537BF2-58FC-0AA3-03B3-D581ECA0D29E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26390" y="1083608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966F579F-F20C-EDCE-C2D4-A2A57ABBCA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562100"/>
            <a:ext cx="457200" cy="457200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2B26AB48-6566-12E5-BDD8-0B35512C11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3" y="1638300"/>
            <a:ext cx="257175" cy="304800"/>
          </a:xfrm>
          <a:prstGeom prst="rect">
            <a:avLst/>
          </a:prstGeom>
        </p:spPr>
      </p:pic>
      <p:pic>
        <p:nvPicPr>
          <p:cNvPr id="26" name="Image 14" descr="preencoded.png">
            <a:extLst>
              <a:ext uri="{FF2B5EF4-FFF2-40B4-BE49-F238E27FC236}">
                <a16:creationId xmlns:a16="http://schemas.microsoft.com/office/drawing/2014/main" id="{919AB68F-4A96-C318-54E8-14073C860D6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740" y="4766031"/>
            <a:ext cx="457200" cy="457200"/>
          </a:xfrm>
          <a:prstGeom prst="rect">
            <a:avLst/>
          </a:prstGeom>
        </p:spPr>
      </p:pic>
      <p:pic>
        <p:nvPicPr>
          <p:cNvPr id="27" name="Image 15" descr="preencoded.png">
            <a:extLst>
              <a:ext uri="{FF2B5EF4-FFF2-40B4-BE49-F238E27FC236}">
                <a16:creationId xmlns:a16="http://schemas.microsoft.com/office/drawing/2014/main" id="{A29E4B9F-8B91-6416-B816-57284C483F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557" y="4857927"/>
            <a:ext cx="257175" cy="304800"/>
          </a:xfrm>
          <a:prstGeom prst="rect">
            <a:avLst/>
          </a:prstGeom>
        </p:spPr>
      </p:pic>
      <p:sp>
        <p:nvSpPr>
          <p:cNvPr id="35" name="Text 1">
            <a:extLst>
              <a:ext uri="{FF2B5EF4-FFF2-40B4-BE49-F238E27FC236}">
                <a16:creationId xmlns:a16="http://schemas.microsoft.com/office/drawing/2014/main" id="{7511B686-9DC1-C665-F586-DEA66D121783}"/>
              </a:ext>
            </a:extLst>
          </p:cNvPr>
          <p:cNvSpPr/>
          <p:nvPr/>
        </p:nvSpPr>
        <p:spPr>
          <a:xfrm>
            <a:off x="1295400" y="1638300"/>
            <a:ext cx="250424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Company Basics</a:t>
            </a:r>
            <a:endParaRPr lang="en-US" sz="24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1719A4A-0612-BF66-6270-560C0051CB49}"/>
              </a:ext>
            </a:extLst>
          </p:cNvPr>
          <p:cNvSpPr/>
          <p:nvPr/>
        </p:nvSpPr>
        <p:spPr>
          <a:xfrm>
            <a:off x="1343050" y="4837676"/>
            <a:ext cx="3564132" cy="4661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Financial Performa</a:t>
            </a:r>
            <a:r>
              <a:rPr lang="en-US" altLang="zh-CN" sz="24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</a:rPr>
              <a:t>nce</a:t>
            </a:r>
            <a:endParaRPr lang="en-US" sz="240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81D67836-426A-2C9F-4E4A-0ABA6BB38C1D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2000" dirty="0"/>
          </a:p>
        </p:txBody>
      </p:sp>
      <p:pic>
        <p:nvPicPr>
          <p:cNvPr id="49" name="Image 9" descr="preencoded.png">
            <a:extLst>
              <a:ext uri="{FF2B5EF4-FFF2-40B4-BE49-F238E27FC236}">
                <a16:creationId xmlns:a16="http://schemas.microsoft.com/office/drawing/2014/main" id="{68E7E68C-3CA1-D882-909B-606F362CB9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6912" y="1530225"/>
            <a:ext cx="457200" cy="457200"/>
          </a:xfrm>
          <a:prstGeom prst="rect">
            <a:avLst/>
          </a:prstGeom>
        </p:spPr>
      </p:pic>
      <p:pic>
        <p:nvPicPr>
          <p:cNvPr id="50" name="Image 10" descr="preencoded.png">
            <a:extLst>
              <a:ext uri="{FF2B5EF4-FFF2-40B4-BE49-F238E27FC236}">
                <a16:creationId xmlns:a16="http://schemas.microsoft.com/office/drawing/2014/main" id="{C7CFB5EB-BB77-9C96-B2AE-767CA805024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01696" y="1616441"/>
            <a:ext cx="171450" cy="304800"/>
          </a:xfrm>
          <a:prstGeom prst="rect">
            <a:avLst/>
          </a:prstGeom>
        </p:spPr>
      </p:pic>
      <p:pic>
        <p:nvPicPr>
          <p:cNvPr id="51" name="Image 11" descr="preencoded.png">
            <a:extLst>
              <a:ext uri="{FF2B5EF4-FFF2-40B4-BE49-F238E27FC236}">
                <a16:creationId xmlns:a16="http://schemas.microsoft.com/office/drawing/2014/main" id="{1BA79A27-AA2E-F612-1C34-0379F3405E6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82400" y="1541958"/>
            <a:ext cx="609600" cy="609600"/>
          </a:xfrm>
          <a:prstGeom prst="rect">
            <a:avLst/>
          </a:prstGeom>
        </p:spPr>
      </p:pic>
      <p:pic>
        <p:nvPicPr>
          <p:cNvPr id="52" name="Image 12" descr="preencoded.png">
            <a:extLst>
              <a:ext uri="{FF2B5EF4-FFF2-40B4-BE49-F238E27FC236}">
                <a16:creationId xmlns:a16="http://schemas.microsoft.com/office/drawing/2014/main" id="{C0D9BBDC-02C7-207E-E27B-33EBC42BA1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5537" y="1541958"/>
            <a:ext cx="609600" cy="609600"/>
          </a:xfrm>
          <a:prstGeom prst="rect">
            <a:avLst/>
          </a:prstGeom>
        </p:spPr>
      </p:pic>
      <p:sp>
        <p:nvSpPr>
          <p:cNvPr id="53" name="Text 5">
            <a:extLst>
              <a:ext uri="{FF2B5EF4-FFF2-40B4-BE49-F238E27FC236}">
                <a16:creationId xmlns:a16="http://schemas.microsoft.com/office/drawing/2014/main" id="{0F8602D5-40E2-03F4-F2AF-13BC915CA7B8}"/>
              </a:ext>
            </a:extLst>
          </p:cNvPr>
          <p:cNvSpPr/>
          <p:nvPr/>
        </p:nvSpPr>
        <p:spPr>
          <a:xfrm>
            <a:off x="6482223" y="1609179"/>
            <a:ext cx="234975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Presence</a:t>
            </a:r>
            <a:endParaRPr lang="en-US" sz="24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5A8B99C7-6119-2BBB-A44F-3B92A5AC7DC7}"/>
              </a:ext>
            </a:extLst>
          </p:cNvPr>
          <p:cNvSpPr/>
          <p:nvPr/>
        </p:nvSpPr>
        <p:spPr>
          <a:xfrm>
            <a:off x="8934406" y="1707678"/>
            <a:ext cx="38183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r>
              <a:rPr lang="en-US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80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2407AEAA-B851-0971-E38B-A01B3F57E3B2}"/>
              </a:ext>
            </a:extLst>
          </p:cNvPr>
          <p:cNvSpPr/>
          <p:nvPr/>
        </p:nvSpPr>
        <p:spPr>
          <a:xfrm>
            <a:off x="9467760" y="1754437"/>
            <a:ext cx="9020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Xuchang</a:t>
            </a:r>
            <a:endParaRPr lang="en-US" sz="16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23A5F320-CD31-7201-D450-77D2AC736993}"/>
              </a:ext>
            </a:extLst>
          </p:cNvPr>
          <p:cNvSpPr/>
          <p:nvPr/>
        </p:nvSpPr>
        <p:spPr>
          <a:xfrm>
            <a:off x="10578914" y="1694358"/>
            <a:ext cx="1909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80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19CBC78B-9850-BE75-3F6B-F213A45A21E7}"/>
              </a:ext>
            </a:extLst>
          </p:cNvPr>
          <p:cNvSpPr/>
          <p:nvPr/>
        </p:nvSpPr>
        <p:spPr>
          <a:xfrm>
            <a:off x="11065923" y="1745778"/>
            <a:ext cx="8945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Xinxiang</a:t>
            </a:r>
            <a:endParaRPr lang="en-US" sz="1600" dirty="0"/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50A5886B-C3AD-6844-3D65-FB17B3E60D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30633" y="243335"/>
            <a:ext cx="632868" cy="632868"/>
          </a:xfrm>
          <a:prstGeom prst="rect">
            <a:avLst/>
          </a:prstGeom>
        </p:spPr>
      </p:pic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38087C43-B394-83ED-6FFF-7B450830AE7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34542" y="3051836"/>
            <a:ext cx="3375161" cy="1602192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143E521F-5460-3A8E-481B-76C4DD60148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6599" y="2255787"/>
            <a:ext cx="5915613" cy="4100489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2015084-7F02-E173-2D21-F6252117B85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1698" y="2160826"/>
            <a:ext cx="5005961" cy="1027569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2274474-92C8-0B23-37D8-F157B9B41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37476"/>
              </p:ext>
            </p:extLst>
          </p:nvPr>
        </p:nvGraphicFramePr>
        <p:xfrm>
          <a:off x="857002" y="5236931"/>
          <a:ext cx="4665516" cy="12012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77586">
                  <a:extLst>
                    <a:ext uri="{9D8B030D-6E8A-4147-A177-3AD203B41FA5}">
                      <a16:colId xmlns:a16="http://schemas.microsoft.com/office/drawing/2014/main" val="2169060970"/>
                    </a:ext>
                  </a:extLst>
                </a:gridCol>
                <a:gridCol w="777586">
                  <a:extLst>
                    <a:ext uri="{9D8B030D-6E8A-4147-A177-3AD203B41FA5}">
                      <a16:colId xmlns:a16="http://schemas.microsoft.com/office/drawing/2014/main" val="676609652"/>
                    </a:ext>
                  </a:extLst>
                </a:gridCol>
                <a:gridCol w="777586">
                  <a:extLst>
                    <a:ext uri="{9D8B030D-6E8A-4147-A177-3AD203B41FA5}">
                      <a16:colId xmlns:a16="http://schemas.microsoft.com/office/drawing/2014/main" val="2458358267"/>
                    </a:ext>
                  </a:extLst>
                </a:gridCol>
                <a:gridCol w="777586">
                  <a:extLst>
                    <a:ext uri="{9D8B030D-6E8A-4147-A177-3AD203B41FA5}">
                      <a16:colId xmlns:a16="http://schemas.microsoft.com/office/drawing/2014/main" val="207589534"/>
                    </a:ext>
                  </a:extLst>
                </a:gridCol>
                <a:gridCol w="777586">
                  <a:extLst>
                    <a:ext uri="{9D8B030D-6E8A-4147-A177-3AD203B41FA5}">
                      <a16:colId xmlns:a16="http://schemas.microsoft.com/office/drawing/2014/main" val="3230754545"/>
                    </a:ext>
                  </a:extLst>
                </a:gridCol>
                <a:gridCol w="777586">
                  <a:extLst>
                    <a:ext uri="{9D8B030D-6E8A-4147-A177-3AD203B41FA5}">
                      <a16:colId xmlns:a16="http://schemas.microsoft.com/office/drawing/2014/main" val="1381352261"/>
                    </a:ext>
                  </a:extLst>
                </a:gridCol>
              </a:tblGrid>
              <a:tr h="331599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2024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574355"/>
                  </a:ext>
                </a:extLst>
              </a:tr>
              <a:tr h="331599">
                <a:tc>
                  <a:txBody>
                    <a:bodyPr/>
                    <a:lstStyle/>
                    <a:p>
                      <a:r>
                        <a:rPr lang="en-US" altLang="zh-CN" dirty="0"/>
                        <a:t>Sales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78.5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85.2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92.3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73160"/>
                  </a:ext>
                </a:extLst>
              </a:tr>
              <a:tr h="469766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Net Profit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4.5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6.1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913729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16982115-1C28-F43D-0C5A-E7E308D0D13F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057F442-400F-A921-C25C-42EE45961679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7476962-FC71-4473-AC5D-C3A792B1A6E0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3.1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Company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Overview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137F1DB-FEA1-AC93-0D3C-98072452EAFC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9" name="文本框 64">
              <a:extLst>
                <a:ext uri="{FF2B5EF4-FFF2-40B4-BE49-F238E27FC236}">
                  <a16:creationId xmlns:a16="http://schemas.microsoft.com/office/drawing/2014/main" id="{F2D8C652-9070-7B6D-5F57-1C9B95D1CF46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0" name="文本框 66">
              <a:extLst>
                <a:ext uri="{FF2B5EF4-FFF2-40B4-BE49-F238E27FC236}">
                  <a16:creationId xmlns:a16="http://schemas.microsoft.com/office/drawing/2014/main" id="{18753E1F-6891-460B-DEBE-DDA142E22C6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1" name="文本框 67">
              <a:extLst>
                <a:ext uri="{FF2B5EF4-FFF2-40B4-BE49-F238E27FC236}">
                  <a16:creationId xmlns:a16="http://schemas.microsoft.com/office/drawing/2014/main" id="{F8CEC0F8-EF6D-EDA6-53DB-220F1B856923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2" name="文本框 66">
              <a:extLst>
                <a:ext uri="{FF2B5EF4-FFF2-40B4-BE49-F238E27FC236}">
                  <a16:creationId xmlns:a16="http://schemas.microsoft.com/office/drawing/2014/main" id="{372C7627-6EC8-2771-AAB1-185F32C2A95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290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圆角矩形 1028">
            <a:extLst>
              <a:ext uri="{FF2B5EF4-FFF2-40B4-BE49-F238E27FC236}">
                <a16:creationId xmlns:a16="http://schemas.microsoft.com/office/drawing/2014/main" id="{0FEA7ECC-FE63-E5BD-EF92-9BBB0F6F3E7A}"/>
              </a:ext>
            </a:extLst>
          </p:cNvPr>
          <p:cNvSpPr/>
          <p:nvPr/>
        </p:nvSpPr>
        <p:spPr>
          <a:xfrm>
            <a:off x="8272499" y="1254279"/>
            <a:ext cx="3839015" cy="42199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8" name="圆角矩形 1027">
            <a:extLst>
              <a:ext uri="{FF2B5EF4-FFF2-40B4-BE49-F238E27FC236}">
                <a16:creationId xmlns:a16="http://schemas.microsoft.com/office/drawing/2014/main" id="{D5A322EA-11AC-FECC-78A6-D86BF52A8734}"/>
              </a:ext>
            </a:extLst>
          </p:cNvPr>
          <p:cNvSpPr/>
          <p:nvPr/>
        </p:nvSpPr>
        <p:spPr>
          <a:xfrm>
            <a:off x="4122600" y="1238428"/>
            <a:ext cx="3776122" cy="43784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圆角矩形 1026">
            <a:extLst>
              <a:ext uri="{FF2B5EF4-FFF2-40B4-BE49-F238E27FC236}">
                <a16:creationId xmlns:a16="http://schemas.microsoft.com/office/drawing/2014/main" id="{7CBDC0F7-6B46-BEC7-AFA7-06F722254F03}"/>
              </a:ext>
            </a:extLst>
          </p:cNvPr>
          <p:cNvSpPr/>
          <p:nvPr/>
        </p:nvSpPr>
        <p:spPr>
          <a:xfrm>
            <a:off x="318773" y="1244275"/>
            <a:ext cx="3245308" cy="437841"/>
          </a:xfrm>
          <a:prstGeom prst="roundRect">
            <a:avLst>
              <a:gd name="adj" fmla="val 77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 flipV="1">
            <a:off x="326390" y="1083608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3804206" y="1090162"/>
            <a:ext cx="0" cy="2747972"/>
          </a:xfrm>
          <a:prstGeom prst="line">
            <a:avLst/>
          </a:prstGeom>
          <a:ln w="9525" cap="flat" cmpd="sng" algn="ctr">
            <a:solidFill>
              <a:srgbClr val="D70A2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3"/>
            </p:custDataLst>
          </p:nvPr>
        </p:nvCxnSpPr>
        <p:spPr>
          <a:xfrm>
            <a:off x="8158595" y="1063970"/>
            <a:ext cx="36865" cy="5408057"/>
          </a:xfrm>
          <a:prstGeom prst="line">
            <a:avLst/>
          </a:prstGeom>
          <a:ln w="9525" cap="flat" cmpd="sng" algn="ctr">
            <a:solidFill>
              <a:srgbClr val="D70A2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0930DF8-A68B-DDF3-FACD-DDFF02581EC1}"/>
              </a:ext>
            </a:extLst>
          </p:cNvPr>
          <p:cNvSpPr txBox="1"/>
          <p:nvPr/>
        </p:nvSpPr>
        <p:spPr>
          <a:xfrm>
            <a:off x="269829" y="1305241"/>
            <a:ext cx="41832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and Supply Chain</a:t>
            </a:r>
            <a:endParaRPr lang="en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1ABD4C-AED2-5991-CE2D-A001FA3CA9C3}"/>
              </a:ext>
            </a:extLst>
          </p:cNvPr>
          <p:cNvSpPr txBox="1"/>
          <p:nvPr/>
        </p:nvSpPr>
        <p:spPr>
          <a:xfrm>
            <a:off x="4257362" y="1295791"/>
            <a:ext cx="35065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S</a:t>
            </a:r>
            <a:r>
              <a:rPr lang="en-US" altLang="zh-CN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ervice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brand reputation</a:t>
            </a:r>
            <a:endParaRPr lang="en" altLang="zh-C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0A99A3-7675-EE87-B003-3060C504E92D}"/>
              </a:ext>
            </a:extLst>
          </p:cNvPr>
          <p:cNvSpPr txBox="1"/>
          <p:nvPr/>
        </p:nvSpPr>
        <p:spPr>
          <a:xfrm>
            <a:off x="8308280" y="1318387"/>
            <a:ext cx="3839015" cy="31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Organizational and Regional Operation</a:t>
            </a:r>
            <a:endParaRPr lang="en" altLang="zh-C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5E7AEA4-5C3C-2B90-E7C3-5CDD4112F1A6}"/>
              </a:ext>
            </a:extLst>
          </p:cNvPr>
          <p:cNvSpPr txBox="1"/>
          <p:nvPr/>
        </p:nvSpPr>
        <p:spPr>
          <a:xfrm>
            <a:off x="8300150" y="1845670"/>
            <a:ext cx="3847145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Counter-Scale Regional Strategy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Monopoly on Local Markets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Deepen users with offline channels at the core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Avoid Blind Expansion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Employee Empowerment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Holiday days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ea typeface="ui-sans-serif" pitchFamily="34" charset="-122"/>
                <a:cs typeface="ui-sans-serif" pitchFamily="34" charset="-120"/>
              </a:rPr>
              <a:t>140</a:t>
            </a:r>
            <a:r>
              <a:rPr lang="en-US" altLang="zh-CN" sz="2400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 vs 68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turnover rate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solidFill>
                  <a:srgbClr val="FF0000"/>
                </a:solidFill>
                <a:ea typeface="ui-sans-serif" pitchFamily="34" charset="-122"/>
                <a:cs typeface="ui-sans-serif" pitchFamily="34" charset="-120"/>
              </a:rPr>
              <a:t>5%</a:t>
            </a:r>
            <a:r>
              <a:rPr lang="en-US" altLang="zh-CN" sz="2400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 vs 20%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17C5194E-12E8-9A2A-CD47-A7EF863A35B3}"/>
              </a:ext>
            </a:extLst>
          </p:cNvPr>
          <p:cNvSpPr txBox="1"/>
          <p:nvPr/>
        </p:nvSpPr>
        <p:spPr>
          <a:xfrm>
            <a:off x="101361" y="1858874"/>
            <a:ext cx="4156001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Supply Chain Localization(80%)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374151"/>
                </a:solidFill>
                <a:ea typeface="ui-sans-serif" pitchFamily="34" charset="-122"/>
                <a:cs typeface="ui-sans-serif" pitchFamily="34" charset="-120"/>
              </a:rPr>
              <a:t>Private Brand Development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374151"/>
              </a:solidFill>
              <a:ea typeface="ui-sans-serif" pitchFamily="34" charset="-122"/>
              <a:cs typeface="ui-sans-serif" pitchFamily="34" charset="-12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4B5563"/>
                </a:solidFill>
                <a:ea typeface="ui-sans-serif" pitchFamily="34" charset="-122"/>
                <a:cs typeface="ui-sans-serif" pitchFamily="34" charset="-120"/>
              </a:rPr>
              <a:t>Addresses consumer needs for quality and value</a:t>
            </a:r>
            <a:endParaRPr lang="en-US" altLang="zh-CN" sz="20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徽标&#10;&#10;AI 生成的内容可能不正确。">
            <a:extLst>
              <a:ext uri="{FF2B5EF4-FFF2-40B4-BE49-F238E27FC236}">
                <a16:creationId xmlns:a16="http://schemas.microsoft.com/office/drawing/2014/main" id="{7D540E60-31DD-0CEE-3393-56863CE34DA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30633" y="243335"/>
            <a:ext cx="632868" cy="6328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BB91C46-E623-CD75-8487-006F8BEAE21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0563" y="2340284"/>
            <a:ext cx="2387347" cy="1846599"/>
          </a:xfrm>
          <a:prstGeom prst="rect">
            <a:avLst/>
          </a:prstGeom>
        </p:spPr>
      </p:pic>
      <p:pic>
        <p:nvPicPr>
          <p:cNvPr id="11" name="图片 10" descr="电脑萤幕&#10;&#10;AI 生成的内容可能不正确。">
            <a:extLst>
              <a:ext uri="{FF2B5EF4-FFF2-40B4-BE49-F238E27FC236}">
                <a16:creationId xmlns:a16="http://schemas.microsoft.com/office/drawing/2014/main" id="{2CF7E7C8-C410-81D2-66BF-BEE7C6BC745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0563" y="4608508"/>
            <a:ext cx="2218351" cy="884618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9C3F3AE-2933-D8EF-AB7D-28F498D84146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3847568" y="3838134"/>
            <a:ext cx="4268910" cy="0"/>
          </a:xfrm>
          <a:prstGeom prst="line">
            <a:avLst/>
          </a:prstGeom>
          <a:ln w="9525" cap="flat" cmpd="sng" algn="ctr">
            <a:solidFill>
              <a:srgbClr val="D70A2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4" name="Image 17" descr="preencoded.png">
            <a:extLst>
              <a:ext uri="{FF2B5EF4-FFF2-40B4-BE49-F238E27FC236}">
                <a16:creationId xmlns:a16="http://schemas.microsoft.com/office/drawing/2014/main" id="{24181321-70EA-C75C-850C-8E7C157124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1937" y="2700194"/>
            <a:ext cx="533400" cy="533400"/>
          </a:xfrm>
          <a:prstGeom prst="rect">
            <a:avLst/>
          </a:prstGeom>
        </p:spPr>
      </p:pic>
      <p:pic>
        <p:nvPicPr>
          <p:cNvPr id="26" name="Image 18" descr="preencoded.png">
            <a:extLst>
              <a:ext uri="{FF2B5EF4-FFF2-40B4-BE49-F238E27FC236}">
                <a16:creationId xmlns:a16="http://schemas.microsoft.com/office/drawing/2014/main" id="{1332C13F-D0B3-1D29-6B8C-18F26B4048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1636" y="2827973"/>
            <a:ext cx="285750" cy="304800"/>
          </a:xfrm>
          <a:prstGeom prst="rect">
            <a:avLst/>
          </a:prstGeom>
        </p:spPr>
      </p:pic>
      <p:pic>
        <p:nvPicPr>
          <p:cNvPr id="28" name="Image 19" descr="preencoded.png">
            <a:extLst>
              <a:ext uri="{FF2B5EF4-FFF2-40B4-BE49-F238E27FC236}">
                <a16:creationId xmlns:a16="http://schemas.microsoft.com/office/drawing/2014/main" id="{83F23742-9BF4-7E94-73BB-9F3AADF6169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4701" y="1861994"/>
            <a:ext cx="533400" cy="533400"/>
          </a:xfrm>
          <a:prstGeom prst="rect">
            <a:avLst/>
          </a:prstGeom>
        </p:spPr>
      </p:pic>
      <p:pic>
        <p:nvPicPr>
          <p:cNvPr id="29" name="Image 20" descr="preencoded.png">
            <a:extLst>
              <a:ext uri="{FF2B5EF4-FFF2-40B4-BE49-F238E27FC236}">
                <a16:creationId xmlns:a16="http://schemas.microsoft.com/office/drawing/2014/main" id="{C79CAB45-3856-F78B-B478-46B4FFCEF51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38526" y="1976294"/>
            <a:ext cx="285750" cy="304800"/>
          </a:xfrm>
          <a:prstGeom prst="rect">
            <a:avLst/>
          </a:prstGeom>
        </p:spPr>
      </p:pic>
      <p:pic>
        <p:nvPicPr>
          <p:cNvPr id="30" name="Image 21" descr="preencoded.png">
            <a:extLst>
              <a:ext uri="{FF2B5EF4-FFF2-40B4-BE49-F238E27FC236}">
                <a16:creationId xmlns:a16="http://schemas.microsoft.com/office/drawing/2014/main" id="{506D9141-9CF6-C11D-A39D-389A6E3546C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0875" y="2747705"/>
            <a:ext cx="533400" cy="533400"/>
          </a:xfrm>
          <a:prstGeom prst="rect">
            <a:avLst/>
          </a:prstGeom>
        </p:spPr>
      </p:pic>
      <p:pic>
        <p:nvPicPr>
          <p:cNvPr id="32" name="Image 22" descr="preencoded.png">
            <a:extLst>
              <a:ext uri="{FF2B5EF4-FFF2-40B4-BE49-F238E27FC236}">
                <a16:creationId xmlns:a16="http://schemas.microsoft.com/office/drawing/2014/main" id="{3A1A4FE8-BF50-95C0-3384-21D95D7E10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18987" y="2862005"/>
            <a:ext cx="257175" cy="304800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35D5E6BE-2656-5871-E474-84DE3E46CEB1}"/>
              </a:ext>
            </a:extLst>
          </p:cNvPr>
          <p:cNvSpPr/>
          <p:nvPr/>
        </p:nvSpPr>
        <p:spPr>
          <a:xfrm>
            <a:off x="3985774" y="3425329"/>
            <a:ext cx="15039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Extreme Service</a:t>
            </a:r>
            <a:endParaRPr lang="en-US" sz="14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EEE5EE3F-8BB0-5908-BEE1-5F339400F21C}"/>
              </a:ext>
            </a:extLst>
          </p:cNvPr>
          <p:cNvSpPr/>
          <p:nvPr/>
        </p:nvSpPr>
        <p:spPr>
          <a:xfrm>
            <a:off x="5308832" y="2471594"/>
            <a:ext cx="13449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Word-of-Mouth</a:t>
            </a:r>
            <a:endParaRPr lang="en-US" sz="14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AE1CDB0B-506B-7F47-850C-712716837DD9}"/>
              </a:ext>
            </a:extLst>
          </p:cNvPr>
          <p:cNvSpPr/>
          <p:nvPr/>
        </p:nvSpPr>
        <p:spPr>
          <a:xfrm>
            <a:off x="6680294" y="3394620"/>
            <a:ext cx="12644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Brand Loyalty</a:t>
            </a:r>
            <a:endParaRPr lang="en-US" sz="1400" dirty="0"/>
          </a:p>
        </p:txBody>
      </p:sp>
      <p:pic>
        <p:nvPicPr>
          <p:cNvPr id="38" name="图片 37" descr="图表&#10;&#10;AI 生成的内容可能不正确。">
            <a:extLst>
              <a:ext uri="{FF2B5EF4-FFF2-40B4-BE49-F238E27FC236}">
                <a16:creationId xmlns:a16="http://schemas.microsoft.com/office/drawing/2014/main" id="{A358B723-713A-B3B4-78CB-C532D9D10DE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67113" y="3941293"/>
            <a:ext cx="4305042" cy="2545079"/>
          </a:xfrm>
          <a:prstGeom prst="rect">
            <a:avLst/>
          </a:prstGeom>
        </p:spPr>
      </p:pic>
      <p:pic>
        <p:nvPicPr>
          <p:cNvPr id="43" name="图片 42" descr="表格&#10;&#10;AI 生成的内容可能不正确。">
            <a:extLst>
              <a:ext uri="{FF2B5EF4-FFF2-40B4-BE49-F238E27FC236}">
                <a16:creationId xmlns:a16="http://schemas.microsoft.com/office/drawing/2014/main" id="{60E8F65F-D8ED-7921-2F3C-625AF889946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-2709" t="447" r="29128" b="-447"/>
          <a:stretch>
            <a:fillRect/>
          </a:stretch>
        </p:blipFill>
        <p:spPr>
          <a:xfrm>
            <a:off x="9700233" y="4289085"/>
            <a:ext cx="2227562" cy="195227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37BA04F-1233-754A-2F49-EEB78BC3A1F8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134AEB0-7EC5-A9D4-1455-95F6403F3FF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8D73C40-6CDE-6F8D-E9DE-8C88A9BA71F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3.1 Unique Business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Strategy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D44E5BA-6D06-D376-DBFC-0E15210E2979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36" name="文本框 64">
              <a:extLst>
                <a:ext uri="{FF2B5EF4-FFF2-40B4-BE49-F238E27FC236}">
                  <a16:creationId xmlns:a16="http://schemas.microsoft.com/office/drawing/2014/main" id="{57EB87B2-8271-ACCF-B051-553681782F1F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37" name="文本框 66">
              <a:extLst>
                <a:ext uri="{FF2B5EF4-FFF2-40B4-BE49-F238E27FC236}">
                  <a16:creationId xmlns:a16="http://schemas.microsoft.com/office/drawing/2014/main" id="{7D228776-D006-000D-E26D-265754A8BAE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9" name="文本框 67">
              <a:extLst>
                <a:ext uri="{FF2B5EF4-FFF2-40B4-BE49-F238E27FC236}">
                  <a16:creationId xmlns:a16="http://schemas.microsoft.com/office/drawing/2014/main" id="{0881AA63-DBC9-0B2D-3388-CC8519F3FF4A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40" name="文本框 66">
              <a:extLst>
                <a:ext uri="{FF2B5EF4-FFF2-40B4-BE49-F238E27FC236}">
                  <a16:creationId xmlns:a16="http://schemas.microsoft.com/office/drawing/2014/main" id="{1D2EDFF5-18DE-1C9F-CA27-FDD0D90C304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80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980D-67F6-EAD0-5DCE-399DF5E0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03D4E33-4777-FD75-CD3E-F13EFDD4F48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206C7C2-E9F3-C8A2-39FA-7C402FD8DA23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V="1">
            <a:off x="326390" y="1083608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1E4EEAC3-D584-B8BF-883C-4DE5E7D87F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0633" y="243335"/>
            <a:ext cx="632868" cy="632868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B0BD50-4AB4-6E88-71B5-0E201A6A73E6}"/>
              </a:ext>
            </a:extLst>
          </p:cNvPr>
          <p:cNvGraphicFramePr>
            <a:graphicFrameLocks noGrp="1"/>
          </p:cNvGraphicFramePr>
          <p:nvPr/>
        </p:nvGraphicFramePr>
        <p:xfrm>
          <a:off x="310821" y="1543554"/>
          <a:ext cx="8156931" cy="26170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82055">
                  <a:extLst>
                    <a:ext uri="{9D8B030D-6E8A-4147-A177-3AD203B41FA5}">
                      <a16:colId xmlns:a16="http://schemas.microsoft.com/office/drawing/2014/main" val="2153047702"/>
                    </a:ext>
                  </a:extLst>
                </a:gridCol>
                <a:gridCol w="1568719">
                  <a:extLst>
                    <a:ext uri="{9D8B030D-6E8A-4147-A177-3AD203B41FA5}">
                      <a16:colId xmlns:a16="http://schemas.microsoft.com/office/drawing/2014/main" val="1114348368"/>
                    </a:ext>
                  </a:extLst>
                </a:gridCol>
                <a:gridCol w="1568719">
                  <a:extLst>
                    <a:ext uri="{9D8B030D-6E8A-4147-A177-3AD203B41FA5}">
                      <a16:colId xmlns:a16="http://schemas.microsoft.com/office/drawing/2014/main" val="89695709"/>
                    </a:ext>
                  </a:extLst>
                </a:gridCol>
                <a:gridCol w="1568719">
                  <a:extLst>
                    <a:ext uri="{9D8B030D-6E8A-4147-A177-3AD203B41FA5}">
                      <a16:colId xmlns:a16="http://schemas.microsoft.com/office/drawing/2014/main" val="485156118"/>
                    </a:ext>
                  </a:extLst>
                </a:gridCol>
                <a:gridCol w="1568719">
                  <a:extLst>
                    <a:ext uri="{9D8B030D-6E8A-4147-A177-3AD203B41FA5}">
                      <a16:colId xmlns:a16="http://schemas.microsoft.com/office/drawing/2014/main" val="401809275"/>
                    </a:ext>
                  </a:extLst>
                </a:gridCol>
              </a:tblGrid>
              <a:tr h="4834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Other brands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Profit Contribution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Pangdonglai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Profit Contribution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60675"/>
                  </a:ext>
                </a:extLst>
              </a:tr>
              <a:tr h="33841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Front desk profit 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548445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Product sales price difference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612601"/>
                  </a:ext>
                </a:extLst>
              </a:tr>
              <a:tr h="483445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Service value added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562552"/>
                  </a:ext>
                </a:extLst>
              </a:tr>
              <a:tr h="33841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FF0000"/>
                          </a:solidFill>
                        </a:rPr>
                        <a:t>Back-end profit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88489"/>
                  </a:ext>
                </a:extLst>
              </a:tr>
              <a:tr h="338412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Admission fee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5012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BB20E6-9173-645B-77E9-615134DBB1A6}"/>
              </a:ext>
            </a:extLst>
          </p:cNvPr>
          <p:cNvGraphicFramePr>
            <a:graphicFrameLocks noGrp="1"/>
          </p:cNvGraphicFramePr>
          <p:nvPr/>
        </p:nvGraphicFramePr>
        <p:xfrm>
          <a:off x="326390" y="4101453"/>
          <a:ext cx="8128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73712">
                  <a:extLst>
                    <a:ext uri="{9D8B030D-6E8A-4147-A177-3AD203B41FA5}">
                      <a16:colId xmlns:a16="http://schemas.microsoft.com/office/drawing/2014/main" val="370023754"/>
                    </a:ext>
                  </a:extLst>
                </a:gridCol>
                <a:gridCol w="1590502">
                  <a:extLst>
                    <a:ext uri="{9D8B030D-6E8A-4147-A177-3AD203B41FA5}">
                      <a16:colId xmlns:a16="http://schemas.microsoft.com/office/drawing/2014/main" val="910981854"/>
                    </a:ext>
                  </a:extLst>
                </a:gridCol>
                <a:gridCol w="1568334">
                  <a:extLst>
                    <a:ext uri="{9D8B030D-6E8A-4147-A177-3AD203B41FA5}">
                      <a16:colId xmlns:a16="http://schemas.microsoft.com/office/drawing/2014/main" val="1534977877"/>
                    </a:ext>
                  </a:extLst>
                </a:gridCol>
                <a:gridCol w="1562793">
                  <a:extLst>
                    <a:ext uri="{9D8B030D-6E8A-4147-A177-3AD203B41FA5}">
                      <a16:colId xmlns:a16="http://schemas.microsoft.com/office/drawing/2014/main" val="1999781931"/>
                    </a:ext>
                  </a:extLst>
                </a:gridCol>
                <a:gridCol w="1532659">
                  <a:extLst>
                    <a:ext uri="{9D8B030D-6E8A-4147-A177-3AD203B41FA5}">
                      <a16:colId xmlns:a16="http://schemas.microsoft.com/office/drawing/2014/main" val="2283711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</a:rPr>
                        <a:t>Promotion fee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C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52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Procurement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high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low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18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Market area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Mainland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Henan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12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Turnover rate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72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Self-operated products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Less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605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Sales channels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Off and online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Offline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523582"/>
                  </a:ext>
                </a:extLst>
              </a:tr>
            </a:tbl>
          </a:graphicData>
        </a:graphic>
      </p:graphicFrame>
      <p:sp>
        <p:nvSpPr>
          <p:cNvPr id="9" name="乘号 8">
            <a:extLst>
              <a:ext uri="{FF2B5EF4-FFF2-40B4-BE49-F238E27FC236}">
                <a16:creationId xmlns:a16="http://schemas.microsoft.com/office/drawing/2014/main" id="{8F8E7EC7-C89E-72DE-D5AF-0360BD6670A2}"/>
              </a:ext>
            </a:extLst>
          </p:cNvPr>
          <p:cNvSpPr/>
          <p:nvPr/>
        </p:nvSpPr>
        <p:spPr>
          <a:xfrm>
            <a:off x="5804267" y="4096055"/>
            <a:ext cx="450274" cy="40585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乘号 9">
            <a:extLst>
              <a:ext uri="{FF2B5EF4-FFF2-40B4-BE49-F238E27FC236}">
                <a16:creationId xmlns:a16="http://schemas.microsoft.com/office/drawing/2014/main" id="{0B9ED3A3-1A53-9F1F-7871-D0DDB39118E0}"/>
              </a:ext>
            </a:extLst>
          </p:cNvPr>
          <p:cNvSpPr/>
          <p:nvPr/>
        </p:nvSpPr>
        <p:spPr>
          <a:xfrm>
            <a:off x="5804267" y="3708923"/>
            <a:ext cx="450274" cy="405850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4CC5569-86E1-D1EE-7009-8A2928173FE5}"/>
              </a:ext>
            </a:extLst>
          </p:cNvPr>
          <p:cNvSpPr/>
          <p:nvPr/>
        </p:nvSpPr>
        <p:spPr>
          <a:xfrm>
            <a:off x="4100945" y="2549236"/>
            <a:ext cx="437804" cy="18842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2FF62BCD-CF8A-D39E-05D3-31DF62D1B440}"/>
              </a:ext>
            </a:extLst>
          </p:cNvPr>
          <p:cNvSpPr/>
          <p:nvPr/>
        </p:nvSpPr>
        <p:spPr>
          <a:xfrm>
            <a:off x="4100945" y="3030338"/>
            <a:ext cx="437804" cy="18842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982B25D-82E9-8397-156E-2BB11DC6B397}"/>
              </a:ext>
            </a:extLst>
          </p:cNvPr>
          <p:cNvSpPr/>
          <p:nvPr/>
        </p:nvSpPr>
        <p:spPr>
          <a:xfrm>
            <a:off x="4118577" y="3781156"/>
            <a:ext cx="437804" cy="18842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11FE9040-9507-38ED-F56D-5D24F66B3E50}"/>
              </a:ext>
            </a:extLst>
          </p:cNvPr>
          <p:cNvSpPr/>
          <p:nvPr/>
        </p:nvSpPr>
        <p:spPr>
          <a:xfrm>
            <a:off x="4118577" y="4206744"/>
            <a:ext cx="437804" cy="18842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97A884A7-68FB-DA13-2611-F8BAF2986873}"/>
              </a:ext>
            </a:extLst>
          </p:cNvPr>
          <p:cNvSpPr/>
          <p:nvPr/>
        </p:nvSpPr>
        <p:spPr>
          <a:xfrm>
            <a:off x="4096410" y="6003498"/>
            <a:ext cx="437804" cy="18842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483D4BE1-3E5A-01F9-DC10-F1D05B5B395D}"/>
              </a:ext>
            </a:extLst>
          </p:cNvPr>
          <p:cNvSpPr/>
          <p:nvPr/>
        </p:nvSpPr>
        <p:spPr>
          <a:xfrm>
            <a:off x="4179537" y="4566946"/>
            <a:ext cx="271549" cy="2385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3067B62-3476-0B29-B557-ED9F32ABF9FE}"/>
              </a:ext>
            </a:extLst>
          </p:cNvPr>
          <p:cNvSpPr/>
          <p:nvPr/>
        </p:nvSpPr>
        <p:spPr>
          <a:xfrm>
            <a:off x="4179537" y="5295192"/>
            <a:ext cx="271549" cy="2385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6F5B0536-F993-9606-FE4C-519814E718A7}"/>
              </a:ext>
            </a:extLst>
          </p:cNvPr>
          <p:cNvSpPr/>
          <p:nvPr/>
        </p:nvSpPr>
        <p:spPr>
          <a:xfrm>
            <a:off x="4179537" y="5679099"/>
            <a:ext cx="271549" cy="2385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D142A200-DFFE-ED09-55B9-A497EAE7F3D0}"/>
              </a:ext>
            </a:extLst>
          </p:cNvPr>
          <p:cNvSpPr/>
          <p:nvPr/>
        </p:nvSpPr>
        <p:spPr>
          <a:xfrm>
            <a:off x="7584984" y="2549236"/>
            <a:ext cx="271549" cy="2385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上 25">
            <a:extLst>
              <a:ext uri="{FF2B5EF4-FFF2-40B4-BE49-F238E27FC236}">
                <a16:creationId xmlns:a16="http://schemas.microsoft.com/office/drawing/2014/main" id="{CEF6D0A6-3CAC-1DAF-0082-8AC7ACABFDA3}"/>
              </a:ext>
            </a:extLst>
          </p:cNvPr>
          <p:cNvSpPr/>
          <p:nvPr/>
        </p:nvSpPr>
        <p:spPr>
          <a:xfrm>
            <a:off x="7584983" y="4536451"/>
            <a:ext cx="271549" cy="225797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642B1F32-C353-51EB-AE63-9231C917A226}"/>
              </a:ext>
            </a:extLst>
          </p:cNvPr>
          <p:cNvSpPr/>
          <p:nvPr/>
        </p:nvSpPr>
        <p:spPr>
          <a:xfrm rot="10800000">
            <a:off x="7574904" y="3030338"/>
            <a:ext cx="271549" cy="23850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上 27">
            <a:extLst>
              <a:ext uri="{FF2B5EF4-FFF2-40B4-BE49-F238E27FC236}">
                <a16:creationId xmlns:a16="http://schemas.microsoft.com/office/drawing/2014/main" id="{6A6B672C-8E06-42C6-13DE-9C6BC704D3D7}"/>
              </a:ext>
            </a:extLst>
          </p:cNvPr>
          <p:cNvSpPr/>
          <p:nvPr/>
        </p:nvSpPr>
        <p:spPr>
          <a:xfrm>
            <a:off x="7574904" y="5290522"/>
            <a:ext cx="271549" cy="225797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上 28">
            <a:extLst>
              <a:ext uri="{FF2B5EF4-FFF2-40B4-BE49-F238E27FC236}">
                <a16:creationId xmlns:a16="http://schemas.microsoft.com/office/drawing/2014/main" id="{27793DD4-682B-7991-C3EB-AA4F86865508}"/>
              </a:ext>
            </a:extLst>
          </p:cNvPr>
          <p:cNvSpPr/>
          <p:nvPr/>
        </p:nvSpPr>
        <p:spPr>
          <a:xfrm>
            <a:off x="7574903" y="5664573"/>
            <a:ext cx="271549" cy="225797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上 30">
            <a:extLst>
              <a:ext uri="{FF2B5EF4-FFF2-40B4-BE49-F238E27FC236}">
                <a16:creationId xmlns:a16="http://schemas.microsoft.com/office/drawing/2014/main" id="{1774DCB3-3714-2FF3-AF03-FC4BCD51E116}"/>
              </a:ext>
            </a:extLst>
          </p:cNvPr>
          <p:cNvSpPr/>
          <p:nvPr/>
        </p:nvSpPr>
        <p:spPr>
          <a:xfrm>
            <a:off x="7584982" y="6023424"/>
            <a:ext cx="271549" cy="225797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: 空心 33">
            <a:extLst>
              <a:ext uri="{FF2B5EF4-FFF2-40B4-BE49-F238E27FC236}">
                <a16:creationId xmlns:a16="http://schemas.microsoft.com/office/drawing/2014/main" id="{96B62975-FCB0-A96E-6BCE-7EB2AEEB0550}"/>
              </a:ext>
            </a:extLst>
          </p:cNvPr>
          <p:cNvSpPr/>
          <p:nvPr/>
        </p:nvSpPr>
        <p:spPr>
          <a:xfrm>
            <a:off x="2734635" y="3787202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圆: 空心 35">
            <a:extLst>
              <a:ext uri="{FF2B5EF4-FFF2-40B4-BE49-F238E27FC236}">
                <a16:creationId xmlns:a16="http://schemas.microsoft.com/office/drawing/2014/main" id="{DD5207B7-8ED0-AA5E-C885-CAC71AE7823E}"/>
              </a:ext>
            </a:extLst>
          </p:cNvPr>
          <p:cNvSpPr/>
          <p:nvPr/>
        </p:nvSpPr>
        <p:spPr>
          <a:xfrm>
            <a:off x="2734635" y="2514490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圆: 空心 36">
            <a:extLst>
              <a:ext uri="{FF2B5EF4-FFF2-40B4-BE49-F238E27FC236}">
                <a16:creationId xmlns:a16="http://schemas.microsoft.com/office/drawing/2014/main" id="{78031C8D-AB2B-2229-ED59-865DA29001B1}"/>
              </a:ext>
            </a:extLst>
          </p:cNvPr>
          <p:cNvSpPr/>
          <p:nvPr/>
        </p:nvSpPr>
        <p:spPr>
          <a:xfrm>
            <a:off x="2734635" y="3012348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圆: 空心 37">
            <a:extLst>
              <a:ext uri="{FF2B5EF4-FFF2-40B4-BE49-F238E27FC236}">
                <a16:creationId xmlns:a16="http://schemas.microsoft.com/office/drawing/2014/main" id="{223DA0EE-5E5B-965B-7168-692E5FE963B5}"/>
              </a:ext>
            </a:extLst>
          </p:cNvPr>
          <p:cNvSpPr/>
          <p:nvPr/>
        </p:nvSpPr>
        <p:spPr>
          <a:xfrm>
            <a:off x="5931381" y="2514489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圆: 空心 38">
            <a:extLst>
              <a:ext uri="{FF2B5EF4-FFF2-40B4-BE49-F238E27FC236}">
                <a16:creationId xmlns:a16="http://schemas.microsoft.com/office/drawing/2014/main" id="{AC588970-7835-592D-9E17-6E2CF834D043}"/>
              </a:ext>
            </a:extLst>
          </p:cNvPr>
          <p:cNvSpPr/>
          <p:nvPr/>
        </p:nvSpPr>
        <p:spPr>
          <a:xfrm>
            <a:off x="5931381" y="2996299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圆: 空心 39">
            <a:extLst>
              <a:ext uri="{FF2B5EF4-FFF2-40B4-BE49-F238E27FC236}">
                <a16:creationId xmlns:a16="http://schemas.microsoft.com/office/drawing/2014/main" id="{CCAD617F-A1D7-DA18-5123-915A78CB1130}"/>
              </a:ext>
            </a:extLst>
          </p:cNvPr>
          <p:cNvSpPr/>
          <p:nvPr/>
        </p:nvSpPr>
        <p:spPr>
          <a:xfrm>
            <a:off x="2734635" y="4170730"/>
            <a:ext cx="260970" cy="256499"/>
          </a:xfrm>
          <a:prstGeom prst="donu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EC84797-C84C-7216-09DE-0E16F29ACDDC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3CAA288-C2F5-84DE-2F8B-300436D6BD8E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FF7B1A8-96A7-409A-407C-0835EB4A967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3.1 Conclusion: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Operation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516F399-AAF3-1FBD-0FC1-B343F8B1C924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43" name="文本框 64">
              <a:extLst>
                <a:ext uri="{FF2B5EF4-FFF2-40B4-BE49-F238E27FC236}">
                  <a16:creationId xmlns:a16="http://schemas.microsoft.com/office/drawing/2014/main" id="{7250E3F1-89B4-A1B9-F3C6-29ED5F294B1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44" name="文本框 66">
              <a:extLst>
                <a:ext uri="{FF2B5EF4-FFF2-40B4-BE49-F238E27FC236}">
                  <a16:creationId xmlns:a16="http://schemas.microsoft.com/office/drawing/2014/main" id="{948DF9A6-9DD2-6F88-1E1D-59AC5BE2A94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45" name="文本框 67">
              <a:extLst>
                <a:ext uri="{FF2B5EF4-FFF2-40B4-BE49-F238E27FC236}">
                  <a16:creationId xmlns:a16="http://schemas.microsoft.com/office/drawing/2014/main" id="{74CBAB89-74BB-1DF2-DDCA-5856BF4F5B1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46" name="文本框 66">
              <a:extLst>
                <a:ext uri="{FF2B5EF4-FFF2-40B4-BE49-F238E27FC236}">
                  <a16:creationId xmlns:a16="http://schemas.microsoft.com/office/drawing/2014/main" id="{790A0597-B401-66E5-A6AE-9EC224439026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  <p:pic>
        <p:nvPicPr>
          <p:cNvPr id="5" name="图片 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83E32E78-5F61-9933-D3BB-7E2633118C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8571" y="2026729"/>
            <a:ext cx="3362394" cy="410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81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7A74-11B5-9076-D826-0297333E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51243D7-A391-3C84-A3CA-700D4B6E8E2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F57D958-A02D-661E-59A2-38E7DB46ACCC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V="1">
            <a:off x="326390" y="1083608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27DE7D66-BE52-F924-5E4C-CEB8F1E878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0633" y="243335"/>
            <a:ext cx="632868" cy="632868"/>
          </a:xfrm>
          <a:prstGeom prst="rect">
            <a:avLst/>
          </a:prstGeom>
        </p:spPr>
      </p:pic>
      <p:sp>
        <p:nvSpPr>
          <p:cNvPr id="46" name="Text 14">
            <a:extLst>
              <a:ext uri="{FF2B5EF4-FFF2-40B4-BE49-F238E27FC236}">
                <a16:creationId xmlns:a16="http://schemas.microsoft.com/office/drawing/2014/main" id="{787A6B60-8E56-0B93-30F0-9A270AC02DA4}"/>
              </a:ext>
            </a:extLst>
          </p:cNvPr>
          <p:cNvSpPr/>
          <p:nvPr/>
        </p:nvSpPr>
        <p:spPr>
          <a:xfrm>
            <a:off x="-770139" y="596332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8E354A"/>
                </a:solidFill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"Not making money, winning people's hearts"</a:t>
            </a:r>
            <a:r>
              <a:rPr lang="en-US" sz="2000" dirty="0">
                <a:solidFill>
                  <a:srgbClr val="374151"/>
                </a:solidFill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Arial" panose="020B0604020202020204" pitchFamily="34" charset="0"/>
                <a:ea typeface="ui-sans-serif" pitchFamily="34" charset="-122"/>
                <a:cs typeface="Arial" panose="020B0604020202020204" pitchFamily="34" charset="0"/>
              </a:rPr>
              <a:t>— This people-first approach creates a self-sustaining cycle that drives long-term success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图片 46" descr="图示&#10;&#10;AI 生成的内容可能不正确。">
            <a:extLst>
              <a:ext uri="{FF2B5EF4-FFF2-40B4-BE49-F238E27FC236}">
                <a16:creationId xmlns:a16="http://schemas.microsoft.com/office/drawing/2014/main" id="{8BADF29B-4E7E-2665-4619-CA59F9A1C5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1752" y="1168924"/>
            <a:ext cx="8531257" cy="4696742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D2DAAA2F-BC5C-243F-5936-5318E22190E0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3599772-4239-B232-4736-5B8DE8559D73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15457AB-056F-89FD-BA0C-209B2116463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3.1 Conclusion: Strategic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43B341-18C2-5009-8348-515554CE85A7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8" name="文本框 64">
              <a:extLst>
                <a:ext uri="{FF2B5EF4-FFF2-40B4-BE49-F238E27FC236}">
                  <a16:creationId xmlns:a16="http://schemas.microsoft.com/office/drawing/2014/main" id="{A5A9C567-BB28-1A5E-3561-D09AD9FB81E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19" name="文本框 66">
              <a:extLst>
                <a:ext uri="{FF2B5EF4-FFF2-40B4-BE49-F238E27FC236}">
                  <a16:creationId xmlns:a16="http://schemas.microsoft.com/office/drawing/2014/main" id="{9E9A3FC2-7213-9232-C575-2226EAFDA46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0" name="文本框 67">
              <a:extLst>
                <a:ext uri="{FF2B5EF4-FFF2-40B4-BE49-F238E27FC236}">
                  <a16:creationId xmlns:a16="http://schemas.microsoft.com/office/drawing/2014/main" id="{654EC956-5D53-CD3E-4588-C11CC15D332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1" name="文本框 66">
              <a:extLst>
                <a:ext uri="{FF2B5EF4-FFF2-40B4-BE49-F238E27FC236}">
                  <a16:creationId xmlns:a16="http://schemas.microsoft.com/office/drawing/2014/main" id="{7B45F55B-0C10-B174-02E0-844C9B7FE8B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74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2AE2-EB2E-D1D1-6C04-3E002E6D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9537BF2-58FC-0AA3-03B3-D581ECA0D29E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74344" y="1018686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81D67836-426A-2C9F-4E4A-0ABA6BB38C1D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50A5886B-C3AD-6844-3D65-FB17B3E60D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7F0C466-9F28-05E6-1E3E-67F154AFBB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CCC79BE-8230-937C-D37F-2B0AC9A1C8DC}"/>
              </a:ext>
            </a:extLst>
          </p:cNvPr>
          <p:cNvSpPr txBox="1"/>
          <p:nvPr/>
        </p:nvSpPr>
        <p:spPr>
          <a:xfrm>
            <a:off x="739330" y="1175804"/>
            <a:ext cx="1235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Core difference between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and Yonghui lies in their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business philosophies and models.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BE6F938C-1D4F-F469-E34B-3A81F32373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1DECD10-720A-3B4A-6A5E-11550C49B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9" y="3371850"/>
            <a:ext cx="4038965" cy="22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A666BBE-4535-1FAB-FBA2-0D4361CA974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2876"/>
          <a:stretch>
            <a:fillRect/>
          </a:stretch>
        </p:blipFill>
        <p:spPr>
          <a:xfrm>
            <a:off x="7289873" y="3313451"/>
            <a:ext cx="3945697" cy="229248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875C989-A862-0339-4486-3F3B9B955C8B}"/>
              </a:ext>
            </a:extLst>
          </p:cNvPr>
          <p:cNvSpPr txBox="1"/>
          <p:nvPr/>
        </p:nvSpPr>
        <p:spPr>
          <a:xfrm>
            <a:off x="2310842" y="5801784"/>
            <a:ext cx="7570316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Value differences                                      Business model differentiation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D70A2A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D436B5-9C55-40D1-57A8-6A7926986B22}"/>
              </a:ext>
            </a:extLst>
          </p:cNvPr>
          <p:cNvSpPr txBox="1"/>
          <p:nvPr/>
        </p:nvSpPr>
        <p:spPr>
          <a:xfrm>
            <a:off x="312422" y="1749478"/>
            <a:ext cx="547346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Human-centered values, happiness, and experience first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A9F9FEF-CD46-7076-42A0-58352F0349BC}"/>
              </a:ext>
            </a:extLst>
          </p:cNvPr>
          <p:cNvSpPr txBox="1"/>
          <p:nvPr/>
        </p:nvSpPr>
        <p:spPr>
          <a:xfrm>
            <a:off x="1542690" y="2871838"/>
            <a:ext cx="2764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Boutique Community Store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D763EF8-39A1-21C4-16AF-FE111D00CD42}"/>
              </a:ext>
            </a:extLst>
          </p:cNvPr>
          <p:cNvSpPr txBox="1"/>
          <p:nvPr/>
        </p:nvSpPr>
        <p:spPr>
          <a:xfrm>
            <a:off x="7680739" y="2876214"/>
            <a:ext cx="655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Large-scale daily supermarkets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5DCADB-48F2-694A-BFDA-EA6A58B1F8B5}"/>
              </a:ext>
            </a:extLst>
          </p:cNvPr>
          <p:cNvSpPr txBox="1"/>
          <p:nvPr/>
        </p:nvSpPr>
        <p:spPr>
          <a:xfrm>
            <a:off x="6785734" y="1768393"/>
            <a:ext cx="473570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Scale efficiency, fresh produce flow, cost control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A29F5AAB-2FD4-EAD8-E319-7913A4B6594B}"/>
              </a:ext>
            </a:extLst>
          </p:cNvPr>
          <p:cNvSpPr/>
          <p:nvPr/>
        </p:nvSpPr>
        <p:spPr>
          <a:xfrm>
            <a:off x="2501575" y="2388298"/>
            <a:ext cx="855406" cy="300867"/>
          </a:xfrm>
          <a:prstGeom prst="down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85F06600-AC8E-1CAB-0C1F-8845AEAE6ED0}"/>
              </a:ext>
            </a:extLst>
          </p:cNvPr>
          <p:cNvSpPr/>
          <p:nvPr/>
        </p:nvSpPr>
        <p:spPr>
          <a:xfrm>
            <a:off x="8835019" y="2388297"/>
            <a:ext cx="855406" cy="300867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D77D9772-3E0B-F682-59B5-230818823809}"/>
              </a:ext>
            </a:extLst>
          </p:cNvPr>
          <p:cNvSpPr/>
          <p:nvPr/>
        </p:nvSpPr>
        <p:spPr>
          <a:xfrm>
            <a:off x="5215689" y="5890330"/>
            <a:ext cx="722342" cy="233708"/>
          </a:xfrm>
          <a:prstGeom prst="rightArrow">
            <a:avLst/>
          </a:prstGeom>
          <a:solidFill>
            <a:srgbClr val="D70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8F9841-3A81-1B32-3B7C-FAF24DB73A5B}"/>
              </a:ext>
            </a:extLst>
          </p:cNvPr>
          <p:cNvSpPr/>
          <p:nvPr/>
        </p:nvSpPr>
        <p:spPr>
          <a:xfrm>
            <a:off x="2310842" y="5801784"/>
            <a:ext cx="2149070" cy="40011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2309967-ADD6-CB38-A280-3D0BBCBF2AC1}"/>
              </a:ext>
            </a:extLst>
          </p:cNvPr>
          <p:cNvSpPr/>
          <p:nvPr/>
        </p:nvSpPr>
        <p:spPr>
          <a:xfrm>
            <a:off x="6356817" y="5801784"/>
            <a:ext cx="3453810" cy="40011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FFF21C2-6BD4-E8E7-C85D-8FB6C56BC97D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CBF7D43-D9A4-55CA-6460-E253E0A370E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AC7DB03-7E59-345F-1029-4A648E89F9D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1DAA3A1-EA55-2059-5DFC-6E0F20A3FACC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3" name="文本框 64">
              <a:extLst>
                <a:ext uri="{FF2B5EF4-FFF2-40B4-BE49-F238E27FC236}">
                  <a16:creationId xmlns:a16="http://schemas.microsoft.com/office/drawing/2014/main" id="{BD087EC9-4F6C-7482-16C8-F6E824B7EC50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6" name="文本框 66">
              <a:extLst>
                <a:ext uri="{FF2B5EF4-FFF2-40B4-BE49-F238E27FC236}">
                  <a16:creationId xmlns:a16="http://schemas.microsoft.com/office/drawing/2014/main" id="{B5D104B5-FCAF-397E-FFCF-AE913614A12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7" name="文本框 67">
              <a:extLst>
                <a:ext uri="{FF2B5EF4-FFF2-40B4-BE49-F238E27FC236}">
                  <a16:creationId xmlns:a16="http://schemas.microsoft.com/office/drawing/2014/main" id="{FD839D68-DAA3-F5EA-A9FA-32EC99B3ABD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8" name="文本框 66">
              <a:extLst>
                <a:ext uri="{FF2B5EF4-FFF2-40B4-BE49-F238E27FC236}">
                  <a16:creationId xmlns:a16="http://schemas.microsoft.com/office/drawing/2014/main" id="{3355EE45-2875-46A0-C272-A0838B82489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4343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D50A-1FBE-D904-C256-DD34E1D7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73E26E11-A6FA-D59F-D11A-FF3130714F73}"/>
              </a:ext>
            </a:extLst>
          </p:cNvPr>
          <p:cNvGraphicFramePr/>
          <p:nvPr/>
        </p:nvGraphicFramePr>
        <p:xfrm>
          <a:off x="326390" y="1114565"/>
          <a:ext cx="9240916" cy="5409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8720602-CE4F-08CD-4C02-8375C559D379}"/>
              </a:ext>
            </a:extLst>
          </p:cNvPr>
          <p:cNvSpPr/>
          <p:nvPr/>
        </p:nvSpPr>
        <p:spPr>
          <a:xfrm>
            <a:off x="532859" y="1732993"/>
            <a:ext cx="2824122" cy="365125"/>
          </a:xfrm>
          <a:prstGeom prst="rect">
            <a:avLst/>
          </a:prstGeom>
          <a:solidFill>
            <a:srgbClr val="FF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8233A7-6FEC-3D67-1D3E-22A62C1E5206}"/>
              </a:ext>
            </a:extLst>
          </p:cNvPr>
          <p:cNvSpPr/>
          <p:nvPr/>
        </p:nvSpPr>
        <p:spPr>
          <a:xfrm>
            <a:off x="350297" y="1732993"/>
            <a:ext cx="365125" cy="365125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3D7179C-3CCE-930B-A4D9-ACD36E630AC2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50297" y="1031816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7986E67C-8962-EA43-201F-4DB69D4A432E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3AFA7523-036C-ED42-1FE3-4F758ADAFDE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37ADD84-8F7A-94C5-8EF3-6AF29BCBF5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1CD81C6-DA6F-B2C1-3EEA-6E801C864D04}"/>
              </a:ext>
            </a:extLst>
          </p:cNvPr>
          <p:cNvSpPr txBox="1"/>
          <p:nvPr/>
        </p:nvSpPr>
        <p:spPr>
          <a:xfrm>
            <a:off x="739330" y="1175804"/>
            <a:ext cx="1235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Core difference between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and Yonghui lies in their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business philosophies and models.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2DFE0171-E519-C0D7-1C4F-AFA9EDFD70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pic>
        <p:nvPicPr>
          <p:cNvPr id="6" name="图片 5" descr="徽标&#10;&#10;AI 生成的内容可能不正确。">
            <a:extLst>
              <a:ext uri="{FF2B5EF4-FFF2-40B4-BE49-F238E27FC236}">
                <a16:creationId xmlns:a16="http://schemas.microsoft.com/office/drawing/2014/main" id="{9FCC4EE7-835E-E5C2-13FC-D66A2B2274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0766" y="2655309"/>
            <a:ext cx="709068" cy="7090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3F2A37-D157-5234-0A71-D738DD1897C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31886" t="22013" r="30678" b="20405"/>
          <a:stretch>
            <a:fillRect/>
          </a:stretch>
        </p:blipFill>
        <p:spPr>
          <a:xfrm>
            <a:off x="10304422" y="4341962"/>
            <a:ext cx="990773" cy="914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04F770A-DCC4-FE38-615B-5E0E77EBDE1E}"/>
              </a:ext>
            </a:extLst>
          </p:cNvPr>
          <p:cNvSpPr txBox="1"/>
          <p:nvPr/>
        </p:nvSpPr>
        <p:spPr>
          <a:xfrm>
            <a:off x="715422" y="1698008"/>
            <a:ext cx="190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Operation Focus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3C192D-2E7E-D230-5C00-5FA49B650A34}"/>
              </a:ext>
            </a:extLst>
          </p:cNvPr>
          <p:cNvSpPr txBox="1"/>
          <p:nvPr/>
        </p:nvSpPr>
        <p:spPr>
          <a:xfrm>
            <a:off x="377244" y="1715500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E33484C-F9DD-DDBD-108B-4EFEA7EFCA48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B093A78-F903-FECC-2C7E-FDB877FBA03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98F9800-5DD4-F650-6EEA-97D79C360C8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4C83CF1-1D54-E277-DF54-1D9417A5EBCF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8" name="文本框 64">
              <a:extLst>
                <a:ext uri="{FF2B5EF4-FFF2-40B4-BE49-F238E27FC236}">
                  <a16:creationId xmlns:a16="http://schemas.microsoft.com/office/drawing/2014/main" id="{90E8F81A-9C29-DFEE-FB0B-FD96416A0B13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9" name="文本框 66">
              <a:extLst>
                <a:ext uri="{FF2B5EF4-FFF2-40B4-BE49-F238E27FC236}">
                  <a16:creationId xmlns:a16="http://schemas.microsoft.com/office/drawing/2014/main" id="{E227D3A8-455E-5D70-077F-8CC26EC3D48A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0" name="文本框 67">
              <a:extLst>
                <a:ext uri="{FF2B5EF4-FFF2-40B4-BE49-F238E27FC236}">
                  <a16:creationId xmlns:a16="http://schemas.microsoft.com/office/drawing/2014/main" id="{C52B5DA9-EE00-14E4-D859-55B37E57DEED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1" name="文本框 66">
              <a:extLst>
                <a:ext uri="{FF2B5EF4-FFF2-40B4-BE49-F238E27FC236}">
                  <a16:creationId xmlns:a16="http://schemas.microsoft.com/office/drawing/2014/main" id="{3256D355-3A6D-8449-AEFC-3DA889C6086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760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54F25-60CE-599A-9A74-861B1E91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C88FCD9-3A3F-5CF8-5DCD-0830A98DB392}"/>
              </a:ext>
            </a:extLst>
          </p:cNvPr>
          <p:cNvSpPr/>
          <p:nvPr/>
        </p:nvSpPr>
        <p:spPr>
          <a:xfrm>
            <a:off x="532859" y="1732993"/>
            <a:ext cx="2824122" cy="365125"/>
          </a:xfrm>
          <a:prstGeom prst="rect">
            <a:avLst/>
          </a:prstGeom>
          <a:solidFill>
            <a:srgbClr val="FF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BF0454-66FD-74FC-F924-E2032206E8FD}"/>
              </a:ext>
            </a:extLst>
          </p:cNvPr>
          <p:cNvSpPr/>
          <p:nvPr/>
        </p:nvSpPr>
        <p:spPr>
          <a:xfrm>
            <a:off x="350297" y="1732993"/>
            <a:ext cx="365125" cy="365125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769AC2E-702D-C66A-D3E9-3ACB31657AE2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50297" y="1011026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E38BEFB0-9730-B31A-954C-028D006ED69A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744C422C-877D-98A6-4C08-955DB6F560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83AEB16-905D-458F-141A-B17ACDB15B1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BC3D968-5B54-7FE1-CEF8-50EA7A3D49FB}"/>
              </a:ext>
            </a:extLst>
          </p:cNvPr>
          <p:cNvSpPr txBox="1"/>
          <p:nvPr/>
        </p:nvSpPr>
        <p:spPr>
          <a:xfrm>
            <a:off x="739330" y="1175804"/>
            <a:ext cx="1235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Core difference between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and Yonghui lies in their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business philosophies and models.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E33C5C85-D67A-C258-F232-0314FA58FE3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333311F-FC4F-01C8-830F-7773E9DA5CFA}"/>
              </a:ext>
            </a:extLst>
          </p:cNvPr>
          <p:cNvSpPr txBox="1"/>
          <p:nvPr/>
        </p:nvSpPr>
        <p:spPr>
          <a:xfrm>
            <a:off x="715422" y="1721012"/>
            <a:ext cx="1909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Profit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7F410D-2324-B11C-648C-57D26B9C929D}"/>
              </a:ext>
            </a:extLst>
          </p:cNvPr>
          <p:cNvSpPr txBox="1"/>
          <p:nvPr/>
        </p:nvSpPr>
        <p:spPr>
          <a:xfrm>
            <a:off x="377244" y="1715500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632A14-4EB6-DA3E-5F5B-18F46C291B96}"/>
              </a:ext>
            </a:extLst>
          </p:cNvPr>
          <p:cNvSpPr txBox="1"/>
          <p:nvPr/>
        </p:nvSpPr>
        <p:spPr>
          <a:xfrm>
            <a:off x="350297" y="3232798"/>
            <a:ext cx="214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Unit value density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21C56E-1EB4-1D73-75B2-160B7849F99B}"/>
              </a:ext>
            </a:extLst>
          </p:cNvPr>
          <p:cNvSpPr txBox="1"/>
          <p:nvPr/>
        </p:nvSpPr>
        <p:spPr>
          <a:xfrm>
            <a:off x="350297" y="5683332"/>
            <a:ext cx="225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Experience premiums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D59F24-1FA8-E667-FECA-57A5A7FF1A66}"/>
              </a:ext>
            </a:extLst>
          </p:cNvPr>
          <p:cNvSpPr txBox="1"/>
          <p:nvPr/>
        </p:nvSpPr>
        <p:spPr>
          <a:xfrm>
            <a:off x="326390" y="4458065"/>
            <a:ext cx="2667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High turnover efficiency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4" name="图片 23" descr="徽标, 图标&#10;&#10;AI 生成的内容可能不正确。">
            <a:extLst>
              <a:ext uri="{FF2B5EF4-FFF2-40B4-BE49-F238E27FC236}">
                <a16:creationId xmlns:a16="http://schemas.microsoft.com/office/drawing/2014/main" id="{F178D7E8-5D20-AAFF-AD4A-914BD5BEA67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17" t="12663" r="50000" b="47062"/>
          <a:stretch>
            <a:fillRect/>
          </a:stretch>
        </p:blipFill>
        <p:spPr>
          <a:xfrm>
            <a:off x="3097642" y="2890760"/>
            <a:ext cx="2317336" cy="1425480"/>
          </a:xfrm>
          <a:prstGeom prst="rect">
            <a:avLst/>
          </a:prstGeom>
        </p:spPr>
      </p:pic>
      <p:pic>
        <p:nvPicPr>
          <p:cNvPr id="27" name="图形 26" descr="厢式货车 纯色填充">
            <a:extLst>
              <a:ext uri="{FF2B5EF4-FFF2-40B4-BE49-F238E27FC236}">
                <a16:creationId xmlns:a16="http://schemas.microsoft.com/office/drawing/2014/main" id="{B848EDCE-8B90-725F-5DC0-0C7735CA0E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138444" y="4271318"/>
            <a:ext cx="744624" cy="744624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76BC3DA-BD63-470C-9EAD-08336BF3F3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800611" y="4458065"/>
            <a:ext cx="16800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1.2 Days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DB4B6B-DEA3-AE76-7800-EF569F8DE7B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800611" y="5683332"/>
            <a:ext cx="16800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78 RMB</a:t>
            </a:r>
          </a:p>
        </p:txBody>
      </p:sp>
      <p:pic>
        <p:nvPicPr>
          <p:cNvPr id="32" name="图形 31" descr="网上银行 纯色填充">
            <a:extLst>
              <a:ext uri="{FF2B5EF4-FFF2-40B4-BE49-F238E27FC236}">
                <a16:creationId xmlns:a16="http://schemas.microsoft.com/office/drawing/2014/main" id="{5E0B6668-1210-4676-E7EF-FB0F2FFA8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799350">
            <a:off x="3114884" y="5475483"/>
            <a:ext cx="768184" cy="768184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73C0FB09-9006-8E5D-3155-DEAFE962F164}"/>
              </a:ext>
            </a:extLst>
          </p:cNvPr>
          <p:cNvSpPr txBox="1"/>
          <p:nvPr/>
        </p:nvSpPr>
        <p:spPr>
          <a:xfrm>
            <a:off x="2039548" y="2178538"/>
            <a:ext cx="1909272" cy="4426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D70A2A"/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26D4AE5-E958-C4D5-1918-4665D4DAB97E}"/>
              </a:ext>
            </a:extLst>
          </p:cNvPr>
          <p:cNvSpPr txBox="1"/>
          <p:nvPr/>
        </p:nvSpPr>
        <p:spPr>
          <a:xfrm>
            <a:off x="8085466" y="2201954"/>
            <a:ext cx="1909272" cy="4426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D70A2A"/>
            </a:solidFill>
            <a:prstDash val="solid"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Yong Hui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C7C33E-A948-0F39-96EB-4B1AEF6F9B9C}"/>
              </a:ext>
            </a:extLst>
          </p:cNvPr>
          <p:cNvSpPr txBox="1"/>
          <p:nvPr/>
        </p:nvSpPr>
        <p:spPr>
          <a:xfrm>
            <a:off x="6475267" y="4473454"/>
            <a:ext cx="2590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Low‐value, scale driven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3230DE7-795D-7135-AE5B-C0E2B421A9AD}"/>
              </a:ext>
            </a:extLst>
          </p:cNvPr>
          <p:cNvSpPr txBox="1"/>
          <p:nvPr/>
        </p:nvSpPr>
        <p:spPr>
          <a:xfrm>
            <a:off x="6475267" y="5669684"/>
            <a:ext cx="3577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Overall profitability under pressure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6774F97-473D-7BB2-C35B-A5F8D8CD9C62}"/>
              </a:ext>
            </a:extLst>
          </p:cNvPr>
          <p:cNvSpPr txBox="1"/>
          <p:nvPr/>
        </p:nvSpPr>
        <p:spPr>
          <a:xfrm>
            <a:off x="6475267" y="3278964"/>
            <a:ext cx="3519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Relying on standard product entry fees and rebates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2" name="图片 41" descr="图片包含 应用程序&#10;&#10;AI 生成的内容可能不正确。">
            <a:extLst>
              <a:ext uri="{FF2B5EF4-FFF2-40B4-BE49-F238E27FC236}">
                <a16:creationId xmlns:a16="http://schemas.microsoft.com/office/drawing/2014/main" id="{4D1FA3C2-A73A-919B-847D-9B9302A40D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5" r="72085" b="53895"/>
          <a:stretch>
            <a:fillRect/>
          </a:stretch>
        </p:blipFill>
        <p:spPr>
          <a:xfrm>
            <a:off x="10253079" y="2890760"/>
            <a:ext cx="1588624" cy="3161904"/>
          </a:xfrm>
          <a:prstGeom prst="rect">
            <a:avLst/>
          </a:prstGeom>
        </p:spPr>
      </p:pic>
      <p:sp>
        <p:nvSpPr>
          <p:cNvPr id="43" name="箭头: 下 42">
            <a:extLst>
              <a:ext uri="{FF2B5EF4-FFF2-40B4-BE49-F238E27FC236}">
                <a16:creationId xmlns:a16="http://schemas.microsoft.com/office/drawing/2014/main" id="{30C697E2-2194-5E98-ED70-55EB371A190D}"/>
              </a:ext>
            </a:extLst>
          </p:cNvPr>
          <p:cNvSpPr/>
          <p:nvPr/>
        </p:nvSpPr>
        <p:spPr>
          <a:xfrm>
            <a:off x="10923935" y="4271318"/>
            <a:ext cx="276046" cy="89878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76D44EC-00D4-3568-9060-6B45281BB842}"/>
              </a:ext>
            </a:extLst>
          </p:cNvPr>
          <p:cNvSpPr txBox="1"/>
          <p:nvPr/>
        </p:nvSpPr>
        <p:spPr>
          <a:xfrm>
            <a:off x="10091014" y="4334954"/>
            <a:ext cx="9532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entry fees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0D7D740-91DA-8F8C-B5A1-31D1849D6BFB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2C19D51-0F28-68EB-0B71-6451D6BD6E33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44172B-049F-DFB3-FC07-1618EBC2A31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59DF76EF-3476-6F73-249F-20C7D241B29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244532" y="3133525"/>
            <a:ext cx="5464867" cy="318831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1903A98-8FA5-D7E6-1EBD-D5D3FC473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3459" y="2782257"/>
            <a:ext cx="5581706" cy="360838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543D7FC-CCE4-4418-F29A-BF0924786AA2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41" name="文本框 64">
              <a:extLst>
                <a:ext uri="{FF2B5EF4-FFF2-40B4-BE49-F238E27FC236}">
                  <a16:creationId xmlns:a16="http://schemas.microsoft.com/office/drawing/2014/main" id="{B892A0BD-D6CD-E581-584A-82D41D89C1D4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44" name="文本框 66">
              <a:extLst>
                <a:ext uri="{FF2B5EF4-FFF2-40B4-BE49-F238E27FC236}">
                  <a16:creationId xmlns:a16="http://schemas.microsoft.com/office/drawing/2014/main" id="{D16FC4E7-2686-A5B5-EFA7-A646633E8B3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46" name="文本框 67">
              <a:extLst>
                <a:ext uri="{FF2B5EF4-FFF2-40B4-BE49-F238E27FC236}">
                  <a16:creationId xmlns:a16="http://schemas.microsoft.com/office/drawing/2014/main" id="{6BBB8A03-A3A2-3842-B116-3BFA08433D4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48" name="文本框 66">
              <a:extLst>
                <a:ext uri="{FF2B5EF4-FFF2-40B4-BE49-F238E27FC236}">
                  <a16:creationId xmlns:a16="http://schemas.microsoft.com/office/drawing/2014/main" id="{6F2D4F30-F262-A349-E0BA-390382D6EB1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950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FCCCF-8CFC-F543-E7A9-FAE4DFA2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836F1CC-D1D0-328E-85B1-D43A7FA99C2C}"/>
              </a:ext>
            </a:extLst>
          </p:cNvPr>
          <p:cNvSpPr/>
          <p:nvPr/>
        </p:nvSpPr>
        <p:spPr>
          <a:xfrm>
            <a:off x="532859" y="1732993"/>
            <a:ext cx="2824122" cy="365125"/>
          </a:xfrm>
          <a:prstGeom prst="rect">
            <a:avLst/>
          </a:prstGeom>
          <a:solidFill>
            <a:srgbClr val="FF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8552E27-59C9-B5D6-D81E-2611A0F27C03}"/>
              </a:ext>
            </a:extLst>
          </p:cNvPr>
          <p:cNvSpPr/>
          <p:nvPr/>
        </p:nvSpPr>
        <p:spPr>
          <a:xfrm>
            <a:off x="350297" y="1732993"/>
            <a:ext cx="365125" cy="365125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9198D7B-3D29-4063-CEBC-671F68CE5641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26390" y="993802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1BBCA77A-0932-DE29-7E06-EFA9BDF1BAB6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F3411D92-46AC-52E2-B8A2-4FD00BF70C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E6510EB-60E8-0BF8-21AB-FBD2152F7B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87319B2-876D-5DA0-8ECC-AA3956297AD4}"/>
              </a:ext>
            </a:extLst>
          </p:cNvPr>
          <p:cNvSpPr txBox="1"/>
          <p:nvPr/>
        </p:nvSpPr>
        <p:spPr>
          <a:xfrm>
            <a:off x="739330" y="1175804"/>
            <a:ext cx="1235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Core difference between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and Yonghui lies in their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business philosophies and models.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19805172-699A-4D93-26E0-8BFE38373B4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6BCF18-8C49-7023-9D4E-692B9125E913}"/>
              </a:ext>
            </a:extLst>
          </p:cNvPr>
          <p:cNvSpPr txBox="1"/>
          <p:nvPr/>
        </p:nvSpPr>
        <p:spPr>
          <a:xfrm>
            <a:off x="715421" y="1721012"/>
            <a:ext cx="2545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Product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Strategy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A57B04-2121-69B2-3977-BFBC1CDE86A9}"/>
              </a:ext>
            </a:extLst>
          </p:cNvPr>
          <p:cNvSpPr txBox="1"/>
          <p:nvPr/>
        </p:nvSpPr>
        <p:spPr>
          <a:xfrm>
            <a:off x="377244" y="1715500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58A85A-3FD9-2720-97EE-7FF5C34D4700}"/>
              </a:ext>
            </a:extLst>
          </p:cNvPr>
          <p:cNvSpPr/>
          <p:nvPr/>
        </p:nvSpPr>
        <p:spPr>
          <a:xfrm>
            <a:off x="6614481" y="1750486"/>
            <a:ext cx="3353699" cy="365125"/>
          </a:xfrm>
          <a:prstGeom prst="rect">
            <a:avLst/>
          </a:prstGeom>
          <a:solidFill>
            <a:srgbClr val="FFC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7DE1E85-1259-F19A-E629-EC63D03B75CC}"/>
              </a:ext>
            </a:extLst>
          </p:cNvPr>
          <p:cNvSpPr/>
          <p:nvPr/>
        </p:nvSpPr>
        <p:spPr>
          <a:xfrm>
            <a:off x="6431920" y="1750486"/>
            <a:ext cx="365125" cy="365125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E50513-7A45-5373-FE4B-0F9EA1201BF8}"/>
              </a:ext>
            </a:extLst>
          </p:cNvPr>
          <p:cNvSpPr txBox="1"/>
          <p:nvPr/>
        </p:nvSpPr>
        <p:spPr>
          <a:xfrm>
            <a:off x="6786818" y="1732993"/>
            <a:ext cx="3313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Culture and Management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DF39A5-5BE3-D22A-3BFA-9995AE6CCEAD}"/>
              </a:ext>
            </a:extLst>
          </p:cNvPr>
          <p:cNvSpPr txBox="1"/>
          <p:nvPr/>
        </p:nvSpPr>
        <p:spPr>
          <a:xfrm>
            <a:off x="6458867" y="1732993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747262-C86C-12CE-3394-625527B821D2}"/>
              </a:ext>
            </a:extLst>
          </p:cNvPr>
          <p:cNvSpPr txBox="1"/>
          <p:nvPr/>
        </p:nvSpPr>
        <p:spPr>
          <a:xfrm>
            <a:off x="326391" y="2460853"/>
            <a:ext cx="5597876" cy="132802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High self-sourcing ratio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(approximately 80%) 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Strong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pricing power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Meticulous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product selection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Transparent quality control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" name="图片 22" descr="徽标&#10;&#10;AI 生成的内容可能不正确。">
            <a:extLst>
              <a:ext uri="{FF2B5EF4-FFF2-40B4-BE49-F238E27FC236}">
                <a16:creationId xmlns:a16="http://schemas.microsoft.com/office/drawing/2014/main" id="{F7AC0CA8-9EF0-AC72-0D7C-5B1EE7906E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859" y="2731175"/>
            <a:ext cx="686651" cy="68665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AAB1C1B-DF31-B2D6-1A98-A53F67ED7FCE}"/>
              </a:ext>
            </a:extLst>
          </p:cNvPr>
          <p:cNvSpPr txBox="1"/>
          <p:nvPr/>
        </p:nvSpPr>
        <p:spPr>
          <a:xfrm>
            <a:off x="326390" y="4279913"/>
            <a:ext cx="5597876" cy="1634490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High proportion of fresh produce sourced directly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Low proportion of private label products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(approximately 5%)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Covers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all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daily necessities.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5BC6B0DE-BB4D-AFE6-87BD-2BEE980AE02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1886" t="22013" r="30678" b="20405"/>
          <a:stretch>
            <a:fillRect/>
          </a:stretch>
        </p:blipFill>
        <p:spPr>
          <a:xfrm>
            <a:off x="435067" y="4733762"/>
            <a:ext cx="882233" cy="814227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CB5AE11C-11C4-EFE1-CD27-6677D2D294CE}"/>
              </a:ext>
            </a:extLst>
          </p:cNvPr>
          <p:cNvSpPr txBox="1"/>
          <p:nvPr/>
        </p:nvSpPr>
        <p:spPr>
          <a:xfrm>
            <a:off x="9112475" y="2694083"/>
            <a:ext cx="27531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Service-driven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Training-empowered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Happiness management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E58252A-88CA-2857-ACEE-422D2A5ED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867" y="2475826"/>
            <a:ext cx="2564367" cy="131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B3C6CD7-48D6-4535-DB26-1CF7978401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4131" y="4269603"/>
            <a:ext cx="2536896" cy="1559404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304ABF4F-F29F-29B7-87F8-815BC0243E16}"/>
              </a:ext>
            </a:extLst>
          </p:cNvPr>
          <p:cNvSpPr txBox="1"/>
          <p:nvPr/>
        </p:nvSpPr>
        <p:spPr>
          <a:xfrm>
            <a:off x="6369140" y="4354378"/>
            <a:ext cx="2941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Organizational systems and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Shifting from "institutional efficiency" to "experience efficiency"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ADC90AD-772D-3C1F-5EFE-7C4E1D55A5F7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7E90F98-C36C-2BBC-9131-73D31C7A36C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56065E8-B76E-2F48-5FA5-AC71C452BEA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71D2D142-DACA-E73E-97E6-6D34392F528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44532" y="2290182"/>
            <a:ext cx="5850948" cy="386519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3E996D1-CF7A-AF63-33A4-F4D2D04484CA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34" name="文本框 64">
              <a:extLst>
                <a:ext uri="{FF2B5EF4-FFF2-40B4-BE49-F238E27FC236}">
                  <a16:creationId xmlns:a16="http://schemas.microsoft.com/office/drawing/2014/main" id="{5757C5AC-D3B5-B1CC-2060-5DF7CE6D755A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35" name="文本框 66">
              <a:extLst>
                <a:ext uri="{FF2B5EF4-FFF2-40B4-BE49-F238E27FC236}">
                  <a16:creationId xmlns:a16="http://schemas.microsoft.com/office/drawing/2014/main" id="{EFD7B151-42E8-D962-8175-DCD1E51A45F7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6" name="文本框 67">
              <a:extLst>
                <a:ext uri="{FF2B5EF4-FFF2-40B4-BE49-F238E27FC236}">
                  <a16:creationId xmlns:a16="http://schemas.microsoft.com/office/drawing/2014/main" id="{58747C27-FF11-07F3-5FA3-A2ACB59A6D1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8" name="文本框 66">
              <a:extLst>
                <a:ext uri="{FF2B5EF4-FFF2-40B4-BE49-F238E27FC236}">
                  <a16:creationId xmlns:a16="http://schemas.microsoft.com/office/drawing/2014/main" id="{1E65A3AD-656D-EBD4-BE00-FD5E0F95284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4385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0E6D-2B20-CE27-AEFB-B7C6F544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60FED908-17D2-7B7E-79D7-47E7C7C3283E}"/>
              </a:ext>
            </a:extLst>
          </p:cNvPr>
          <p:cNvSpPr/>
          <p:nvPr/>
        </p:nvSpPr>
        <p:spPr>
          <a:xfrm>
            <a:off x="6043392" y="4164075"/>
            <a:ext cx="5287843" cy="36512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D7CD38D-60E4-6766-A63E-66384628A7B0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39933" y="99568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D9D3FC7D-2006-5C0A-B966-BC0FA526E8B9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5E23AAA9-3274-11F0-3E19-335D020293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623C253-A7CA-5258-7974-448B4CE926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C2D10D8-A5E2-6F96-94EF-9E698218FBBB}"/>
              </a:ext>
            </a:extLst>
          </p:cNvPr>
          <p:cNvSpPr txBox="1"/>
          <p:nvPr/>
        </p:nvSpPr>
        <p:spPr>
          <a:xfrm>
            <a:off x="739331" y="1175804"/>
            <a:ext cx="11135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Yonghui's potential for upgrading lies not in "becoming like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," but in addressing its shortcomings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D70A2A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in culture and customer experience.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42BD901C-AFB4-214F-FB84-E887AA0318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59B707F-054E-0805-648D-9D361D3CA792}"/>
              </a:ext>
            </a:extLst>
          </p:cNvPr>
          <p:cNvSpPr/>
          <p:nvPr/>
        </p:nvSpPr>
        <p:spPr>
          <a:xfrm>
            <a:off x="508951" y="1889088"/>
            <a:ext cx="3176645" cy="36512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ACD66C4-176D-22C5-0B52-797D77F349C7}"/>
              </a:ext>
            </a:extLst>
          </p:cNvPr>
          <p:cNvSpPr/>
          <p:nvPr/>
        </p:nvSpPr>
        <p:spPr>
          <a:xfrm>
            <a:off x="326390" y="1889088"/>
            <a:ext cx="365125" cy="365125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30CC12-3820-262A-167E-A9BDB7ED7457}"/>
              </a:ext>
            </a:extLst>
          </p:cNvPr>
          <p:cNvSpPr txBox="1"/>
          <p:nvPr/>
        </p:nvSpPr>
        <p:spPr>
          <a:xfrm>
            <a:off x="684858" y="1862867"/>
            <a:ext cx="3000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Improve user experience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1CE7C7-CCAC-4A16-E1FA-7771DAA98D59}"/>
              </a:ext>
            </a:extLst>
          </p:cNvPr>
          <p:cNvSpPr txBox="1"/>
          <p:nvPr/>
        </p:nvSpPr>
        <p:spPr>
          <a:xfrm>
            <a:off x="354390" y="1869282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2039AE4-ABD2-1A50-E650-B56815EB3F10}"/>
              </a:ext>
            </a:extLst>
          </p:cNvPr>
          <p:cNvCxnSpPr>
            <a:cxnSpLocks/>
          </p:cNvCxnSpPr>
          <p:nvPr/>
        </p:nvCxnSpPr>
        <p:spPr>
          <a:xfrm flipV="1">
            <a:off x="847014" y="4008931"/>
            <a:ext cx="9855492" cy="2331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5557D89-8D67-D651-479B-29CA69BC52B5}"/>
              </a:ext>
            </a:extLst>
          </p:cNvPr>
          <p:cNvCxnSpPr>
            <a:cxnSpLocks/>
          </p:cNvCxnSpPr>
          <p:nvPr/>
        </p:nvCxnSpPr>
        <p:spPr>
          <a:xfrm flipV="1">
            <a:off x="5645725" y="1883690"/>
            <a:ext cx="0" cy="427168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296E3792-7605-BC6F-1D0D-22129E70C0AF}"/>
              </a:ext>
            </a:extLst>
          </p:cNvPr>
          <p:cNvSpPr/>
          <p:nvPr/>
        </p:nvSpPr>
        <p:spPr>
          <a:xfrm>
            <a:off x="6043392" y="1895503"/>
            <a:ext cx="5287843" cy="36512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A5E0C88-2DC1-B8FE-AC8E-2C0B6F2A27C4}"/>
              </a:ext>
            </a:extLst>
          </p:cNvPr>
          <p:cNvSpPr/>
          <p:nvPr/>
        </p:nvSpPr>
        <p:spPr>
          <a:xfrm>
            <a:off x="5860831" y="1895503"/>
            <a:ext cx="365125" cy="365125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FFA43A9-A016-42ED-7F9B-BC205EEDA55C}"/>
              </a:ext>
            </a:extLst>
          </p:cNvPr>
          <p:cNvSpPr txBox="1"/>
          <p:nvPr/>
        </p:nvSpPr>
        <p:spPr>
          <a:xfrm>
            <a:off x="6233663" y="4152997"/>
            <a:ext cx="5287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Self-operated and processing capabilities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0677415-ABC8-F9AB-E732-8A7954DC6B30}"/>
              </a:ext>
            </a:extLst>
          </p:cNvPr>
          <p:cNvSpPr txBox="1"/>
          <p:nvPr/>
        </p:nvSpPr>
        <p:spPr>
          <a:xfrm>
            <a:off x="5888831" y="1875697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DAB2C0-18DB-57D6-D278-6D868CC9793C}"/>
              </a:ext>
            </a:extLst>
          </p:cNvPr>
          <p:cNvSpPr/>
          <p:nvPr/>
        </p:nvSpPr>
        <p:spPr>
          <a:xfrm>
            <a:off x="508951" y="4196502"/>
            <a:ext cx="3176645" cy="365125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0EC7178-C1C1-FCD2-6E51-890C90B349E3}"/>
              </a:ext>
            </a:extLst>
          </p:cNvPr>
          <p:cNvSpPr/>
          <p:nvPr/>
        </p:nvSpPr>
        <p:spPr>
          <a:xfrm>
            <a:off x="326390" y="4196502"/>
            <a:ext cx="365125" cy="365125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4D35687-6A5E-B03B-85F7-02C9A9C39219}"/>
              </a:ext>
            </a:extLst>
          </p:cNvPr>
          <p:cNvSpPr txBox="1"/>
          <p:nvPr/>
        </p:nvSpPr>
        <p:spPr>
          <a:xfrm>
            <a:off x="684858" y="4170281"/>
            <a:ext cx="2805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Selected supply chain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838E651-3BED-FE2E-BC4C-CD9D1C687FCA}"/>
              </a:ext>
            </a:extLst>
          </p:cNvPr>
          <p:cNvSpPr txBox="1"/>
          <p:nvPr/>
        </p:nvSpPr>
        <p:spPr>
          <a:xfrm>
            <a:off x="354390" y="4176696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B21E3924-FF67-C53D-4740-46DBB2F1C785}"/>
              </a:ext>
            </a:extLst>
          </p:cNvPr>
          <p:cNvSpPr/>
          <p:nvPr/>
        </p:nvSpPr>
        <p:spPr>
          <a:xfrm>
            <a:off x="5860831" y="4164075"/>
            <a:ext cx="365125" cy="365125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BEE96F-7364-4D5B-CE84-208DEFAD9C1E}"/>
              </a:ext>
            </a:extLst>
          </p:cNvPr>
          <p:cNvSpPr txBox="1"/>
          <p:nvPr/>
        </p:nvSpPr>
        <p:spPr>
          <a:xfrm>
            <a:off x="6197953" y="1882745"/>
            <a:ext cx="52878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From system management to service-driven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30BE548-44F7-4381-FFB4-B5C6105BB63E}"/>
              </a:ext>
            </a:extLst>
          </p:cNvPr>
          <p:cNvSpPr txBox="1"/>
          <p:nvPr/>
        </p:nvSpPr>
        <p:spPr>
          <a:xfrm>
            <a:off x="5888831" y="4144269"/>
            <a:ext cx="34483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45F82F3-6C8D-6039-4315-59A4396AEAE0}"/>
              </a:ext>
            </a:extLst>
          </p:cNvPr>
          <p:cNvSpPr txBox="1"/>
          <p:nvPr/>
        </p:nvSpPr>
        <p:spPr>
          <a:xfrm>
            <a:off x="354389" y="2411822"/>
            <a:ext cx="52355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Creating community spaces and extending dwell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Upgrade shopping into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an experience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D7A5026E-68F2-5CE9-2828-27C807626ACD}"/>
              </a:ext>
            </a:extLst>
          </p:cNvPr>
          <p:cNvSpPr/>
          <p:nvPr/>
        </p:nvSpPr>
        <p:spPr>
          <a:xfrm>
            <a:off x="2096600" y="2909977"/>
            <a:ext cx="1357222" cy="210982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60D0908-7813-66A7-03AB-EDA13C638E8E}"/>
              </a:ext>
            </a:extLst>
          </p:cNvPr>
          <p:cNvSpPr txBox="1"/>
          <p:nvPr/>
        </p:nvSpPr>
        <p:spPr>
          <a:xfrm>
            <a:off x="229493" y="4734059"/>
            <a:ext cx="53086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Control SKUs, rigorously select suppliers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Strengthen supplier screening and oversight transparency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Develop small-scale premium products in specific regions.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F8EEDA2-8EF4-F3AF-1511-541C62395B44}"/>
              </a:ext>
            </a:extLst>
          </p:cNvPr>
          <p:cNvSpPr txBox="1"/>
          <p:nvPr/>
        </p:nvSpPr>
        <p:spPr>
          <a:xfrm>
            <a:off x="5924266" y="4872558"/>
            <a:ext cx="6219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Precisely develop fresh food/processed food/own brands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Build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trust premium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through quality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箭头: 下 57">
            <a:extLst>
              <a:ext uri="{FF2B5EF4-FFF2-40B4-BE49-F238E27FC236}">
                <a16:creationId xmlns:a16="http://schemas.microsoft.com/office/drawing/2014/main" id="{CFAE2EBE-2D10-001E-678A-8F8CEAC074E8}"/>
              </a:ext>
            </a:extLst>
          </p:cNvPr>
          <p:cNvSpPr/>
          <p:nvPr/>
        </p:nvSpPr>
        <p:spPr>
          <a:xfrm>
            <a:off x="8008702" y="5367231"/>
            <a:ext cx="1357222" cy="210982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2263A46-8CD8-3BBD-E200-C9308FEB602D}"/>
              </a:ext>
            </a:extLst>
          </p:cNvPr>
          <p:cNvSpPr txBox="1"/>
          <p:nvPr/>
        </p:nvSpPr>
        <p:spPr>
          <a:xfrm>
            <a:off x="5774760" y="2602306"/>
            <a:ext cx="6219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Improve frontline staff compensation and incentives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Establish a training system and service culture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Transform from "substitute labor" to "value touchpoints"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A145B64-61B3-911D-F10F-5C520E7043D8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6679350-425F-A0BB-0116-5F74BBB4B01C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4991782-9D38-D916-A11A-F16EF706B0E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0777CB6-929E-F1CC-A64F-02A4783CF2A2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4" name="文本框 64">
              <a:extLst>
                <a:ext uri="{FF2B5EF4-FFF2-40B4-BE49-F238E27FC236}">
                  <a16:creationId xmlns:a16="http://schemas.microsoft.com/office/drawing/2014/main" id="{4C3A82B0-381F-FC7C-9A0F-CF88EA55D7C3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6" name="文本框 66">
              <a:extLst>
                <a:ext uri="{FF2B5EF4-FFF2-40B4-BE49-F238E27FC236}">
                  <a16:creationId xmlns:a16="http://schemas.microsoft.com/office/drawing/2014/main" id="{AED07BFC-0F9F-DE3C-2CB0-C16D8241144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7" name="文本框 67">
              <a:extLst>
                <a:ext uri="{FF2B5EF4-FFF2-40B4-BE49-F238E27FC236}">
                  <a16:creationId xmlns:a16="http://schemas.microsoft.com/office/drawing/2014/main" id="{775528A5-97D4-88FE-3D61-64A2E2724EB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8" name="文本框 66">
              <a:extLst>
                <a:ext uri="{FF2B5EF4-FFF2-40B4-BE49-F238E27FC236}">
                  <a16:creationId xmlns:a16="http://schemas.microsoft.com/office/drawing/2014/main" id="{5B3B82E3-0A5B-CA9E-951E-F5DE048423B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4342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EBB9-71CF-2A31-C4DE-F001BEF0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EAB28E4-FD4F-4091-1949-1BE5813F21F8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275948" y="101014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 17">
            <a:extLst>
              <a:ext uri="{FF2B5EF4-FFF2-40B4-BE49-F238E27FC236}">
                <a16:creationId xmlns:a16="http://schemas.microsoft.com/office/drawing/2014/main" id="{FE8B1225-FAC6-6566-6FD4-C97684CB9953}"/>
              </a:ext>
            </a:extLst>
          </p:cNvPr>
          <p:cNvSpPr/>
          <p:nvPr/>
        </p:nvSpPr>
        <p:spPr>
          <a:xfrm>
            <a:off x="3356981" y="6155373"/>
            <a:ext cx="2567285" cy="3287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图片 60" descr="徽标&#10;&#10;AI 生成的内容可能不正确。">
            <a:extLst>
              <a:ext uri="{FF2B5EF4-FFF2-40B4-BE49-F238E27FC236}">
                <a16:creationId xmlns:a16="http://schemas.microsoft.com/office/drawing/2014/main" id="{707DC34F-7D22-B911-3336-D8032A7728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037" y="310135"/>
            <a:ext cx="632868" cy="63286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078FC1B-2399-FC19-9A72-949E610456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4738" y="360452"/>
            <a:ext cx="2298306" cy="55159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6867EF5-A0A8-31C7-976D-271B672337CC}"/>
              </a:ext>
            </a:extLst>
          </p:cNvPr>
          <p:cNvSpPr txBox="1"/>
          <p:nvPr/>
        </p:nvSpPr>
        <p:spPr>
          <a:xfrm>
            <a:off x="739331" y="1175804"/>
            <a:ext cx="11135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Yonghui cannot become Pang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Donglai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, but it can become more like a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"trial version of Yonghui".</a:t>
            </a:r>
          </a:p>
        </p:txBody>
      </p: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ECD64112-A7FB-AE70-E380-ED2D4DDEC9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390" y="1169389"/>
            <a:ext cx="412940" cy="412940"/>
          </a:xfrm>
          <a:prstGeom prst="rect">
            <a:avLst/>
          </a:prstGeom>
        </p:spPr>
      </p:pic>
      <p:graphicFrame>
        <p:nvGraphicFramePr>
          <p:cNvPr id="26" name="图示 25">
            <a:extLst>
              <a:ext uri="{FF2B5EF4-FFF2-40B4-BE49-F238E27FC236}">
                <a16:creationId xmlns:a16="http://schemas.microsoft.com/office/drawing/2014/main" id="{06139C0C-0C7F-CA95-650A-CD146F9E60D4}"/>
              </a:ext>
            </a:extLst>
          </p:cNvPr>
          <p:cNvGraphicFramePr/>
          <p:nvPr/>
        </p:nvGraphicFramePr>
        <p:xfrm>
          <a:off x="417993" y="1683986"/>
          <a:ext cx="8445259" cy="4635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pic>
        <p:nvPicPr>
          <p:cNvPr id="27" name="图片 26">
            <a:extLst>
              <a:ext uri="{FF2B5EF4-FFF2-40B4-BE49-F238E27FC236}">
                <a16:creationId xmlns:a16="http://schemas.microsoft.com/office/drawing/2014/main" id="{F5FAF96B-B73F-C1F5-42AB-6A4AF4553C1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5747" y="1683986"/>
            <a:ext cx="2678311" cy="438238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CC03685-6157-A4E5-A26F-4F66CE030997}"/>
              </a:ext>
            </a:extLst>
          </p:cNvPr>
          <p:cNvGrpSpPr/>
          <p:nvPr/>
        </p:nvGrpSpPr>
        <p:grpSpPr>
          <a:xfrm>
            <a:off x="233458" y="156932"/>
            <a:ext cx="10832465" cy="893331"/>
            <a:chOff x="247015" y="-40174"/>
            <a:chExt cx="10832465" cy="89333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D0B1703-AE56-CC52-0D13-510FEA7E95B9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47015" y="-4017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Further Exploration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86B6D42-65B9-2145-51AB-A33D94FB93A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3.2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Pang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Donglai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v.s</a:t>
              </a: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.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Yonghui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EF2ED3-E328-F36D-7EBC-C84DB2008E99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0" name="文本框 64">
              <a:extLst>
                <a:ext uri="{FF2B5EF4-FFF2-40B4-BE49-F238E27FC236}">
                  <a16:creationId xmlns:a16="http://schemas.microsoft.com/office/drawing/2014/main" id="{3DF8684C-CA70-EBB5-0713-2E3C484019A6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1" name="文本框 66">
              <a:extLst>
                <a:ext uri="{FF2B5EF4-FFF2-40B4-BE49-F238E27FC236}">
                  <a16:creationId xmlns:a16="http://schemas.microsoft.com/office/drawing/2014/main" id="{C9A1873B-D935-5AF2-23AA-547E8DD35503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2" name="文本框 67">
              <a:extLst>
                <a:ext uri="{FF2B5EF4-FFF2-40B4-BE49-F238E27FC236}">
                  <a16:creationId xmlns:a16="http://schemas.microsoft.com/office/drawing/2014/main" id="{AF580E10-814F-82BA-8EF9-F38D7EAEF49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3" name="文本框 66">
              <a:extLst>
                <a:ext uri="{FF2B5EF4-FFF2-40B4-BE49-F238E27FC236}">
                  <a16:creationId xmlns:a16="http://schemas.microsoft.com/office/drawing/2014/main" id="{686C9667-3531-F3FE-2652-D79DCEA23EB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2535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7B50D6C4-E4C0-7A1B-8A78-77B2763F7B9C}"/>
              </a:ext>
            </a:extLst>
          </p:cNvPr>
          <p:cNvSpPr/>
          <p:nvPr/>
        </p:nvSpPr>
        <p:spPr>
          <a:xfrm>
            <a:off x="6068131" y="4984094"/>
            <a:ext cx="6026015" cy="114666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/>
              <a:t>Tianjin SM Binhai Plaza Store (Commercial Complex Store)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/>
              <a:t>Dividends: </a:t>
            </a:r>
            <a:r>
              <a:rPr lang="en-US" altLang="zh-CN" dirty="0"/>
              <a:t>Cumulative dividends </a:t>
            </a:r>
            <a:r>
              <a:rPr lang="en-US" altLang="zh-C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2.6 million yuan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/>
              <a:t>Cumulative sales: </a:t>
            </a:r>
            <a:r>
              <a:rPr lang="en-US" altLang="zh-C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&gt;350 million yuan</a:t>
            </a:r>
            <a:endParaRPr lang="zh-CN" alt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0227CB3-61CF-CDCA-C5EC-2D686FD6F53D}"/>
              </a:ext>
            </a:extLst>
          </p:cNvPr>
          <p:cNvSpPr/>
          <p:nvPr/>
        </p:nvSpPr>
        <p:spPr>
          <a:xfrm>
            <a:off x="6062232" y="3151083"/>
            <a:ext cx="6059783" cy="1377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>
                <a:solidFill>
                  <a:schemeClr val="tx1"/>
                </a:solidFill>
              </a:rPr>
              <a:t>Fuzhou Fuxin Store (Community Standalone Store Benchmark)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Focus: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Community consumption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Performance: </a:t>
            </a:r>
            <a:r>
              <a:rPr lang="en-US" altLang="zh-CN" dirty="0">
                <a:solidFill>
                  <a:schemeClr val="tx1"/>
                </a:solidFill>
              </a:rPr>
              <a:t>Profitability and month-on-month growth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Cumulative performance: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63 million yuan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6B8466-6358-2E2E-847D-D32D0737FAFA}"/>
              </a:ext>
            </a:extLst>
          </p:cNvPr>
          <p:cNvSpPr/>
          <p:nvPr/>
        </p:nvSpPr>
        <p:spPr>
          <a:xfrm>
            <a:off x="107193" y="5057026"/>
            <a:ext cx="5665399" cy="10008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Shifting: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High-quality horizontal transformation 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→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algn="just"/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                     in-depth upgrading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Focus: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Health</a:t>
            </a: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51460" y="125344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/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Progress and Effects of Transformation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D11F63-CDA5-D4D1-E524-E58939218B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556206C4-67A8-71CF-58C6-A3E36B038D49}"/>
              </a:ext>
            </a:extLst>
          </p:cNvPr>
          <p:cNvGrpSpPr/>
          <p:nvPr/>
        </p:nvGrpSpPr>
        <p:grpSpPr>
          <a:xfrm>
            <a:off x="119315" y="4422770"/>
            <a:ext cx="5909061" cy="501783"/>
            <a:chOff x="57204" y="3792095"/>
            <a:chExt cx="5909061" cy="501783"/>
          </a:xfrm>
        </p:grpSpPr>
        <p:pic>
          <p:nvPicPr>
            <p:cNvPr id="16" name="图形 27" descr="V 形箭头 纯色填充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7204" y="3792095"/>
              <a:ext cx="501783" cy="50178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D945380-09E1-C2A9-099A-ED9483C5827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514545" y="3858320"/>
              <a:ext cx="545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  <a:latin typeface="Arial Black" panose="020B0A04020102020204" charset="0"/>
                  <a:cs typeface="Arial Black" panose="020B0A04020102020204" charset="0"/>
                </a:rPr>
                <a:t>Current Phase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582CE65-9168-B48B-A601-8B2166F1C54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063381" y="1664903"/>
            <a:ext cx="603551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/>
            <a:r>
              <a:rPr lang="en-US" altLang="zh-CN" b="1" dirty="0"/>
              <a:t>Guangzhou Liying Plaza Store (Urban Flagship Representative</a:t>
            </a:r>
            <a:r>
              <a:rPr lang="en-US" altLang="zh-CN" dirty="0"/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/>
              <a:t>Location: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Downtown business district </a:t>
            </a:r>
            <a:r>
              <a:rPr lang="en-US" altLang="zh-CN" dirty="0"/>
              <a:t>&amp;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dirty="0"/>
              <a:t>transportation hub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/>
              <a:t>Focus: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High-quality consumption needs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815E3C-0134-A90E-2621-E1E0DD80581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52125" y="1131725"/>
            <a:ext cx="54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Performance of Benchmark Stores</a:t>
            </a:r>
          </a:p>
        </p:txBody>
      </p:sp>
      <p:pic>
        <p:nvPicPr>
          <p:cNvPr id="14" name="图形 27" descr="V 形箭头 纯色填充">
            <a:extLst>
              <a:ext uri="{FF2B5EF4-FFF2-40B4-BE49-F238E27FC236}">
                <a16:creationId xmlns:a16="http://schemas.microsoft.com/office/drawing/2014/main" id="{3F3C754C-E3BF-D947-254B-AE47C59E1A6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14983" y="1082359"/>
            <a:ext cx="501783" cy="501783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D19FD0DE-FCC8-F764-A2A5-5BF2628486D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193" y="1023357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051981E-16AE-7811-A377-A22DCB5FEE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76656" y="1116004"/>
            <a:ext cx="54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Overall Progress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F839CE-4C4C-7B66-08A9-868B9E47818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2687" y="1682362"/>
            <a:ext cx="5965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2025Q3</a:t>
            </a:r>
            <a:r>
              <a:rPr lang="en-US" altLang="zh-CN" sz="2000" b="1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Complete</a:t>
            </a:r>
            <a:r>
              <a:rPr lang="en-US" altLang="zh-CN" b="1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222</a:t>
            </a:r>
            <a:r>
              <a:rPr lang="en-US" altLang="zh-CN" sz="2000" b="1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zh-CN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S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tores</a:t>
            </a:r>
            <a:r>
              <a:rPr lang="en-US" altLang="zh-CN" b="1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zh-CN" altLang="en-US" b="1" dirty="0">
                <a:latin typeface="Arial Black" panose="020B0A04020102020204" charset="0"/>
                <a:cs typeface="Arial Black" panose="020B0A04020102020204" charset="0"/>
              </a:rPr>
              <a:t>→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Scale effect</a:t>
            </a:r>
            <a:endParaRPr lang="en-US" altLang="zh-CN" b="1" dirty="0">
              <a:solidFill>
                <a:schemeClr val="accent6">
                  <a:lumMod val="75000"/>
                </a:schemeClr>
              </a:solidFill>
              <a:effectLst/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19F813-DA8A-3151-1197-72637DEA659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19315" y="2675741"/>
            <a:ext cx="5722685" cy="138334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F0F1E7-BF81-1F2B-BBE0-DA1B9EC1BC2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3103" y="2758000"/>
            <a:ext cx="596568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Starting Time: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May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Location: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First-tier cities</a:t>
            </a:r>
            <a:r>
              <a:rPr lang="en-US" altLang="zh-CN" dirty="0"/>
              <a:t> (Bei, Shang, Guang, Shen) and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core business districts of new first-tier cities </a:t>
            </a:r>
            <a:r>
              <a:rPr lang="en-US" altLang="zh-CN" dirty="0"/>
              <a:t>(Chengdu, Wuhan etc.)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D6D17B9-B9BD-8F30-9CC0-CB8369C87EA3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30" name="文本框 64">
              <a:extLst>
                <a:ext uri="{FF2B5EF4-FFF2-40B4-BE49-F238E27FC236}">
                  <a16:creationId xmlns:a16="http://schemas.microsoft.com/office/drawing/2014/main" id="{B0321749-9FB1-96C2-CEEE-9F5F5A35DFF4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31" name="文本框 66">
              <a:extLst>
                <a:ext uri="{FF2B5EF4-FFF2-40B4-BE49-F238E27FC236}">
                  <a16:creationId xmlns:a16="http://schemas.microsoft.com/office/drawing/2014/main" id="{EEF3DED8-1091-F356-54F1-3F9ED79C88A5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2" name="文本框 67">
              <a:extLst>
                <a:ext uri="{FF2B5EF4-FFF2-40B4-BE49-F238E27FC236}">
                  <a16:creationId xmlns:a16="http://schemas.microsoft.com/office/drawing/2014/main" id="{1D2DF030-F525-C45C-1803-E3571E0AFC9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3" name="文本框 66">
              <a:extLst>
                <a:ext uri="{FF2B5EF4-FFF2-40B4-BE49-F238E27FC236}">
                  <a16:creationId xmlns:a16="http://schemas.microsoft.com/office/drawing/2014/main" id="{9E0D97D9-D60B-5025-56EC-E6FC95C62CB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  <p:sp>
        <p:nvSpPr>
          <p:cNvPr id="34" name="箭头: 右 33">
            <a:extLst>
              <a:ext uri="{FF2B5EF4-FFF2-40B4-BE49-F238E27FC236}">
                <a16:creationId xmlns:a16="http://schemas.microsoft.com/office/drawing/2014/main" id="{2715B14C-BC17-4329-4A6A-FF16751806DB}"/>
              </a:ext>
            </a:extLst>
          </p:cNvPr>
          <p:cNvSpPr/>
          <p:nvPr/>
        </p:nvSpPr>
        <p:spPr>
          <a:xfrm rot="16200000">
            <a:off x="2611154" y="2131276"/>
            <a:ext cx="468982" cy="374978"/>
          </a:xfrm>
          <a:prstGeom prst="rightArrow">
            <a:avLst/>
          </a:prstGeom>
          <a:solidFill>
            <a:srgbClr val="FEFDF9"/>
          </a:solidFill>
          <a:ln w="38100">
            <a:solidFill>
              <a:srgbClr val="D80B2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D596-65DE-E84C-8002-44F58266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BD9C7141-D610-B6D6-678D-A3854AD8EDD0}"/>
              </a:ext>
            </a:extLst>
          </p:cNvPr>
          <p:cNvSpPr/>
          <p:nvPr/>
        </p:nvSpPr>
        <p:spPr>
          <a:xfrm>
            <a:off x="5989320" y="3885517"/>
            <a:ext cx="6059783" cy="1891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Target: </a:t>
            </a:r>
          </a:p>
          <a:p>
            <a:pPr marL="342900" indent="-342900" algn="just">
              <a:lnSpc>
                <a:spcPct val="120000"/>
              </a:lnSpc>
              <a:buAutoNum type="alphaLcPeriod"/>
            </a:pPr>
            <a:r>
              <a:rPr lang="en-US" altLang="zh-CN" dirty="0">
                <a:solidFill>
                  <a:schemeClr val="tx1"/>
                </a:solidFill>
              </a:rPr>
              <a:t>Lock in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200</a:t>
            </a:r>
            <a:r>
              <a:rPr lang="en-US" altLang="zh-CN" dirty="0">
                <a:solidFill>
                  <a:schemeClr val="tx1"/>
                </a:solidFill>
              </a:rPr>
              <a:t> core strategic partners </a:t>
            </a:r>
          </a:p>
          <a:p>
            <a:pPr marL="342900" indent="-342900" algn="just">
              <a:lnSpc>
                <a:spcPct val="120000"/>
              </a:lnSpc>
              <a:buAutoNum type="alphaLcPeriod"/>
            </a:pPr>
            <a:r>
              <a:rPr lang="en-US" altLang="zh-CN" dirty="0">
                <a:solidFill>
                  <a:schemeClr val="tx1"/>
                </a:solidFill>
              </a:rPr>
              <a:t>Create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100 100-million-yuan </a:t>
            </a:r>
            <a:r>
              <a:rPr lang="en-US" altLang="zh-CN" dirty="0">
                <a:solidFill>
                  <a:schemeClr val="tx1"/>
                </a:solidFill>
              </a:rPr>
              <a:t>flagship products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Progress: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2 series </a:t>
            </a:r>
            <a:r>
              <a:rPr lang="en-US" altLang="zh-CN" dirty="0">
                <a:solidFill>
                  <a:schemeClr val="tx1"/>
                </a:solidFill>
              </a:rPr>
              <a:t>("Yonghui Custom" and "Quality Yonghui”)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Performance:</a:t>
            </a:r>
            <a:r>
              <a:rPr lang="en-US" altLang="zh-CN" dirty="0">
                <a:solidFill>
                  <a:schemeClr val="tx1"/>
                </a:solidFill>
              </a:rPr>
              <a:t> Total cumulative sales over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100 million yuan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AAD15CB-1933-9676-C93D-2C69E2DABAC3}"/>
              </a:ext>
            </a:extLst>
          </p:cNvPr>
          <p:cNvSpPr/>
          <p:nvPr/>
        </p:nvSpPr>
        <p:spPr>
          <a:xfrm>
            <a:off x="139512" y="3885518"/>
            <a:ext cx="5665399" cy="18915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Measures: 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a. Promote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naked-price direct sourcing 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      </a:t>
            </a:r>
            <a:r>
              <a:rPr lang="en-US" altLang="zh-CN" dirty="0">
                <a:solidFill>
                  <a:schemeClr val="tx1"/>
                </a:solidFill>
              </a:rPr>
              <a:t>b. Cancel traditional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channel costs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Effect: </a:t>
            </a:r>
            <a:r>
              <a:rPr lang="en-US" altLang="zh-CN" dirty="0">
                <a:solidFill>
                  <a:schemeClr val="tx1"/>
                </a:solidFill>
              </a:rPr>
              <a:t>Impact the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profit structure </a:t>
            </a:r>
            <a:r>
              <a:rPr lang="en-US" altLang="zh-CN" dirty="0">
                <a:solidFill>
                  <a:schemeClr val="tx1"/>
                </a:solidFill>
              </a:rPr>
              <a:t>in the short term but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value-proven</a:t>
            </a:r>
            <a:r>
              <a:rPr lang="en-US" altLang="zh-CN" dirty="0">
                <a:solidFill>
                  <a:schemeClr val="tx1"/>
                </a:solidFill>
              </a:rPr>
              <a:t> in the long-term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9C6758-86BA-F594-3355-C8692688A6D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133299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A5481-E97E-1155-A9D7-F86EDE1D9C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E839A6E-712C-2B1C-C49E-C5442BA0B5E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CE1DC70-1FD8-0949-5F9F-7182A729E8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Strategy &amp; Supply Chain Reform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B90C46-B54B-1180-C77F-C9F5169FBB9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77713747-45F7-5CE3-5A9E-F9AEE244CBEF}"/>
              </a:ext>
            </a:extLst>
          </p:cNvPr>
          <p:cNvGrpSpPr/>
          <p:nvPr/>
        </p:nvGrpSpPr>
        <p:grpSpPr>
          <a:xfrm>
            <a:off x="119315" y="3256333"/>
            <a:ext cx="5909061" cy="501783"/>
            <a:chOff x="57204" y="3792095"/>
            <a:chExt cx="5909061" cy="501783"/>
          </a:xfrm>
        </p:grpSpPr>
        <p:pic>
          <p:nvPicPr>
            <p:cNvPr id="16" name="图形 27" descr="V 形箭头 纯色填充">
              <a:extLst>
                <a:ext uri="{FF2B5EF4-FFF2-40B4-BE49-F238E27FC236}">
                  <a16:creationId xmlns:a16="http://schemas.microsoft.com/office/drawing/2014/main" id="{2D1AF3CA-DB0E-DACA-24F1-E1EF82F3B6C2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7204" y="3792095"/>
              <a:ext cx="501783" cy="50178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6D1BBA9-B8A9-C0B7-9DA7-7BF7C9BAD58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14545" y="3879005"/>
              <a:ext cx="545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  <a:latin typeface="Arial Black" panose="020B0A04020102020204" charset="0"/>
                  <a:cs typeface="Arial Black" panose="020B0A04020102020204" charset="0"/>
                </a:rPr>
                <a:t>Supply Chain Reform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F052C8-D182-9CD1-4875-BDF4BBD355C7}"/>
              </a:ext>
            </a:extLst>
          </p:cNvPr>
          <p:cNvGrpSpPr/>
          <p:nvPr/>
        </p:nvGrpSpPr>
        <p:grpSpPr>
          <a:xfrm>
            <a:off x="6058602" y="3256333"/>
            <a:ext cx="5907845" cy="501783"/>
            <a:chOff x="6114983" y="1082359"/>
            <a:chExt cx="5907845" cy="5017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5BBF687-2C24-128C-2343-F683F4823658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6571108" y="1159747"/>
              <a:ext cx="545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  <a:latin typeface="Arial Black" panose="020B0A04020102020204" charset="0"/>
                  <a:cs typeface="Arial Black" panose="020B0A04020102020204" charset="0"/>
                </a:rPr>
                <a:t>Product-Centric Transformation</a:t>
              </a:r>
            </a:p>
          </p:txBody>
        </p:sp>
        <p:pic>
          <p:nvPicPr>
            <p:cNvPr id="14" name="图形 27" descr="V 形箭头 纯色填充">
              <a:extLst>
                <a:ext uri="{FF2B5EF4-FFF2-40B4-BE49-F238E27FC236}">
                  <a16:creationId xmlns:a16="http://schemas.microsoft.com/office/drawing/2014/main" id="{6FC88C66-BBA6-4090-8A6D-A378F569DB66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114983" y="1082359"/>
              <a:ext cx="501783" cy="501783"/>
            </a:xfrm>
            <a:prstGeom prst="rect">
              <a:avLst/>
            </a:prstGeom>
          </p:spPr>
        </p:pic>
      </p:grp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EB97FBB4-0F26-D907-3CE6-0B1847F4522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7193" y="1023357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8A1732F-CA58-844B-C365-5D2192161F5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76656" y="1116004"/>
            <a:ext cx="54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Core Strategy:</a:t>
            </a:r>
            <a:r>
              <a:rPr lang="zh-CN" altLang="en-US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Product-Centricity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EC85E8-72CE-28BB-89FA-071BDA5999C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7193" y="1556610"/>
            <a:ext cx="7685527" cy="133160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4830B1-028A-6FB2-1972-115E4484BC4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9512" y="1516205"/>
            <a:ext cx="902652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Continuously advance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supply chain reform </a:t>
            </a:r>
            <a:r>
              <a:rPr lang="en-US" altLang="zh-CN" b="1" dirty="0"/>
              <a:t>to develop quality retail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/>
              <a:t>The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first batch of flagship products </a:t>
            </a:r>
            <a:r>
              <a:rPr lang="en-US" altLang="zh-CN" b="1" dirty="0"/>
              <a:t>gaining market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Reform effects </a:t>
            </a:r>
            <a:r>
              <a:rPr lang="en-US" altLang="zh-CN" b="1" dirty="0"/>
              <a:t>have emerged, entering a new stage of positive circulation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38F261-630E-2755-4865-7201092D9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71"/>
          <a:stretch>
            <a:fillRect/>
          </a:stretch>
        </p:blipFill>
        <p:spPr bwMode="auto">
          <a:xfrm>
            <a:off x="8070727" y="1159937"/>
            <a:ext cx="3895720" cy="178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621D1C2F-3AF7-0550-F25A-CE9B2300B522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7" name="文本框 64">
              <a:extLst>
                <a:ext uri="{FF2B5EF4-FFF2-40B4-BE49-F238E27FC236}">
                  <a16:creationId xmlns:a16="http://schemas.microsoft.com/office/drawing/2014/main" id="{CEC4FB74-B14B-5A2C-BB98-8AE39706C73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9" name="文本框 66">
              <a:extLst>
                <a:ext uri="{FF2B5EF4-FFF2-40B4-BE49-F238E27FC236}">
                  <a16:creationId xmlns:a16="http://schemas.microsoft.com/office/drawing/2014/main" id="{1B08DBFF-F3B3-EA3D-8ED8-FD80C103EB36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0" name="文本框 67">
              <a:extLst>
                <a:ext uri="{FF2B5EF4-FFF2-40B4-BE49-F238E27FC236}">
                  <a16:creationId xmlns:a16="http://schemas.microsoft.com/office/drawing/2014/main" id="{47FE3651-5DC3-89D5-955B-447AB28332C2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1" name="文本框 66">
              <a:extLst>
                <a:ext uri="{FF2B5EF4-FFF2-40B4-BE49-F238E27FC236}">
                  <a16:creationId xmlns:a16="http://schemas.microsoft.com/office/drawing/2014/main" id="{9C5C83AF-D91B-F0BE-9095-FA5DBAF6F8E5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391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F5C4-EA55-B979-3CC4-72D13603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831EF1E-EA28-E9FF-F4B7-7F61A1B4DF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354064C-BA9E-B441-272D-C7807087D08C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8F4A6B5-78FF-16CF-9227-EA2CCBE295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Financial Performance after Transformation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31F150-DC99-166B-0810-78E149DE2C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7E2267AD-6120-344C-E4AB-EA8F1915C42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193" y="1023357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7F65234-CC23-DE9E-35C3-FC9D102CC7E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6656" y="1116004"/>
            <a:ext cx="54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Key Financial Data (2024-2025)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FE3CC2-5B03-B8B2-FE37-8B43DC7637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7193" y="1556610"/>
            <a:ext cx="11619987" cy="470770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02300D2-9783-0138-65CD-D39E697EC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42464"/>
              </p:ext>
            </p:extLst>
          </p:nvPr>
        </p:nvGraphicFramePr>
        <p:xfrm>
          <a:off x="358084" y="1753702"/>
          <a:ext cx="11102340" cy="4248416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220468">
                  <a:extLst>
                    <a:ext uri="{9D8B030D-6E8A-4147-A177-3AD203B41FA5}">
                      <a16:colId xmlns:a16="http://schemas.microsoft.com/office/drawing/2014/main" val="3645179866"/>
                    </a:ext>
                  </a:extLst>
                </a:gridCol>
                <a:gridCol w="2220468">
                  <a:extLst>
                    <a:ext uri="{9D8B030D-6E8A-4147-A177-3AD203B41FA5}">
                      <a16:colId xmlns:a16="http://schemas.microsoft.com/office/drawing/2014/main" val="2011730481"/>
                    </a:ext>
                  </a:extLst>
                </a:gridCol>
                <a:gridCol w="2220468">
                  <a:extLst>
                    <a:ext uri="{9D8B030D-6E8A-4147-A177-3AD203B41FA5}">
                      <a16:colId xmlns:a16="http://schemas.microsoft.com/office/drawing/2014/main" val="3622309024"/>
                    </a:ext>
                  </a:extLst>
                </a:gridCol>
                <a:gridCol w="2220468">
                  <a:extLst>
                    <a:ext uri="{9D8B030D-6E8A-4147-A177-3AD203B41FA5}">
                      <a16:colId xmlns:a16="http://schemas.microsoft.com/office/drawing/2014/main" val="3386207872"/>
                    </a:ext>
                  </a:extLst>
                </a:gridCol>
                <a:gridCol w="2220468">
                  <a:extLst>
                    <a:ext uri="{9D8B030D-6E8A-4147-A177-3AD203B41FA5}">
                      <a16:colId xmlns:a16="http://schemas.microsoft.com/office/drawing/2014/main" val="1897139484"/>
                    </a:ext>
                  </a:extLst>
                </a:gridCol>
              </a:tblGrid>
              <a:tr h="144854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Period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Operating Revenue (100 million yuan)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Net Profit Attributable to Shareholders of Listed Company (100 million yuan)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Net Profit after Deduction of Non-recurring Gains and Losses (100 million yuan)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Net Cash Flow from Operating Activities (100 million yuan)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642923462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2024Q1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216.65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7.36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5.99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19.84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1439222500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2024Q2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161.14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-4.61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-5.69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9.55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1428813876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2024Q3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167.70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-3.53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-6.92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8.36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4007299687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2024Q4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130.25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-13.88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-17.49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-15.84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3601001480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2025Q1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174.79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1.48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1.37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5.72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534454302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2025Q2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124.69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+mn-lt"/>
                        </a:rPr>
                        <a:t>-3.88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-9.40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6.35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587486796"/>
                  </a:ext>
                </a:extLst>
              </a:tr>
              <a:tr h="399982">
                <a:tc>
                  <a:txBody>
                    <a:bodyPr/>
                    <a:lstStyle/>
                    <a:p>
                      <a:pPr algn="ctr">
                        <a:lnSpc>
                          <a:spcPts val="1969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+mn-lt"/>
                        </a:rPr>
                        <a:t>2025Q3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124.86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-4.69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-7.00</a:t>
                      </a:r>
                    </a:p>
                  </a:txBody>
                  <a:tcPr marL="64294" marR="64294" marT="42863" marB="42863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69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+mn-lt"/>
                        </a:rPr>
                        <a:t>\</a:t>
                      </a:r>
                    </a:p>
                  </a:txBody>
                  <a:tcPr marL="64294" marR="64294" marT="42863" marB="42863" anchor="ctr"/>
                </a:tc>
                <a:extLst>
                  <a:ext uri="{0D108BD9-81ED-4DB2-BD59-A6C34878D82A}">
                    <a16:rowId xmlns:a16="http://schemas.microsoft.com/office/drawing/2014/main" val="364050334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FFAE414-86F2-8999-E47C-D0E149BC47D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" y="125344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576D06-1A8F-C5CA-28B6-D674369687CB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1" name="文本框 64">
              <a:extLst>
                <a:ext uri="{FF2B5EF4-FFF2-40B4-BE49-F238E27FC236}">
                  <a16:creationId xmlns:a16="http://schemas.microsoft.com/office/drawing/2014/main" id="{16EFE02B-E683-2AA2-9B94-59370A8AAA52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2" name="文本框 66">
              <a:extLst>
                <a:ext uri="{FF2B5EF4-FFF2-40B4-BE49-F238E27FC236}">
                  <a16:creationId xmlns:a16="http://schemas.microsoft.com/office/drawing/2014/main" id="{94F555D4-9DDD-2B73-BD9A-8E6E85286E5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3" name="文本框 67">
              <a:extLst>
                <a:ext uri="{FF2B5EF4-FFF2-40B4-BE49-F238E27FC236}">
                  <a16:creationId xmlns:a16="http://schemas.microsoft.com/office/drawing/2014/main" id="{750849EE-938A-6BF0-D0A6-56F874DD8B55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10E65AFA-EEDC-6A17-F8E4-7CE8ADEEA03D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5510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2B019-1385-0FC2-6CCB-97DE6DEC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8194FF-9088-5AA2-9E4C-6C475464C14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6ED285E-20C5-CED3-6CDC-41AA51B18259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7ABD063-3BF3-499D-1C62-06A3120FA3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Financial Performance after Transformation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B988EA-A5DE-F181-D740-BB27B11B71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C8A2985D-24E2-3877-4F50-2F76A88E40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193" y="1023357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61E57A1-3482-DC41-418A-793C69B9826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6656" y="1116004"/>
            <a:ext cx="659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Key Financial Performance Analysis(2024-2025)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4DB9C3-7676-67AA-6804-3388699CF61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7193" y="1556610"/>
            <a:ext cx="11619987" cy="470770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FF3A0E19-D5B1-7B64-B988-E76475A900EA}"/>
              </a:ext>
            </a:extLst>
          </p:cNvPr>
          <p:cNvGraphicFramePr/>
          <p:nvPr/>
        </p:nvGraphicFramePr>
        <p:xfrm>
          <a:off x="439418" y="1725761"/>
          <a:ext cx="5026662" cy="4329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7108DCF-6D39-0581-7F53-35F80F352DCC}"/>
              </a:ext>
            </a:extLst>
          </p:cNvPr>
          <p:cNvSpPr/>
          <p:nvPr/>
        </p:nvSpPr>
        <p:spPr>
          <a:xfrm>
            <a:off x="5566738" y="3947160"/>
            <a:ext cx="6059783" cy="1913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>
                <a:solidFill>
                  <a:schemeClr val="tx1"/>
                </a:solidFill>
              </a:rPr>
              <a:t>Reasons: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The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transformation</a:t>
            </a:r>
            <a:r>
              <a:rPr lang="en-US" altLang="zh-CN" b="1" dirty="0">
                <a:solidFill>
                  <a:schemeClr val="tx1"/>
                </a:solidFill>
              </a:rPr>
              <a:t> result in a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phased decline </a:t>
            </a:r>
            <a:r>
              <a:rPr lang="en-US" altLang="zh-CN" b="1" dirty="0">
                <a:solidFill>
                  <a:schemeClr val="tx1"/>
                </a:solidFill>
              </a:rPr>
              <a:t>in revenue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Intensified competition </a:t>
            </a:r>
            <a:r>
              <a:rPr lang="en-US" altLang="zh-CN" dirty="0">
                <a:solidFill>
                  <a:schemeClr val="tx1"/>
                </a:solidFill>
              </a:rPr>
              <a:t>in the retail industry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Weak consumer demand </a:t>
            </a:r>
            <a:r>
              <a:rPr lang="en-US" altLang="zh-CN" dirty="0">
                <a:solidFill>
                  <a:schemeClr val="tx1"/>
                </a:solidFill>
              </a:rPr>
              <a:t>leading to a dual decline in the average transaction value and customer flow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F3442A-BDF1-297B-A3F4-C589DDA2B7D7}"/>
              </a:ext>
            </a:extLst>
          </p:cNvPr>
          <p:cNvSpPr/>
          <p:nvPr/>
        </p:nvSpPr>
        <p:spPr>
          <a:xfrm>
            <a:off x="5642138" y="1840823"/>
            <a:ext cx="5908982" cy="16920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Operating Revenue Trend:</a:t>
            </a:r>
          </a:p>
          <a:p>
            <a:pPr algn="just"/>
            <a:r>
              <a:rPr lang="en-US" altLang="zh-CN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Sustained Decline with Narrowing Quarterly Fluctuations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Performance: </a:t>
            </a:r>
            <a:r>
              <a:rPr lang="en-US" altLang="zh-CN" dirty="0">
                <a:solidFill>
                  <a:schemeClr val="tx1"/>
                </a:solidFill>
              </a:rPr>
              <a:t>The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year-on-year decline </a:t>
            </a:r>
            <a:r>
              <a:rPr lang="en-US" altLang="zh-CN" dirty="0">
                <a:solidFill>
                  <a:schemeClr val="tx1"/>
                </a:solidFill>
              </a:rPr>
              <a:t>widened from 2024 to 2025;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Quarterly sequential fluctuations narrowed</a:t>
            </a:r>
            <a:r>
              <a:rPr lang="en-US" altLang="zh-CN" dirty="0">
                <a:solidFill>
                  <a:schemeClr val="tx1"/>
                </a:solidFill>
              </a:rPr>
              <a:t> from 2024 to 2025Q3.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CD8349-EFC0-2D5D-9A9E-12A13FBD340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" y="125344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BE6AB7-2E9A-3922-C0B2-0F6AB9694056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3" name="文本框 64">
              <a:extLst>
                <a:ext uri="{FF2B5EF4-FFF2-40B4-BE49-F238E27FC236}">
                  <a16:creationId xmlns:a16="http://schemas.microsoft.com/office/drawing/2014/main" id="{77CF39CC-9FE6-970E-2629-4AB6C728234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4" name="文本框 66">
              <a:extLst>
                <a:ext uri="{FF2B5EF4-FFF2-40B4-BE49-F238E27FC236}">
                  <a16:creationId xmlns:a16="http://schemas.microsoft.com/office/drawing/2014/main" id="{E5B7AA70-2FAC-BFFC-A09C-02A3E1D22CB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6" name="文本框 67">
              <a:extLst>
                <a:ext uri="{FF2B5EF4-FFF2-40B4-BE49-F238E27FC236}">
                  <a16:creationId xmlns:a16="http://schemas.microsoft.com/office/drawing/2014/main" id="{55A623D8-5684-02B4-9D48-72EEFB68941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7" name="文本框 66">
              <a:extLst>
                <a:ext uri="{FF2B5EF4-FFF2-40B4-BE49-F238E27FC236}">
                  <a16:creationId xmlns:a16="http://schemas.microsoft.com/office/drawing/2014/main" id="{EFFB8289-2A04-A371-9347-642E6711125E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32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3F7C-9EE0-55A3-76C5-BDDF9C74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8A76CEF-2D13-0750-B64C-22625D31374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FB4BC33-FF79-48A9-A442-75C64890D265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F79BDDA-4F1E-620F-A801-8969A2A4943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Financial Performance after Transformation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D1E6C0-B52C-BDA0-7DAE-78526A6212D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FAFFB2AB-B9E8-312D-6107-DF38CCF6EA8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193" y="1023357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D8FFBDF-F459-0A78-21F8-21405C2BF98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76656" y="1116004"/>
            <a:ext cx="659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Key Financial Performance Analysis(2024-2025)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055356-41C7-61D7-7C4A-360ECCEEC36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7193" y="1556610"/>
            <a:ext cx="11619987" cy="470770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B238D0-6155-34AD-8BAF-9DE04D984797}"/>
              </a:ext>
            </a:extLst>
          </p:cNvPr>
          <p:cNvSpPr/>
          <p:nvPr/>
        </p:nvSpPr>
        <p:spPr>
          <a:xfrm>
            <a:off x="5491336" y="3827739"/>
            <a:ext cx="6059783" cy="1943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Reasons: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Declining revenue coupled with additional expenses for transformation </a:t>
            </a:r>
            <a:r>
              <a:rPr lang="en-US" altLang="zh-CN" dirty="0">
                <a:solidFill>
                  <a:schemeClr val="tx1"/>
                </a:solidFill>
              </a:rPr>
              <a:t>impact the profit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Seasonal and festival effect in Q1 of each year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Having "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one-time gains</a:t>
            </a:r>
            <a:r>
              <a:rPr lang="en-US" altLang="zh-CN" dirty="0">
                <a:solidFill>
                  <a:schemeClr val="tx1"/>
                </a:solidFill>
              </a:rPr>
              <a:t>" (such as asset disposal)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5FB651-8C7C-9898-EA9B-7078BA5B4269}"/>
              </a:ext>
            </a:extLst>
          </p:cNvPr>
          <p:cNvSpPr/>
          <p:nvPr/>
        </p:nvSpPr>
        <p:spPr>
          <a:xfrm>
            <a:off x="5491336" y="1955349"/>
            <a:ext cx="5908982" cy="14736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Net Profit Trend: From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profit to sustained loss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deteriorating profitability of core business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</a:rPr>
              <a:t>Profit Stability: there were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5 quarters of losses</a:t>
            </a:r>
            <a:r>
              <a:rPr lang="en-US" altLang="zh-CN" b="1" dirty="0">
                <a:solidFill>
                  <a:schemeClr val="tx1"/>
                </a:solidFill>
              </a:rPr>
              <a:t>, with the fluctuation range of losses increasing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27" name="图表 26">
            <a:extLst>
              <a:ext uri="{FF2B5EF4-FFF2-40B4-BE49-F238E27FC236}">
                <a16:creationId xmlns:a16="http://schemas.microsoft.com/office/drawing/2014/main" id="{300A1CD4-ADF8-2524-57D9-88B7AFE1602F}"/>
              </a:ext>
            </a:extLst>
          </p:cNvPr>
          <p:cNvGraphicFramePr/>
          <p:nvPr/>
        </p:nvGraphicFramePr>
        <p:xfrm>
          <a:off x="396240" y="1725763"/>
          <a:ext cx="4919038" cy="4365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E21B1C9-14F4-C9B3-07AA-FEB50693619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51460" y="125344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09CCC5C-2F7F-E4BC-9666-6C4F07892B50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22" name="文本框 64">
              <a:extLst>
                <a:ext uri="{FF2B5EF4-FFF2-40B4-BE49-F238E27FC236}">
                  <a16:creationId xmlns:a16="http://schemas.microsoft.com/office/drawing/2014/main" id="{4595F710-75B4-FFC7-6B4C-5E8ADBC8F611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3" name="文本框 66">
              <a:extLst>
                <a:ext uri="{FF2B5EF4-FFF2-40B4-BE49-F238E27FC236}">
                  <a16:creationId xmlns:a16="http://schemas.microsoft.com/office/drawing/2014/main" id="{8126CBCC-FD45-257D-3C14-3DE8BDF5DD7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24" name="文本框 67">
              <a:extLst>
                <a:ext uri="{FF2B5EF4-FFF2-40B4-BE49-F238E27FC236}">
                  <a16:creationId xmlns:a16="http://schemas.microsoft.com/office/drawing/2014/main" id="{61FB30BC-363E-D8FB-3715-45DE1011916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6" name="文本框 66">
              <a:extLst>
                <a:ext uri="{FF2B5EF4-FFF2-40B4-BE49-F238E27FC236}">
                  <a16:creationId xmlns:a16="http://schemas.microsoft.com/office/drawing/2014/main" id="{947370D5-0CC5-F7A2-1456-4E2B86491690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7518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D3B66"/>
                </a:solidFill>
              </a:defRPr>
            </a:pPr>
            <a:r>
              <a:t>3.3 Market Validation: Stock Price Reaction to the Transformation</a:t>
            </a:r>
          </a:p>
        </p:txBody>
      </p:sp>
      <p:pic>
        <p:nvPicPr>
          <p:cNvPr id="3" name="Picture 2" descr="market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The market had already priced in the failure of the scale model: the stock fell 43.6% in 2021 when Yonghui first turned loss-making. 2024 marked a turning point: full-year return was +124.8%. The May 2024 Pangdonglai-style turnaround announcement generated a [-1,+7] return of +6.7%, while the September 2024 Miniso 6.27bn takeover offer triggered a +61.3% event window. Capital markets validate the quality-transformation narrative.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118872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[-1,+7]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Pangdonglai-style turnaround announced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+6.7%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First remodeled store opened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2024-06-19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-7.1%</a:t>
                      </a:r>
                    </a:p>
                  </a:txBody>
                  <a:tcPr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Miniso 29.4% stake 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2024-09-23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+61.3%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8FCD8-84C9-1334-7FBF-46705D04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96F2BD6-A5ED-0B95-2A50-D7055A818C8B}"/>
              </a:ext>
            </a:extLst>
          </p:cNvPr>
          <p:cNvSpPr/>
          <p:nvPr/>
        </p:nvSpPr>
        <p:spPr>
          <a:xfrm>
            <a:off x="6283195" y="2958062"/>
            <a:ext cx="5662047" cy="26714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Renovate 450 stores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</a:rPr>
              <a:t>Incentivize staff and upgrade services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Integrate online-offline channels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and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use digital tools </a:t>
            </a:r>
            <a:r>
              <a:rPr lang="en-US" altLang="zh-CN" dirty="0">
                <a:solidFill>
                  <a:schemeClr val="tx1"/>
                </a:solidFill>
              </a:rPr>
              <a:t>to reduce costs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Manage capital efficiently 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Rebuild brand image </a:t>
            </a:r>
            <a:r>
              <a:rPr lang="en-US" altLang="zh-CN" dirty="0">
                <a:solidFill>
                  <a:schemeClr val="tx1"/>
                </a:solidFill>
              </a:rPr>
              <a:t>around "quality“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D4159F-89BD-75D5-B341-A41F9F1BD521}"/>
              </a:ext>
            </a:extLst>
          </p:cNvPr>
          <p:cNvSpPr/>
          <p:nvPr/>
        </p:nvSpPr>
        <p:spPr>
          <a:xfrm>
            <a:off x="103841" y="4303996"/>
            <a:ext cx="5665399" cy="13948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Yonghui is adopting the Pang </a:t>
            </a:r>
            <a:r>
              <a:rPr lang="en-US" altLang="zh-CN" dirty="0" err="1">
                <a:solidFill>
                  <a:schemeClr val="tx1"/>
                </a:solidFill>
              </a:rPr>
              <a:t>Donglai</a:t>
            </a:r>
            <a:r>
              <a:rPr lang="en-US" altLang="zh-CN" dirty="0">
                <a:solidFill>
                  <a:schemeClr val="tx1"/>
                </a:solidFill>
              </a:rPr>
              <a:t> model, pursuing a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quality-focused retail strategy </a:t>
            </a:r>
            <a:r>
              <a:rPr lang="en-US" altLang="zh-CN" dirty="0">
                <a:solidFill>
                  <a:schemeClr val="tx1"/>
                </a:solidFill>
              </a:rPr>
              <a:t>and build a 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</a:rPr>
              <a:t>"New Yonghui"  model </a:t>
            </a:r>
            <a:r>
              <a:rPr lang="en-US" altLang="zh-CN" dirty="0">
                <a:solidFill>
                  <a:schemeClr val="tx1"/>
                </a:solidFill>
              </a:rPr>
              <a:t>that meets market expectations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B449D3-B148-A8F8-4ABC-09BBC355C7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1460" y="666080"/>
            <a:ext cx="114757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5E46730-5D92-5E61-08D8-2D8837A4787D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57204" y="1027223"/>
            <a:ext cx="12064811" cy="139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DA44BAE-51F8-64E8-E28B-EBC2F9C2FB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1460" y="610306"/>
            <a:ext cx="9026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buClrTx/>
              <a:buSzTx/>
              <a:buFontTx/>
            </a:pPr>
            <a:r>
              <a:rPr lang="en-US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3.3 Future Development and Recommendations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437A79-DE67-C524-2082-6542D7B16A4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93694" y="275007"/>
            <a:ext cx="2298306" cy="551594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DF6976F-60FF-A60C-7020-59D5A34D9FED}"/>
              </a:ext>
            </a:extLst>
          </p:cNvPr>
          <p:cNvGrpSpPr/>
          <p:nvPr/>
        </p:nvGrpSpPr>
        <p:grpSpPr>
          <a:xfrm>
            <a:off x="180548" y="3620878"/>
            <a:ext cx="5909061" cy="501783"/>
            <a:chOff x="57204" y="3792095"/>
            <a:chExt cx="5909061" cy="501783"/>
          </a:xfrm>
        </p:grpSpPr>
        <p:pic>
          <p:nvPicPr>
            <p:cNvPr id="16" name="图形 27" descr="V 形箭头 纯色填充">
              <a:extLst>
                <a:ext uri="{FF2B5EF4-FFF2-40B4-BE49-F238E27FC236}">
                  <a16:creationId xmlns:a16="http://schemas.microsoft.com/office/drawing/2014/main" id="{96B0BD2B-154E-5527-E788-ECB5171A5D42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7204" y="3792095"/>
              <a:ext cx="501783" cy="50178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F2E87A2-9512-C2CA-286E-1E1492B0786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14545" y="3858320"/>
              <a:ext cx="545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  <a:latin typeface="Arial Black" panose="020B0A04020102020204" charset="0"/>
                  <a:cs typeface="Arial Black" panose="020B0A04020102020204" charset="0"/>
                </a:rPr>
                <a:t>Future Development 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6ED5393-C905-5BE8-09F3-3D3AF13F0B99}"/>
              </a:ext>
            </a:extLst>
          </p:cNvPr>
          <p:cNvGrpSpPr/>
          <p:nvPr/>
        </p:nvGrpSpPr>
        <p:grpSpPr>
          <a:xfrm>
            <a:off x="7592144" y="1933594"/>
            <a:ext cx="5907845" cy="501783"/>
            <a:chOff x="6114983" y="1082359"/>
            <a:chExt cx="5907845" cy="5017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8B9FB4E-3C0E-40A2-6724-3D6707F6FF7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6571108" y="1159747"/>
              <a:ext cx="54517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ffectLst/>
                  <a:latin typeface="Arial Black" panose="020B0A04020102020204" charset="0"/>
                  <a:cs typeface="Arial Black" panose="020B0A04020102020204" charset="0"/>
                </a:rPr>
                <a:t>Core Recommendations</a:t>
              </a:r>
            </a:p>
          </p:txBody>
        </p:sp>
        <p:pic>
          <p:nvPicPr>
            <p:cNvPr id="14" name="图形 27" descr="V 形箭头 纯色填充">
              <a:extLst>
                <a:ext uri="{FF2B5EF4-FFF2-40B4-BE49-F238E27FC236}">
                  <a16:creationId xmlns:a16="http://schemas.microsoft.com/office/drawing/2014/main" id="{D483C24F-9C26-D307-D8E1-522DBC374F34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114983" y="1082359"/>
              <a:ext cx="501783" cy="501783"/>
            </a:xfrm>
            <a:prstGeom prst="rect">
              <a:avLst/>
            </a:prstGeom>
          </p:spPr>
        </p:pic>
      </p:grpSp>
      <p:pic>
        <p:nvPicPr>
          <p:cNvPr id="17" name="图形 27" descr="V 形箭头 纯色填充">
            <a:extLst>
              <a:ext uri="{FF2B5EF4-FFF2-40B4-BE49-F238E27FC236}">
                <a16:creationId xmlns:a16="http://schemas.microsoft.com/office/drawing/2014/main" id="{AA9A9D58-D25C-133E-52C0-6F19670FCF8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167" y="1135861"/>
            <a:ext cx="501783" cy="5017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C482871-97B5-34A4-CCEA-46E79020CC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92630" y="1228508"/>
            <a:ext cx="54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Arial Black" panose="020B0A04020102020204" charset="0"/>
                <a:cs typeface="Arial Black" panose="020B0A04020102020204" charset="0"/>
              </a:rPr>
              <a:t>Current status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365F02-A2D0-92C6-5D2E-78F3A620388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23167" y="1739272"/>
            <a:ext cx="5662047" cy="142962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A1D5F5-E19D-6A49-4A77-0B4E2C865CD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3167" y="1699468"/>
            <a:ext cx="5602727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/>
              <a:t>The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cumulative same-store sales in the first three quarters of 2025 </a:t>
            </a:r>
            <a:r>
              <a:rPr lang="en-US" altLang="zh-CN" sz="2000" b="1" dirty="0"/>
              <a:t>have returned to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positive growth</a:t>
            </a:r>
            <a:r>
              <a:rPr lang="en-US" altLang="zh-CN" sz="2000" b="1" dirty="0"/>
              <a:t>, indicating its core business is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improving steadily.</a:t>
            </a:r>
            <a:endParaRPr lang="en-US" altLang="zh-CN" sz="2000" b="1" dirty="0"/>
          </a:p>
        </p:txBody>
      </p:sp>
      <p:pic>
        <p:nvPicPr>
          <p:cNvPr id="21" name="图片 20" descr="图片包含 游戏机, 盒子, 毛巾&#10;&#10;AI 生成的内容可能不正确。">
            <a:extLst>
              <a:ext uri="{FF2B5EF4-FFF2-40B4-BE49-F238E27FC236}">
                <a16:creationId xmlns:a16="http://schemas.microsoft.com/office/drawing/2014/main" id="{0D2BBB31-0852-BAB5-63F7-E29C9A7DA52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21181" b="82206" l="19901" r="82510"/>
                    </a14:imgEffect>
                  </a14:imgLayer>
                </a14:imgProps>
              </a:ext>
            </a:extLst>
          </a:blip>
          <a:srcRect l="12075" t="13553" r="9664" b="10166"/>
          <a:stretch>
            <a:fillRect/>
          </a:stretch>
        </p:blipFill>
        <p:spPr>
          <a:xfrm>
            <a:off x="5769240" y="996282"/>
            <a:ext cx="2082040" cy="2029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444F718-6376-7E3D-F7AF-470B3087A9B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51460" y="125344"/>
            <a:ext cx="108324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Further Exploration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BEDD47B-C8D4-5044-4AE7-6E0370C8DFBC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30" name="文本框 64">
              <a:extLst>
                <a:ext uri="{FF2B5EF4-FFF2-40B4-BE49-F238E27FC236}">
                  <a16:creationId xmlns:a16="http://schemas.microsoft.com/office/drawing/2014/main" id="{9388D6F0-945B-EF99-2F64-1AF6802C685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31" name="文本框 66">
              <a:extLst>
                <a:ext uri="{FF2B5EF4-FFF2-40B4-BE49-F238E27FC236}">
                  <a16:creationId xmlns:a16="http://schemas.microsoft.com/office/drawing/2014/main" id="{20EEB848-58C0-2FBC-12D9-9FD54D51415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Further Exploration</a:t>
              </a:r>
            </a:p>
          </p:txBody>
        </p:sp>
        <p:sp>
          <p:nvSpPr>
            <p:cNvPr id="32" name="文本框 67">
              <a:extLst>
                <a:ext uri="{FF2B5EF4-FFF2-40B4-BE49-F238E27FC236}">
                  <a16:creationId xmlns:a16="http://schemas.microsoft.com/office/drawing/2014/main" id="{387FF31E-7DA7-C1AD-3A13-3902CF11ABC1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33" name="文本框 66">
              <a:extLst>
                <a:ext uri="{FF2B5EF4-FFF2-40B4-BE49-F238E27FC236}">
                  <a16:creationId xmlns:a16="http://schemas.microsoft.com/office/drawing/2014/main" id="{3D026079-9FD9-F54A-7162-D2ECE5AD72C7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3304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5632-C143-D9BC-D6E8-73E7C3DC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F913F5C-EA9F-00D9-C9BC-F71C16C31BA1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 flipV="1">
            <a:off x="342287" y="790837"/>
            <a:ext cx="11548110" cy="1270"/>
          </a:xfrm>
          <a:prstGeom prst="line">
            <a:avLst/>
          </a:prstGeom>
          <a:ln w="9525">
            <a:solidFill>
              <a:srgbClr val="D70A2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DEBB95E-E191-02F8-6332-89EDBAA537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1888" y="78820"/>
            <a:ext cx="2961726" cy="710815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2FBA9F1D-A4DD-5B5B-2F7B-36D3B1968BC3}"/>
              </a:ext>
            </a:extLst>
          </p:cNvPr>
          <p:cNvGrpSpPr/>
          <p:nvPr/>
        </p:nvGrpSpPr>
        <p:grpSpPr>
          <a:xfrm>
            <a:off x="820552" y="975576"/>
            <a:ext cx="2466844" cy="400110"/>
            <a:chOff x="464820" y="981830"/>
            <a:chExt cx="2453003" cy="400110"/>
          </a:xfrm>
        </p:grpSpPr>
        <p:sp>
          <p:nvSpPr>
            <p:cNvPr id="45" name="圆角矩形 1026">
              <a:extLst>
                <a:ext uri="{FF2B5EF4-FFF2-40B4-BE49-F238E27FC236}">
                  <a16:creationId xmlns:a16="http://schemas.microsoft.com/office/drawing/2014/main" id="{F4A21F85-DD98-7646-FA66-0E1F07A3338A}"/>
                </a:ext>
              </a:extLst>
            </p:cNvPr>
            <p:cNvSpPr/>
            <p:nvPr/>
          </p:nvSpPr>
          <p:spPr>
            <a:xfrm>
              <a:off x="464820" y="1005150"/>
              <a:ext cx="2453003" cy="368300"/>
            </a:xfrm>
            <a:prstGeom prst="roundRect">
              <a:avLst>
                <a:gd name="adj" fmla="val 7717"/>
              </a:avLst>
            </a:prstGeom>
            <a:solidFill>
              <a:srgbClr val="A9301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8B2F95D9-7751-6A7A-83D2-7E86DC727FAE}"/>
                </a:ext>
              </a:extLst>
            </p:cNvPr>
            <p:cNvSpPr txBox="1"/>
            <p:nvPr/>
          </p:nvSpPr>
          <p:spPr>
            <a:xfrm>
              <a:off x="780432" y="981830"/>
              <a:ext cx="21373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chemeClr val="bg1"/>
                  </a:solidFill>
                </a:rPr>
                <a:t>Spot the issue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圆角矩形 1026">
            <a:extLst>
              <a:ext uri="{FF2B5EF4-FFF2-40B4-BE49-F238E27FC236}">
                <a16:creationId xmlns:a16="http://schemas.microsoft.com/office/drawing/2014/main" id="{EDD5E2B0-96BC-4BC5-3776-053B18676B7D}"/>
              </a:ext>
            </a:extLst>
          </p:cNvPr>
          <p:cNvSpPr/>
          <p:nvPr/>
        </p:nvSpPr>
        <p:spPr>
          <a:xfrm>
            <a:off x="4064269" y="1065200"/>
            <a:ext cx="3442427" cy="368300"/>
          </a:xfrm>
          <a:prstGeom prst="roundRect">
            <a:avLst>
              <a:gd name="adj" fmla="val 7717"/>
            </a:avLst>
          </a:prstGeom>
          <a:solidFill>
            <a:srgbClr val="A9301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1B5F05E-7556-2897-BB19-CAE45976E47E}"/>
              </a:ext>
            </a:extLst>
          </p:cNvPr>
          <p:cNvSpPr txBox="1"/>
          <p:nvPr/>
        </p:nvSpPr>
        <p:spPr>
          <a:xfrm>
            <a:off x="4778243" y="1049295"/>
            <a:ext cx="34424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Conduct Analysis</a:t>
            </a: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圆角矩形 1026">
            <a:extLst>
              <a:ext uri="{FF2B5EF4-FFF2-40B4-BE49-F238E27FC236}">
                <a16:creationId xmlns:a16="http://schemas.microsoft.com/office/drawing/2014/main" id="{1918F9B4-8CEC-4D03-7163-AAB584747A4B}"/>
              </a:ext>
            </a:extLst>
          </p:cNvPr>
          <p:cNvSpPr/>
          <p:nvPr/>
        </p:nvSpPr>
        <p:spPr>
          <a:xfrm>
            <a:off x="8175710" y="1057785"/>
            <a:ext cx="3074538" cy="368300"/>
          </a:xfrm>
          <a:prstGeom prst="roundRect">
            <a:avLst>
              <a:gd name="adj" fmla="val 7717"/>
            </a:avLst>
          </a:prstGeom>
          <a:solidFill>
            <a:srgbClr val="A9301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FAFD4A-9518-3826-7E41-99BFF9FBB3DB}"/>
              </a:ext>
            </a:extLst>
          </p:cNvPr>
          <p:cNvSpPr txBox="1"/>
          <p:nvPr/>
        </p:nvSpPr>
        <p:spPr>
          <a:xfrm>
            <a:off x="8572977" y="1049295"/>
            <a:ext cx="39995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Suggested Strategies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47834B7-D4AB-94FA-C5A2-975BC41BA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E5131A5-F3DC-4E84-99E5-13C3AA58D1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611" y="4230306"/>
            <a:ext cx="3035936" cy="158352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9750A25-89A8-819F-10B4-A4EF90F5121B}"/>
              </a:ext>
            </a:extLst>
          </p:cNvPr>
          <p:cNvSpPr txBox="1"/>
          <p:nvPr/>
        </p:nvSpPr>
        <p:spPr>
          <a:xfrm>
            <a:off x="554786" y="1719589"/>
            <a:ext cx="2608601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cs typeface="Arial" panose="020B0604020202020204" pitchFamily="34" charset="0"/>
              </a:rPr>
              <a:t>Reveal </a:t>
            </a:r>
            <a:r>
              <a:rPr lang="en-US" altLang="zh-CN" b="1" dirty="0">
                <a:solidFill>
                  <a:srgbClr val="C00000"/>
                </a:solidFill>
                <a:cs typeface="Arial" panose="020B0604020202020204" pitchFamily="34" charset="0"/>
              </a:rPr>
              <a:t>financial failure </a:t>
            </a:r>
            <a:r>
              <a:rPr lang="en-US" altLang="zh-CN" dirty="0">
                <a:cs typeface="Arial" panose="020B0604020202020204" pitchFamily="34" charset="0"/>
              </a:rPr>
              <a:t>in Yonghui &amp; the </a:t>
            </a:r>
            <a:r>
              <a:rPr lang="en-US" altLang="zh-CN" b="1" dirty="0">
                <a:solidFill>
                  <a:srgbClr val="C00000"/>
                </a:solidFill>
                <a:cs typeface="Arial" panose="020B0604020202020204" pitchFamily="34" charset="0"/>
              </a:rPr>
              <a:t>downward trend </a:t>
            </a:r>
            <a:r>
              <a:rPr lang="en-US" altLang="zh-CN" dirty="0">
                <a:cs typeface="Arial" panose="020B0604020202020204" pitchFamily="34" charset="0"/>
              </a:rPr>
              <a:t>of the retail industry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cs typeface="Arial" panose="020B0604020202020204" pitchFamily="34" charset="0"/>
              </a:rPr>
              <a:t>Data collection &amp; Methodology</a:t>
            </a:r>
            <a:endParaRPr lang="en" altLang="zh-CN" dirty="0"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8349A8-9999-6E7D-D3E7-AC2297E4300B}"/>
              </a:ext>
            </a:extLst>
          </p:cNvPr>
          <p:cNvSpPr txBox="1"/>
          <p:nvPr/>
        </p:nvSpPr>
        <p:spPr>
          <a:xfrm>
            <a:off x="3963343" y="1694169"/>
            <a:ext cx="359125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" altLang="zh-CN" b="1" dirty="0">
                <a:cs typeface="Arial" panose="020B0604020202020204" pitchFamily="34" charset="0"/>
              </a:rPr>
              <a:t>Business Model Analysis: </a:t>
            </a:r>
            <a:r>
              <a:rPr lang="en" altLang="zh-CN" dirty="0">
                <a:cs typeface="Arial" panose="020B0604020202020204" pitchFamily="34" charset="0"/>
              </a:rPr>
              <a:t>p</a:t>
            </a:r>
            <a:r>
              <a:rPr lang="en-US" altLang="zh-CN" dirty="0" err="1">
                <a:cs typeface="Arial" panose="020B0604020202020204" pitchFamily="34" charset="0"/>
              </a:rPr>
              <a:t>rofitability</a:t>
            </a:r>
            <a:r>
              <a:rPr lang="en-US" altLang="zh-CN" dirty="0">
                <a:cs typeface="Arial" panose="020B0604020202020204" pitchFamily="34" charset="0"/>
              </a:rPr>
              <a:t> collapse, profit decomposition, revenue decomposition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cs typeface="Arial" panose="020B0604020202020204" pitchFamily="34" charset="0"/>
              </a:rPr>
              <a:t>Ratio &amp; Trending Analysis: </a:t>
            </a:r>
            <a:r>
              <a:rPr lang="fr-FR" altLang="zh-CN" dirty="0">
                <a:cs typeface="Arial" panose="020B0604020202020204" pitchFamily="34" charset="0"/>
              </a:rPr>
              <a:t>revenue vs. net profit margin, profit structure breakdown, operating expense ratio, re</a:t>
            </a:r>
            <a:r>
              <a:rPr lang="en" altLang="zh-CN" dirty="0">
                <a:cs typeface="Arial" panose="020B0604020202020204" pitchFamily="34" charset="0"/>
              </a:rPr>
              <a:t>gional</a:t>
            </a:r>
            <a:r>
              <a:rPr lang="zh-CN" altLang="en-US" dirty="0">
                <a:cs typeface="Arial" panose="020B0604020202020204" pitchFamily="34" charset="0"/>
              </a:rPr>
              <a:t> </a:t>
            </a:r>
            <a:r>
              <a:rPr lang="en" altLang="zh-CN" dirty="0">
                <a:cs typeface="Arial" panose="020B0604020202020204" pitchFamily="34" charset="0"/>
              </a:rPr>
              <a:t>revenue concentration </a:t>
            </a:r>
            <a:r>
              <a:rPr lang="en-US" altLang="zh-CN" dirty="0">
                <a:cs typeface="Arial" panose="020B0604020202020204" pitchFamily="34" charset="0"/>
              </a:rPr>
              <a:t>&amp;</a:t>
            </a:r>
            <a:r>
              <a:rPr lang="en" altLang="zh-CN" dirty="0">
                <a:cs typeface="Arial" panose="020B0604020202020204" pitchFamily="34" charset="0"/>
              </a:rPr>
              <a:t> margins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" altLang="zh-CN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47C12E-E5AB-C92D-C8E2-E77E9A72BF05}"/>
              </a:ext>
            </a:extLst>
          </p:cNvPr>
          <p:cNvSpPr txBox="1"/>
          <p:nvPr/>
        </p:nvSpPr>
        <p:spPr>
          <a:xfrm>
            <a:off x="8175710" y="1726320"/>
            <a:ext cx="34320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cs typeface="Arial" panose="020B0604020202020204" pitchFamily="34" charset="0"/>
              </a:rPr>
              <a:t>Learn from Pang Dong Lai – Winning people’s heart: </a:t>
            </a:r>
            <a:r>
              <a:rPr lang="en-US" altLang="zh-CN" dirty="0">
                <a:cs typeface="Arial" panose="020B0604020202020204" pitchFamily="34" charset="0"/>
              </a:rPr>
              <a:t>Improve user experience,</a:t>
            </a:r>
            <a:r>
              <a:rPr lang="zh-CN" altLang="en-US" dirty="0">
                <a:cs typeface="Arial" panose="020B0604020202020204" pitchFamily="34" charset="0"/>
              </a:rPr>
              <a:t> </a:t>
            </a:r>
            <a:r>
              <a:rPr lang="en-US" altLang="zh-CN" dirty="0">
                <a:cs typeface="Arial" panose="020B0604020202020204" pitchFamily="34" charset="0"/>
              </a:rPr>
              <a:t>from system management to service-driven, selected supply chain,</a:t>
            </a:r>
            <a:r>
              <a:rPr lang="zh-CN" altLang="en-US" dirty="0">
                <a:cs typeface="Arial" panose="020B0604020202020204" pitchFamily="34" charset="0"/>
              </a:rPr>
              <a:t> </a:t>
            </a:r>
            <a:r>
              <a:rPr lang="en-US" altLang="zh-CN" dirty="0">
                <a:cs typeface="Arial" panose="020B0604020202020204" pitchFamily="34" charset="0"/>
              </a:rPr>
              <a:t>self-operated and processing capabilities</a:t>
            </a:r>
            <a:endParaRPr lang="zh-CN" altLang="en-US" dirty="0"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cs typeface="Arial" panose="020B0604020202020204" pitchFamily="34" charset="0"/>
              </a:rPr>
              <a:t>Core Strategy:</a:t>
            </a:r>
            <a:r>
              <a:rPr lang="zh-CN" altLang="en-US" b="1" dirty="0">
                <a:cs typeface="Arial" panose="020B0604020202020204" pitchFamily="34" charset="0"/>
              </a:rPr>
              <a:t> </a:t>
            </a:r>
            <a:r>
              <a:rPr lang="en-US" altLang="zh-CN" dirty="0">
                <a:cs typeface="Arial" panose="020B0604020202020204" pitchFamily="34" charset="0"/>
              </a:rPr>
              <a:t>Product-Centricity, Supply Chain Reform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" altLang="zh-CN" dirty="0"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C14FDD-A921-DA0C-5C73-6369FD227D94}"/>
              </a:ext>
            </a:extLst>
          </p:cNvPr>
          <p:cNvGrpSpPr/>
          <p:nvPr/>
        </p:nvGrpSpPr>
        <p:grpSpPr>
          <a:xfrm>
            <a:off x="301603" y="18654"/>
            <a:ext cx="10832465" cy="842943"/>
            <a:chOff x="247015" y="10214"/>
            <a:chExt cx="10832465" cy="842943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C1E8811-0083-9258-9473-E8368042F44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247015" y="10214"/>
              <a:ext cx="10832465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dk1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 Black" panose="020B0A04020102020204" charset="0"/>
                  <a:cs typeface="Arial Black" panose="020B0A04020102020204" charset="0"/>
                </a:rPr>
                <a:t>Summary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CDD5580-800D-B9E5-E73F-B956EF86CAB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82575" y="422270"/>
              <a:ext cx="902652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50000"/>
                    </a:schemeClr>
                  </a:solidFill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>
                <a:buClrTx/>
                <a:buSzTx/>
                <a:buFontTx/>
              </a:pPr>
              <a:r>
                <a:rPr lang="fr-FR" altLang="zh-CN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4.1 </a:t>
              </a:r>
              <a:r>
                <a:rPr lang="fr-FR" altLang="zh-CN" sz="2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anose="020F0502020204030204" charset="0"/>
                  <a:cs typeface="Calibri" panose="020F0502020204030204" charset="0"/>
                </a:rPr>
                <a:t>Summaries</a:t>
              </a:r>
              <a:endParaRPr lang="fr-FR" altLang="zh-CN" sz="2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81DD560-EE48-2ACE-448D-40689C239940}"/>
              </a:ext>
            </a:extLst>
          </p:cNvPr>
          <p:cNvGrpSpPr/>
          <p:nvPr/>
        </p:nvGrpSpPr>
        <p:grpSpPr>
          <a:xfrm>
            <a:off x="0" y="6492875"/>
            <a:ext cx="12192000" cy="365125"/>
            <a:chOff x="0" y="6492875"/>
            <a:chExt cx="12192000" cy="365125"/>
          </a:xfrm>
        </p:grpSpPr>
        <p:sp>
          <p:nvSpPr>
            <p:cNvPr id="18" name="文本框 64">
              <a:extLst>
                <a:ext uri="{FF2B5EF4-FFF2-40B4-BE49-F238E27FC236}">
                  <a16:creationId xmlns:a16="http://schemas.microsoft.com/office/drawing/2014/main" id="{70AE3304-EFD4-74D5-21D5-197DB4E425D4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9277985" y="6492875"/>
              <a:ext cx="2914015" cy="365125"/>
            </a:xfrm>
            <a:prstGeom prst="homePlate">
              <a:avLst/>
            </a:prstGeom>
            <a:solidFill>
              <a:srgbClr val="FEFDF9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lvl="0" algn="ctr">
                <a:lnSpc>
                  <a:spcPct val="110000"/>
                </a:lnSpc>
                <a:buClrTx/>
                <a:buSzTx/>
                <a:buFontTx/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rPr>
                <a:t>Summary</a:t>
              </a:r>
            </a:p>
          </p:txBody>
        </p:sp>
        <p:sp>
          <p:nvSpPr>
            <p:cNvPr id="20" name="文本框 66">
              <a:extLst>
                <a:ext uri="{FF2B5EF4-FFF2-40B4-BE49-F238E27FC236}">
                  <a16:creationId xmlns:a16="http://schemas.microsoft.com/office/drawing/2014/main" id="{BE12F21A-ACA3-5855-4054-D5E60D0B6ED3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6365875" y="6492875"/>
              <a:ext cx="3152775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Further Exploration</a:t>
              </a:r>
            </a:p>
          </p:txBody>
        </p:sp>
        <p:sp>
          <p:nvSpPr>
            <p:cNvPr id="21" name="文本框 67">
              <a:extLst>
                <a:ext uri="{FF2B5EF4-FFF2-40B4-BE49-F238E27FC236}">
                  <a16:creationId xmlns:a16="http://schemas.microsoft.com/office/drawing/2014/main" id="{1CBF507B-543A-EAD2-0673-E3B7665641C2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033132" y="6492875"/>
              <a:ext cx="3571503" cy="365125"/>
            </a:xfrm>
            <a:prstGeom prst="homePlate">
              <a:avLst/>
            </a:prstGeom>
            <a:solidFill>
              <a:srgbClr val="D70A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Model Analysis</a:t>
              </a:r>
            </a:p>
          </p:txBody>
        </p:sp>
        <p:sp>
          <p:nvSpPr>
            <p:cNvPr id="26" name="文本框 66">
              <a:extLst>
                <a:ext uri="{FF2B5EF4-FFF2-40B4-BE49-F238E27FC236}">
                  <a16:creationId xmlns:a16="http://schemas.microsoft.com/office/drawing/2014/main" id="{B77EC574-467D-0156-B5AB-6A18B7A2183B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0" y="6492875"/>
              <a:ext cx="3252470" cy="365125"/>
            </a:xfrm>
            <a:prstGeom prst="homePlate">
              <a:avLst/>
            </a:prstGeom>
            <a:solidFill>
              <a:srgbClr val="D80B2A"/>
            </a:solidFill>
            <a:ln w="28575">
              <a:solidFill>
                <a:srgbClr val="EEEEEE"/>
              </a:solidFill>
            </a:ln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EFDF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Introduction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53E5C3C9-4853-C7D4-CE36-6A2E382409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93990" y="1556610"/>
            <a:ext cx="3198690" cy="4510553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AC72A3-CF71-6556-C67A-8803716A6D4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881120" y="1628610"/>
            <a:ext cx="3748599" cy="323565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1634C3-6F7B-3F9E-B9DA-BFCBEB9694D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047641" y="1612273"/>
            <a:ext cx="3748599" cy="323565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37BAD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481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AD83-577F-FF99-4A90-2217A66F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18ADDFB-873C-1044-60B1-A3F6045DC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0"/>
            <a:ext cx="9032240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C7166DF-18AA-8566-D242-65538AE52CC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34770" y="2888969"/>
            <a:ext cx="716047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dk1">
                    <a:alpha val="50000"/>
                  </a:schemeClr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pitchFamily="34" charset="-122"/>
                <a:cs typeface="Arial Black" panose="020B0A04020102020204" charset="0"/>
              </a:rPr>
              <a:t>Thanks for listening!</a:t>
            </a:r>
          </a:p>
        </p:txBody>
      </p:sp>
      <p:pic>
        <p:nvPicPr>
          <p:cNvPr id="8" name="图形 7" descr="上升趋势条形图 轮廓">
            <a:extLst>
              <a:ext uri="{FF2B5EF4-FFF2-40B4-BE49-F238E27FC236}">
                <a16:creationId xmlns:a16="http://schemas.microsoft.com/office/drawing/2014/main" id="{17D63F40-C44A-FC2F-D3D0-E000A33BA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650" y="179740"/>
            <a:ext cx="1479790" cy="147979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D76D72A-7CC1-6A73-DF3A-9664D0E20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280" y="-7434"/>
            <a:ext cx="3601720" cy="86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029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JkYzYxOTMxMTk4NTdkMTc1OTRlNjMwMmI3ODZlYTEifQ=="/>
  <p:tag name="KSO_WPP_MARK_KEY" val="88e88ade-dd68-4a84-8f93-7d58b538aec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2*248"/>
  <p:tag name="TABLE_ENDDRAG_RECT" val="519*137*412*24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3310</Words>
  <Application>Microsoft Office PowerPoint</Application>
  <PresentationFormat>宽屏</PresentationFormat>
  <Paragraphs>585</Paragraphs>
  <Slides>32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ui-sans-serif</vt:lpstr>
      <vt:lpstr>Arial</vt:lpstr>
      <vt:lpstr>Arial Black</vt:lpstr>
      <vt:lpstr>Arial Bold</vt:lpstr>
      <vt:lpstr>Calibri</vt:lpstr>
      <vt:lpstr>Office 主题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Zhuo</dc:creator>
  <cp:lastModifiedBy>Sijie Chen (SME, 122020012)</cp:lastModifiedBy>
  <cp:revision>112</cp:revision>
  <dcterms:created xsi:type="dcterms:W3CDTF">2025-10-19T13:14:06Z</dcterms:created>
  <dcterms:modified xsi:type="dcterms:W3CDTF">2026-09-12T07:22:48Z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C6CD35CDD52E4B09BB83749A8203DDB2_13</vt:lpwstr>
  </property>
  <property fmtid="{D5CDD505-2E9C-101B-9397-08002B2CF9AE}" pid="3" name="KSOProductBuildVer">
    <vt:lpwstr>2052-6.7.1.8828</vt:lpwstr>
  </property>
</Properties>
</file>